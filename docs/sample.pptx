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7" r:id="rId3"/>
    <p:sldId id="258" r:id="rId4"/>
    <p:sldId id="259" r:id="rId5"/>
    <p:sldId id="260" r:id="rId6"/>
    <p:sldId id="261" r:id="rId7"/>
    <p:sldId id="264" r:id="rId8"/>
    <p:sldId id="266" r:id="rId9"/>
    <p:sldId id="268" r:id="rId10"/>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jp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777240" y="1550035"/>
            <a:ext cx="10698480" cy="2135505"/>
          </a:xfrm>
          <a:prstGeom prst="rect">
            <a:avLst/>
          </a:prstGeom>
          <a:noFill/>
        </p:spPr>
        <p:txBody>
          <a:bodyPr wrap="square" lIns="73152" tIns="54864" rIns="73152" bIns="54864">
            <a:noAutofit/>
          </a:bodyPr>
          <a:lstStyle/>
          <a:p>
            <a:pPr>
              <a:spcAft>
                <a:spcPts val="1200"/>
              </a:spcAft>
              <a:defRPr sz="1800">
                <a:solidFill>
                  <a:srgbClr val="140C12"/>
                </a:solidFill>
                <a:latin typeface="Aptos"/>
              </a:defRPr>
            </a:pPr>
            <a:r>
              <a:t>•  Project Title: [Enter title]</a:t>
            </a:r>
          </a:p>
          <a:p>
            <a:pPr>
              <a:spcAft>
                <a:spcPts val="1200"/>
              </a:spcAft>
              <a:defRPr sz="1800">
                <a:solidFill>
                  <a:srgbClr val="140C12"/>
                </a:solidFill>
                <a:latin typeface="Aptos"/>
              </a:defRPr>
            </a:pPr>
            <a:r>
              <a:t>•  Team Name / Team ID: [Enter details]</a:t>
            </a:r>
          </a:p>
          <a:p>
            <a:pPr>
              <a:spcAft>
                <a:spcPts val="1200"/>
              </a:spcAft>
              <a:defRPr sz="1800">
                <a:solidFill>
                  <a:srgbClr val="140C12"/>
                </a:solidFill>
                <a:latin typeface="Aptos"/>
              </a:defRPr>
            </a:pPr>
            <a:r>
              <a:t>•  Problem Statement ID and Title: [Enter details]</a:t>
            </a:r>
          </a:p>
          <a:p>
            <a:pPr>
              <a:spcAft>
                <a:spcPts val="1200"/>
              </a:spcAft>
              <a:defRPr sz="1800">
                <a:solidFill>
                  <a:srgbClr val="140C12"/>
                </a:solidFill>
                <a:latin typeface="Aptos"/>
              </a:defRPr>
            </a:pPr>
            <a:r>
              <a:t>•  Team </a:t>
            </a:r>
            <a:r>
              <a:rPr lang="en-US"/>
              <a:t>Leader</a:t>
            </a:r>
            <a:r>
              <a:t>: [Name — Register Number; </a:t>
            </a:r>
            <a:r>
              <a:rPr lang="en-US"/>
              <a:t>Dept,Year,Section</a:t>
            </a:r>
            <a:r>
              <a:t>]</a:t>
            </a:r>
          </a:p>
          <a:p>
            <a:pPr>
              <a:spcAft>
                <a:spcPts val="1200"/>
              </a:spcAft>
              <a:defRPr sz="1800">
                <a:solidFill>
                  <a:srgbClr val="140C12"/>
                </a:solidFill>
                <a:latin typeface="Aptos"/>
              </a:defRPr>
            </a:pPr>
            <a:r>
              <a:t>•  Project Repository / Demo Link: [URL or Not Available]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Rounded Rectangle 6"/>
          <p:cNvSpPr/>
          <p:nvPr/>
        </p:nvSpPr>
        <p:spPr>
          <a:xfrm>
            <a:off x="411480" y="1371600"/>
            <a:ext cx="11338560" cy="292608"/>
          </a:xfrm>
          <a:prstGeom prst="roundRect">
            <a:avLst>
              <a:gd name="adj" fmla="val 18750"/>
            </a:avLst>
          </a:prstGeom>
          <a:solidFill>
            <a:srgbClr val="1E3A8A"/>
          </a:solidFill>
          <a:ln>
            <a:noFill/>
          </a:ln>
          <a:effectLst/>
        </p:spPr>
        <p:txBody>
          <a:bodyPr rtlCol="0" anchor="ctr"/>
          <a:lstStyle/>
          <a:p>
            <a:pPr algn="ctr"/>
          </a:p>
        </p:txBody>
      </p:sp>
      <p:pic>
        <p:nvPicPr>
          <p:cNvPr id="8" name="Picture 7" descr="image29.png"/>
          <p:cNvPicPr>
            <a:picLocks noChangeAspect="1"/>
          </p:cNvPicPr>
          <p:nvPr/>
        </p:nvPicPr>
        <p:blipFill>
          <a:blip r:embed="rId2"/>
          <a:stretch>
            <a:fillRect/>
          </a:stretch>
        </p:blipFill>
        <p:spPr>
          <a:xfrm>
            <a:off x="521208" y="1436465"/>
            <a:ext cx="182880" cy="162877"/>
          </a:xfrm>
          <a:prstGeom prst="rect">
            <a:avLst/>
          </a:prstGeom>
        </p:spPr>
      </p:pic>
      <p:sp>
        <p:nvSpPr>
          <p:cNvPr id="9" name="TextBox 8"/>
          <p:cNvSpPr txBox="1"/>
          <p:nvPr/>
        </p:nvSpPr>
        <p:spPr>
          <a:xfrm>
            <a:off x="795528" y="137160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STATEMENT</a:t>
            </a:r>
          </a:p>
        </p:txBody>
      </p:sp>
      <p:sp>
        <p:nvSpPr>
          <p:cNvPr id="10" name="Rounded Rectangle 9"/>
          <p:cNvSpPr/>
          <p:nvPr/>
        </p:nvSpPr>
        <p:spPr>
          <a:xfrm>
            <a:off x="411480" y="1737360"/>
            <a:ext cx="7818120" cy="1051560"/>
          </a:xfrm>
          <a:prstGeom prst="roundRect">
            <a:avLst>
              <a:gd name="adj" fmla="val 8695"/>
            </a:avLst>
          </a:prstGeom>
          <a:solidFill>
            <a:srgbClr val="F4F8FC"/>
          </a:solidFill>
          <a:ln w="9525">
            <a:solidFill>
              <a:srgbClr val="BDD7EE"/>
            </a:solidFill>
          </a:ln>
          <a:effectLst/>
        </p:spPr>
        <p:txBody>
          <a:bodyPr rtlCol="0" anchor="ctr"/>
          <a:lstStyle/>
          <a:p>
            <a:pPr algn="ctr"/>
          </a:p>
        </p:txBody>
      </p:sp>
      <p:sp>
        <p:nvSpPr>
          <p:cNvPr id="11" name="Rounded Rectangle 10"/>
          <p:cNvSpPr/>
          <p:nvPr/>
        </p:nvSpPr>
        <p:spPr>
          <a:xfrm>
            <a:off x="411480" y="1737360"/>
            <a:ext cx="64008" cy="1051560"/>
          </a:xfrm>
          <a:prstGeom prst="roundRect">
            <a:avLst>
              <a:gd name="adj" fmla="val 42857"/>
            </a:avLst>
          </a:prstGeom>
          <a:solidFill>
            <a:srgbClr val="0070C0"/>
          </a:solidFill>
          <a:ln>
            <a:noFill/>
          </a:ln>
          <a:effectLst/>
        </p:spPr>
        <p:txBody>
          <a:bodyPr rtlCol="0" anchor="ctr"/>
          <a:lstStyle/>
          <a:p>
            <a:pPr algn="ctr"/>
          </a:p>
        </p:txBody>
      </p:sp>
      <p:sp>
        <p:nvSpPr>
          <p:cNvPr id="12" name="TextBox 11"/>
          <p:cNvSpPr txBox="1"/>
          <p:nvPr/>
        </p:nvSpPr>
        <p:spPr>
          <a:xfrm>
            <a:off x="539496" y="1737360"/>
            <a:ext cx="7635240" cy="1051560"/>
          </a:xfrm>
          <a:prstGeom prst="rect">
            <a:avLst/>
          </a:prstGeom>
          <a:noFill/>
        </p:spPr>
        <p:txBody>
          <a:bodyPr wrap="square" lIns="54864" tIns="27432" rIns="73152" bIns="27432" anchor="ctr">
            <a:noAutofit/>
          </a:bodyPr>
          <a:lstStyle/>
          <a:p>
            <a:pPr algn="l"/>
            <a:r>
              <a:rPr sz="1000" b="1" i="0">
                <a:solidFill>
                  <a:srgbClr val="1F497D"/>
                </a:solidFill>
                <a:latin typeface="Aptos"/>
              </a:rPr>
              <a:t>Assigned statement: </a:t>
            </a:r>
            <a:r>
              <a:rPr sz="1000" b="0" i="0">
                <a:solidFill>
                  <a:srgbClr val="140C12"/>
                </a:solidFill>
                <a:latin typeface="Aptos"/>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13" name="Rounded Rectangle 12"/>
          <p:cNvSpPr/>
          <p:nvPr/>
        </p:nvSpPr>
        <p:spPr>
          <a:xfrm>
            <a:off x="8366760" y="1737360"/>
            <a:ext cx="3383280" cy="1051560"/>
          </a:xfrm>
          <a:prstGeom prst="roundRect">
            <a:avLst>
              <a:gd name="adj" fmla="val 8695"/>
            </a:avLst>
          </a:prstGeom>
          <a:solidFill>
            <a:srgbClr val="1F497D"/>
          </a:solidFill>
          <a:ln>
            <a:noFill/>
          </a:ln>
          <a:effectLst/>
        </p:spPr>
        <p:txBody>
          <a:bodyPr rtlCol="0" anchor="ctr"/>
          <a:lstStyle/>
          <a:p>
            <a:pPr algn="ctr"/>
          </a:p>
        </p:txBody>
      </p:sp>
      <p:sp>
        <p:nvSpPr>
          <p:cNvPr id="14" name="TextBox 13"/>
          <p:cNvSpPr txBox="1"/>
          <p:nvPr/>
        </p:nvSpPr>
        <p:spPr>
          <a:xfrm>
            <a:off x="8458200" y="1737360"/>
            <a:ext cx="3246120" cy="1051560"/>
          </a:xfrm>
          <a:prstGeom prst="rect">
            <a:avLst/>
          </a:prstGeom>
          <a:noFill/>
        </p:spPr>
        <p:txBody>
          <a:bodyPr wrap="square" lIns="36576" tIns="18288" rIns="36576" bIns="18288" anchor="ctr">
            <a:noAutofit/>
          </a:bodyPr>
          <a:lstStyle/>
          <a:p>
            <a:pPr algn="l">
              <a:spcAft>
                <a:spcPts val="200"/>
              </a:spcAft>
            </a:pPr>
            <a:r>
              <a:rPr sz="950" b="1" i="0">
                <a:solidFill>
                  <a:srgbClr val="FFFFFF"/>
                </a:solidFill>
                <a:latin typeface="Aptos"/>
              </a:rPr>
              <a:t>What the statement asks for</a:t>
            </a:r>
          </a:p>
          <a:p>
            <a:pPr algn="l"/>
            <a:r>
              <a:rPr sz="850" b="1" i="0">
                <a:solidFill>
                  <a:srgbClr val="FFBE2D"/>
                </a:solidFill>
                <a:latin typeface="Aptos"/>
              </a:rPr>
              <a:t>✓  </a:t>
            </a:r>
            <a:r>
              <a:rPr sz="850" b="0" i="0">
                <a:solidFill>
                  <a:srgbClr val="FFFFFF"/>
                </a:solidFill>
                <a:latin typeface="Aptos"/>
              </a:rPr>
              <a:t>Read free-text complaints in any language</a:t>
            </a:r>
          </a:p>
          <a:p>
            <a:pPr algn="l"/>
            <a:r>
              <a:rPr sz="850" b="1" i="0">
                <a:solidFill>
                  <a:srgbClr val="FFBE2D"/>
                </a:solidFill>
                <a:latin typeface="Aptos"/>
              </a:rPr>
              <a:t>✓  </a:t>
            </a:r>
            <a:r>
              <a:rPr sz="850" b="0" i="0">
                <a:solidFill>
                  <a:srgbClr val="FFFFFF"/>
                </a:solidFill>
                <a:latin typeface="Aptos"/>
              </a:rPr>
              <a:t>Identify the subject and the urgency</a:t>
            </a:r>
          </a:p>
          <a:p>
            <a:pPr algn="l"/>
            <a:r>
              <a:rPr sz="850" b="1" i="0">
                <a:solidFill>
                  <a:srgbClr val="FFBE2D"/>
                </a:solidFill>
                <a:latin typeface="Aptos"/>
              </a:rPr>
              <a:t>✓  </a:t>
            </a:r>
            <a:r>
              <a:rPr sz="850" b="0" i="0">
                <a:solidFill>
                  <a:srgbClr val="FFFFFF"/>
                </a:solidFill>
                <a:latin typeface="Aptos"/>
              </a:rPr>
              <a:t>Categorise the issue</a:t>
            </a:r>
          </a:p>
          <a:p>
            <a:pPr algn="l"/>
            <a:r>
              <a:rPr sz="850" b="1" i="0">
                <a:solidFill>
                  <a:srgbClr val="FFBE2D"/>
                </a:solidFill>
                <a:latin typeface="Aptos"/>
              </a:rPr>
              <a:t>✓  </a:t>
            </a:r>
            <a:r>
              <a:rPr sz="850" b="0" i="0">
                <a:solidFill>
                  <a:srgbClr val="FFFFFF"/>
                </a:solidFill>
                <a:latin typeface="Aptos"/>
              </a:rPr>
              <a:t>Route it to the right department</a:t>
            </a:r>
          </a:p>
          <a:p>
            <a:pPr algn="l"/>
            <a:r>
              <a:rPr sz="850" b="1" i="0">
                <a:solidFill>
                  <a:srgbClr val="FFBE2D"/>
                </a:solidFill>
                <a:latin typeface="Aptos"/>
              </a:rPr>
              <a:t>✓  </a:t>
            </a:r>
            <a:r>
              <a:rPr sz="850" b="0" i="0">
                <a:solidFill>
                  <a:srgbClr val="FFFFFF"/>
                </a:solidFill>
                <a:latin typeface="Aptos"/>
              </a:rPr>
              <a:t>Keep the complainant informed</a:t>
            </a:r>
          </a:p>
        </p:txBody>
      </p:sp>
      <p:sp>
        <p:nvSpPr>
          <p:cNvPr id="15" name="Rounded Rectangle 14"/>
          <p:cNvSpPr/>
          <p:nvPr/>
        </p:nvSpPr>
        <p:spPr>
          <a:xfrm>
            <a:off x="411480" y="2880360"/>
            <a:ext cx="11338560" cy="292608"/>
          </a:xfrm>
          <a:prstGeom prst="roundRect">
            <a:avLst>
              <a:gd name="adj" fmla="val 18750"/>
            </a:avLst>
          </a:prstGeom>
          <a:solidFill>
            <a:srgbClr val="1E3A8A"/>
          </a:solidFill>
          <a:ln>
            <a:noFill/>
          </a:ln>
          <a:effectLst/>
        </p:spPr>
        <p:txBody>
          <a:bodyPr rtlCol="0" anchor="ctr"/>
          <a:lstStyle/>
          <a:p>
            <a:pPr algn="ctr"/>
          </a:p>
        </p:txBody>
      </p:sp>
      <p:pic>
        <p:nvPicPr>
          <p:cNvPr id="16" name="Picture 15" descr="image23.png"/>
          <p:cNvPicPr>
            <a:picLocks noChangeAspect="1"/>
          </p:cNvPicPr>
          <p:nvPr/>
        </p:nvPicPr>
        <p:blipFill>
          <a:blip r:embed="rId3"/>
          <a:stretch>
            <a:fillRect/>
          </a:stretch>
        </p:blipFill>
        <p:spPr>
          <a:xfrm>
            <a:off x="521208" y="2953440"/>
            <a:ext cx="182880" cy="146446"/>
          </a:xfrm>
          <a:prstGeom prst="rect">
            <a:avLst/>
          </a:prstGeom>
        </p:spPr>
      </p:pic>
      <p:sp>
        <p:nvSpPr>
          <p:cNvPr id="17" name="TextBox 16"/>
          <p:cNvSpPr txBox="1"/>
          <p:nvPr/>
        </p:nvSpPr>
        <p:spPr>
          <a:xfrm>
            <a:off x="795528" y="288036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PROBLEM FACED</a:t>
            </a:r>
          </a:p>
        </p:txBody>
      </p:sp>
      <p:sp>
        <p:nvSpPr>
          <p:cNvPr id="18" name="Rounded Rectangle 17"/>
          <p:cNvSpPr/>
          <p:nvPr/>
        </p:nvSpPr>
        <p:spPr>
          <a:xfrm>
            <a:off x="411480" y="324612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19" name="Rounded Rectangle 18"/>
          <p:cNvSpPr/>
          <p:nvPr/>
        </p:nvSpPr>
        <p:spPr>
          <a:xfrm>
            <a:off x="411480" y="3246120"/>
            <a:ext cx="54864" cy="457200"/>
          </a:xfrm>
          <a:prstGeom prst="roundRect">
            <a:avLst>
              <a:gd name="adj" fmla="val 50000"/>
            </a:avLst>
          </a:prstGeom>
          <a:solidFill>
            <a:srgbClr val="0284C7"/>
          </a:solidFill>
          <a:ln>
            <a:noFill/>
          </a:ln>
          <a:effectLst/>
        </p:spPr>
        <p:txBody>
          <a:bodyPr rtlCol="0" anchor="ctr"/>
          <a:lstStyle/>
          <a:p>
            <a:pPr algn="ctr"/>
          </a:p>
        </p:txBody>
      </p:sp>
      <p:pic>
        <p:nvPicPr>
          <p:cNvPr id="20" name="Picture 19" descr="image38.png"/>
          <p:cNvPicPr>
            <a:picLocks noChangeAspect="1"/>
          </p:cNvPicPr>
          <p:nvPr/>
        </p:nvPicPr>
        <p:blipFill>
          <a:blip r:embed="rId4"/>
          <a:stretch>
            <a:fillRect/>
          </a:stretch>
        </p:blipFill>
        <p:spPr>
          <a:xfrm>
            <a:off x="539496" y="3337560"/>
            <a:ext cx="274320" cy="274320"/>
          </a:xfrm>
          <a:prstGeom prst="rect">
            <a:avLst/>
          </a:prstGeom>
        </p:spPr>
      </p:pic>
      <p:sp>
        <p:nvSpPr>
          <p:cNvPr id="21" name="TextBox 20"/>
          <p:cNvSpPr txBox="1"/>
          <p:nvPr/>
        </p:nvSpPr>
        <p:spPr>
          <a:xfrm>
            <a:off x="886968" y="324612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Citizens</a:t>
            </a:r>
          </a:p>
          <a:p>
            <a:pPr algn="l"/>
            <a:r>
              <a:rPr sz="850" b="0" i="0">
                <a:solidFill>
                  <a:srgbClr val="475569"/>
                </a:solidFill>
                <a:latin typeface="Aptos"/>
              </a:rPr>
              <a:t>write in Tamil, Hindi, English or a mix, often from a phone</a:t>
            </a:r>
          </a:p>
        </p:txBody>
      </p:sp>
      <p:sp>
        <p:nvSpPr>
          <p:cNvPr id="22" name="Rounded Rectangle 21"/>
          <p:cNvSpPr/>
          <p:nvPr/>
        </p:nvSpPr>
        <p:spPr>
          <a:xfrm>
            <a:off x="411480" y="3794759"/>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3" name="Rounded Rectangle 22"/>
          <p:cNvSpPr/>
          <p:nvPr/>
        </p:nvSpPr>
        <p:spPr>
          <a:xfrm>
            <a:off x="411480" y="3794759"/>
            <a:ext cx="54864" cy="457200"/>
          </a:xfrm>
          <a:prstGeom prst="roundRect">
            <a:avLst>
              <a:gd name="adj" fmla="val 50000"/>
            </a:avLst>
          </a:prstGeom>
          <a:solidFill>
            <a:srgbClr val="0284C7"/>
          </a:solidFill>
          <a:ln>
            <a:noFill/>
          </a:ln>
          <a:effectLst/>
        </p:spPr>
        <p:txBody>
          <a:bodyPr rtlCol="0" anchor="ctr"/>
          <a:lstStyle/>
          <a:p>
            <a:pPr algn="ctr"/>
          </a:p>
        </p:txBody>
      </p:sp>
      <p:pic>
        <p:nvPicPr>
          <p:cNvPr id="24" name="Picture 23" descr="image36.png"/>
          <p:cNvPicPr>
            <a:picLocks noChangeAspect="1"/>
          </p:cNvPicPr>
          <p:nvPr/>
        </p:nvPicPr>
        <p:blipFill>
          <a:blip r:embed="rId5"/>
          <a:stretch>
            <a:fillRect/>
          </a:stretch>
        </p:blipFill>
        <p:spPr>
          <a:xfrm>
            <a:off x="539496" y="3886199"/>
            <a:ext cx="274320" cy="274320"/>
          </a:xfrm>
          <a:prstGeom prst="rect">
            <a:avLst/>
          </a:prstGeom>
        </p:spPr>
      </p:pic>
      <p:sp>
        <p:nvSpPr>
          <p:cNvPr id="25" name="TextBox 24"/>
          <p:cNvSpPr txBox="1"/>
          <p:nvPr/>
        </p:nvSpPr>
        <p:spPr>
          <a:xfrm>
            <a:off x="886968" y="3794759"/>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Grievance officers</a:t>
            </a:r>
          </a:p>
          <a:p>
            <a:pPr algn="l"/>
            <a:r>
              <a:rPr sz="850" b="0" i="0">
                <a:solidFill>
                  <a:srgbClr val="475569"/>
                </a:solidFill>
                <a:latin typeface="Aptos"/>
              </a:rPr>
              <a:t>triage long free text by hand, first-in-first-out</a:t>
            </a:r>
          </a:p>
        </p:txBody>
      </p:sp>
      <p:sp>
        <p:nvSpPr>
          <p:cNvPr id="26" name="Rounded Rectangle 25"/>
          <p:cNvSpPr/>
          <p:nvPr/>
        </p:nvSpPr>
        <p:spPr>
          <a:xfrm>
            <a:off x="411480" y="4343400"/>
            <a:ext cx="3931920" cy="457200"/>
          </a:xfrm>
          <a:prstGeom prst="roundRect">
            <a:avLst>
              <a:gd name="adj" fmla="val 16000"/>
            </a:avLst>
          </a:prstGeom>
          <a:solidFill>
            <a:srgbClr val="FFFFFF"/>
          </a:solidFill>
          <a:ln w="9525">
            <a:solidFill>
              <a:srgbClr val="E2E8F0"/>
            </a:solidFill>
          </a:ln>
          <a:effectLst/>
        </p:spPr>
        <p:txBody>
          <a:bodyPr rtlCol="0" anchor="ctr"/>
          <a:lstStyle/>
          <a:p>
            <a:pPr algn="ctr"/>
          </a:p>
        </p:txBody>
      </p:sp>
      <p:sp>
        <p:nvSpPr>
          <p:cNvPr id="27" name="Rounded Rectangle 26"/>
          <p:cNvSpPr/>
          <p:nvPr/>
        </p:nvSpPr>
        <p:spPr>
          <a:xfrm>
            <a:off x="411480" y="4343400"/>
            <a:ext cx="54864" cy="457200"/>
          </a:xfrm>
          <a:prstGeom prst="roundRect">
            <a:avLst>
              <a:gd name="adj" fmla="val 50000"/>
            </a:avLst>
          </a:prstGeom>
          <a:solidFill>
            <a:srgbClr val="0284C7"/>
          </a:solidFill>
          <a:ln>
            <a:noFill/>
          </a:ln>
          <a:effectLst/>
        </p:spPr>
        <p:txBody>
          <a:bodyPr rtlCol="0" anchor="ctr"/>
          <a:lstStyle/>
          <a:p>
            <a:pPr algn="ctr"/>
          </a:p>
        </p:txBody>
      </p:sp>
      <p:pic>
        <p:nvPicPr>
          <p:cNvPr id="28" name="Picture 27" descr="image12.png"/>
          <p:cNvPicPr>
            <a:picLocks noChangeAspect="1"/>
          </p:cNvPicPr>
          <p:nvPr/>
        </p:nvPicPr>
        <p:blipFill>
          <a:blip r:embed="rId6"/>
          <a:stretch>
            <a:fillRect/>
          </a:stretch>
        </p:blipFill>
        <p:spPr>
          <a:xfrm>
            <a:off x="556641" y="4434840"/>
            <a:ext cx="240030" cy="274320"/>
          </a:xfrm>
          <a:prstGeom prst="rect">
            <a:avLst/>
          </a:prstGeom>
        </p:spPr>
      </p:pic>
      <p:sp>
        <p:nvSpPr>
          <p:cNvPr id="29" name="TextBox 28"/>
          <p:cNvSpPr txBox="1"/>
          <p:nvPr/>
        </p:nvSpPr>
        <p:spPr>
          <a:xfrm>
            <a:off x="886968" y="4343400"/>
            <a:ext cx="3383280" cy="457200"/>
          </a:xfrm>
          <a:prstGeom prst="rect">
            <a:avLst/>
          </a:prstGeom>
          <a:noFill/>
        </p:spPr>
        <p:txBody>
          <a:bodyPr wrap="square" lIns="18288" tIns="9144" rIns="36576" bIns="9144" anchor="ctr">
            <a:noAutofit/>
          </a:bodyPr>
          <a:lstStyle/>
          <a:p>
            <a:pPr algn="l"/>
            <a:r>
              <a:rPr sz="950" b="1" i="0">
                <a:solidFill>
                  <a:srgbClr val="1E3A8A"/>
                </a:solidFill>
                <a:latin typeface="Aptos"/>
              </a:rPr>
              <a:t>Department staff</a:t>
            </a:r>
          </a:p>
          <a:p>
            <a:pPr algn="l"/>
            <a:r>
              <a:rPr sz="850" b="0" i="0">
                <a:solidFill>
                  <a:srgbClr val="475569"/>
                </a:solidFill>
                <a:latin typeface="Aptos"/>
              </a:rPr>
              <a:t>receive misrouted, duplicate and incomplete cases</a:t>
            </a:r>
          </a:p>
        </p:txBody>
      </p:sp>
      <p:sp>
        <p:nvSpPr>
          <p:cNvPr id="30" name="Rounded Rectangle 29"/>
          <p:cNvSpPr/>
          <p:nvPr/>
        </p:nvSpPr>
        <p:spPr>
          <a:xfrm>
            <a:off x="4526280" y="324612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1" name="Oval 30"/>
          <p:cNvSpPr/>
          <p:nvPr/>
        </p:nvSpPr>
        <p:spPr>
          <a:xfrm>
            <a:off x="4617720" y="3282696"/>
            <a:ext cx="201167" cy="201167"/>
          </a:xfrm>
          <a:prstGeom prst="ellipse">
            <a:avLst/>
          </a:prstGeom>
          <a:solidFill>
            <a:srgbClr val="DC2626"/>
          </a:solidFill>
          <a:ln>
            <a:noFill/>
          </a:ln>
          <a:effectLst/>
        </p:spPr>
        <p:txBody>
          <a:bodyPr rtlCol="0" anchor="ctr"/>
          <a:lstStyle/>
          <a:p>
            <a:pPr algn="ctr"/>
          </a:p>
        </p:txBody>
      </p:sp>
      <p:sp>
        <p:nvSpPr>
          <p:cNvPr id="32" name="TextBox 31"/>
          <p:cNvSpPr txBox="1"/>
          <p:nvPr/>
        </p:nvSpPr>
        <p:spPr>
          <a:xfrm>
            <a:off x="4617720" y="3282696"/>
            <a:ext cx="201167" cy="201167"/>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3" name="TextBox 32"/>
          <p:cNvSpPr txBox="1"/>
          <p:nvPr/>
        </p:nvSpPr>
        <p:spPr>
          <a:xfrm>
            <a:off x="4892040" y="324612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First-in-first-out triage: </a:t>
            </a:r>
            <a:r>
              <a:rPr sz="900" b="0" i="0">
                <a:solidFill>
                  <a:srgbClr val="140C12"/>
                </a:solidFill>
                <a:latin typeface="Aptos"/>
              </a:rPr>
              <a:t>a gas leak waits behind a billing query because nobody reads urgency</a:t>
            </a:r>
          </a:p>
        </p:txBody>
      </p:sp>
      <p:sp>
        <p:nvSpPr>
          <p:cNvPr id="34" name="Rounded Rectangle 33"/>
          <p:cNvSpPr/>
          <p:nvPr/>
        </p:nvSpPr>
        <p:spPr>
          <a:xfrm>
            <a:off x="4526280" y="356616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5" name="Oval 34"/>
          <p:cNvSpPr/>
          <p:nvPr/>
        </p:nvSpPr>
        <p:spPr>
          <a:xfrm>
            <a:off x="4617720" y="3602736"/>
            <a:ext cx="201167" cy="201167"/>
          </a:xfrm>
          <a:prstGeom prst="ellipse">
            <a:avLst/>
          </a:prstGeom>
          <a:solidFill>
            <a:srgbClr val="DC2626"/>
          </a:solidFill>
          <a:ln>
            <a:noFill/>
          </a:ln>
          <a:effectLst/>
        </p:spPr>
        <p:txBody>
          <a:bodyPr rtlCol="0" anchor="ctr"/>
          <a:lstStyle/>
          <a:p>
            <a:pPr algn="ctr"/>
          </a:p>
        </p:txBody>
      </p:sp>
      <p:sp>
        <p:nvSpPr>
          <p:cNvPr id="36" name="TextBox 35"/>
          <p:cNvSpPr txBox="1"/>
          <p:nvPr/>
        </p:nvSpPr>
        <p:spPr>
          <a:xfrm>
            <a:off x="4617720" y="3602736"/>
            <a:ext cx="201167" cy="201167"/>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7" name="TextBox 36"/>
          <p:cNvSpPr txBox="1"/>
          <p:nvPr/>
        </p:nvSpPr>
        <p:spPr>
          <a:xfrm>
            <a:off x="4892040" y="356616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Misrouting </a:t>
            </a:r>
            <a:r>
              <a:rPr sz="900" b="0" i="0">
                <a:solidFill>
                  <a:srgbClr val="140C12"/>
                </a:solidFill>
                <a:latin typeface="Aptos"/>
              </a:rPr>
              <a:t>adds days per hop as complaints bounce between departments</a:t>
            </a:r>
          </a:p>
        </p:txBody>
      </p:sp>
      <p:sp>
        <p:nvSpPr>
          <p:cNvPr id="38" name="Rounded Rectangle 37"/>
          <p:cNvSpPr/>
          <p:nvPr/>
        </p:nvSpPr>
        <p:spPr>
          <a:xfrm>
            <a:off x="4526280" y="388620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39" name="Oval 38"/>
          <p:cNvSpPr/>
          <p:nvPr/>
        </p:nvSpPr>
        <p:spPr>
          <a:xfrm>
            <a:off x="4617720" y="3922776"/>
            <a:ext cx="201167" cy="201167"/>
          </a:xfrm>
          <a:prstGeom prst="ellipse">
            <a:avLst/>
          </a:prstGeom>
          <a:solidFill>
            <a:srgbClr val="DC2626"/>
          </a:solidFill>
          <a:ln>
            <a:noFill/>
          </a:ln>
          <a:effectLst/>
        </p:spPr>
        <p:txBody>
          <a:bodyPr rtlCol="0" anchor="ctr"/>
          <a:lstStyle/>
          <a:p>
            <a:pPr algn="ctr"/>
          </a:p>
        </p:txBody>
      </p:sp>
      <p:sp>
        <p:nvSpPr>
          <p:cNvPr id="40" name="TextBox 39"/>
          <p:cNvSpPr txBox="1"/>
          <p:nvPr/>
        </p:nvSpPr>
        <p:spPr>
          <a:xfrm>
            <a:off x="4617720" y="3922776"/>
            <a:ext cx="201167" cy="201167"/>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41" name="TextBox 40"/>
          <p:cNvSpPr txBox="1"/>
          <p:nvPr/>
        </p:nvSpPr>
        <p:spPr>
          <a:xfrm>
            <a:off x="4892040" y="388620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Duplicates </a:t>
            </a:r>
            <a:r>
              <a:rPr sz="900" b="0" i="0">
                <a:solidFill>
                  <a:srgbClr val="140C12"/>
                </a:solidFill>
                <a:latin typeface="Aptos"/>
              </a:rPr>
              <a:t>pile up when the same issue is filed again by many citizens</a:t>
            </a:r>
          </a:p>
        </p:txBody>
      </p:sp>
      <p:sp>
        <p:nvSpPr>
          <p:cNvPr id="42" name="Rounded Rectangle 41"/>
          <p:cNvSpPr/>
          <p:nvPr/>
        </p:nvSpPr>
        <p:spPr>
          <a:xfrm>
            <a:off x="4526280" y="4206240"/>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3" name="Oval 42"/>
          <p:cNvSpPr/>
          <p:nvPr/>
        </p:nvSpPr>
        <p:spPr>
          <a:xfrm>
            <a:off x="4617720" y="4242816"/>
            <a:ext cx="201167" cy="201167"/>
          </a:xfrm>
          <a:prstGeom prst="ellipse">
            <a:avLst/>
          </a:prstGeom>
          <a:solidFill>
            <a:srgbClr val="DC2626"/>
          </a:solidFill>
          <a:ln>
            <a:noFill/>
          </a:ln>
          <a:effectLst/>
        </p:spPr>
        <p:txBody>
          <a:bodyPr rtlCol="0" anchor="ctr"/>
          <a:lstStyle/>
          <a:p>
            <a:pPr algn="ctr"/>
          </a:p>
        </p:txBody>
      </p:sp>
      <p:sp>
        <p:nvSpPr>
          <p:cNvPr id="44" name="TextBox 43"/>
          <p:cNvSpPr txBox="1"/>
          <p:nvPr/>
        </p:nvSpPr>
        <p:spPr>
          <a:xfrm>
            <a:off x="4617720" y="4242816"/>
            <a:ext cx="201167" cy="201167"/>
          </a:xfrm>
          <a:prstGeom prst="rect">
            <a:avLst/>
          </a:prstGeom>
          <a:noFill/>
        </p:spPr>
        <p:txBody>
          <a:bodyPr wrap="square" lIns="0" tIns="0" rIns="0" bIns="0" anchor="ctr">
            <a:noAutofit/>
          </a:bodyPr>
          <a:lstStyle/>
          <a:p>
            <a:pPr algn="ctr"/>
            <a:r>
              <a:rPr sz="750" b="1" i="0">
                <a:solidFill>
                  <a:srgbClr val="FFFFFF"/>
                </a:solidFill>
                <a:latin typeface="Aptos"/>
              </a:rPr>
              <a:t>04</a:t>
            </a:r>
          </a:p>
        </p:txBody>
      </p:sp>
      <p:sp>
        <p:nvSpPr>
          <p:cNvPr id="45" name="TextBox 44"/>
          <p:cNvSpPr txBox="1"/>
          <p:nvPr/>
        </p:nvSpPr>
        <p:spPr>
          <a:xfrm>
            <a:off x="4892040" y="4206240"/>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Informal or non-English writers </a:t>
            </a:r>
            <a:r>
              <a:rPr sz="900" b="0" i="0">
                <a:solidFill>
                  <a:srgbClr val="140C12"/>
                </a:solidFill>
                <a:latin typeface="Aptos"/>
              </a:rPr>
              <a:t>get slower and worse service than fluent English complainants</a:t>
            </a:r>
          </a:p>
        </p:txBody>
      </p:sp>
      <p:sp>
        <p:nvSpPr>
          <p:cNvPr id="46" name="Rounded Rectangle 45"/>
          <p:cNvSpPr/>
          <p:nvPr/>
        </p:nvSpPr>
        <p:spPr>
          <a:xfrm>
            <a:off x="4526280" y="4526279"/>
            <a:ext cx="7223760" cy="274320"/>
          </a:xfrm>
          <a:prstGeom prst="roundRect">
            <a:avLst>
              <a:gd name="adj" fmla="val 26666"/>
            </a:avLst>
          </a:prstGeom>
          <a:solidFill>
            <a:srgbClr val="FEF2F2"/>
          </a:solidFill>
          <a:ln w="9525">
            <a:solidFill>
              <a:srgbClr val="FCA5A5"/>
            </a:solidFill>
          </a:ln>
          <a:effectLst/>
        </p:spPr>
        <p:txBody>
          <a:bodyPr rtlCol="0" anchor="ctr"/>
          <a:lstStyle/>
          <a:p>
            <a:pPr algn="ctr"/>
          </a:p>
        </p:txBody>
      </p:sp>
      <p:sp>
        <p:nvSpPr>
          <p:cNvPr id="47" name="Oval 46"/>
          <p:cNvSpPr/>
          <p:nvPr/>
        </p:nvSpPr>
        <p:spPr>
          <a:xfrm>
            <a:off x="4617720" y="4562855"/>
            <a:ext cx="201167" cy="201167"/>
          </a:xfrm>
          <a:prstGeom prst="ellipse">
            <a:avLst/>
          </a:prstGeom>
          <a:solidFill>
            <a:srgbClr val="DC2626"/>
          </a:solidFill>
          <a:ln>
            <a:noFill/>
          </a:ln>
          <a:effectLst/>
        </p:spPr>
        <p:txBody>
          <a:bodyPr rtlCol="0" anchor="ctr"/>
          <a:lstStyle/>
          <a:p>
            <a:pPr algn="ctr"/>
          </a:p>
        </p:txBody>
      </p:sp>
      <p:sp>
        <p:nvSpPr>
          <p:cNvPr id="48" name="TextBox 47"/>
          <p:cNvSpPr txBox="1"/>
          <p:nvPr/>
        </p:nvSpPr>
        <p:spPr>
          <a:xfrm>
            <a:off x="4617720" y="4562855"/>
            <a:ext cx="201167" cy="201167"/>
          </a:xfrm>
          <a:prstGeom prst="rect">
            <a:avLst/>
          </a:prstGeom>
          <a:noFill/>
        </p:spPr>
        <p:txBody>
          <a:bodyPr wrap="square" lIns="0" tIns="0" rIns="0" bIns="0" anchor="ctr">
            <a:noAutofit/>
          </a:bodyPr>
          <a:lstStyle/>
          <a:p>
            <a:pPr algn="ctr"/>
            <a:r>
              <a:rPr sz="750" b="1" i="0">
                <a:solidFill>
                  <a:srgbClr val="FFFFFF"/>
                </a:solidFill>
                <a:latin typeface="Aptos"/>
              </a:rPr>
              <a:t>05</a:t>
            </a:r>
          </a:p>
        </p:txBody>
      </p:sp>
      <p:sp>
        <p:nvSpPr>
          <p:cNvPr id="49" name="TextBox 48"/>
          <p:cNvSpPr txBox="1"/>
          <p:nvPr/>
        </p:nvSpPr>
        <p:spPr>
          <a:xfrm>
            <a:off x="4892040" y="4526279"/>
            <a:ext cx="6766560" cy="274320"/>
          </a:xfrm>
          <a:prstGeom prst="rect">
            <a:avLst/>
          </a:prstGeom>
          <a:noFill/>
        </p:spPr>
        <p:txBody>
          <a:bodyPr wrap="square" lIns="18288" tIns="9144" rIns="36576" bIns="9144" anchor="ctr">
            <a:noAutofit/>
          </a:bodyPr>
          <a:lstStyle/>
          <a:p>
            <a:pPr algn="l"/>
            <a:r>
              <a:rPr sz="900" b="1" i="0">
                <a:solidFill>
                  <a:srgbClr val="140C12"/>
                </a:solidFill>
                <a:latin typeface="Aptos"/>
              </a:rPr>
              <a:t>Silence after filing: </a:t>
            </a:r>
            <a:r>
              <a:rPr sz="900" b="0" i="0">
                <a:solidFill>
                  <a:srgbClr val="140C12"/>
                </a:solidFill>
                <a:latin typeface="Aptos"/>
              </a:rPr>
              <a:t>no acknowledgement, no status, no idea who is handling the case</a:t>
            </a:r>
          </a:p>
        </p:txBody>
      </p:sp>
      <p:sp>
        <p:nvSpPr>
          <p:cNvPr id="50" name="Rounded Rectangle 49"/>
          <p:cNvSpPr/>
          <p:nvPr/>
        </p:nvSpPr>
        <p:spPr>
          <a:xfrm>
            <a:off x="411480" y="4892040"/>
            <a:ext cx="11338560" cy="292608"/>
          </a:xfrm>
          <a:prstGeom prst="roundRect">
            <a:avLst>
              <a:gd name="adj" fmla="val 18750"/>
            </a:avLst>
          </a:prstGeom>
          <a:solidFill>
            <a:srgbClr val="1E3A8A"/>
          </a:solidFill>
          <a:ln>
            <a:noFill/>
          </a:ln>
          <a:effectLst/>
        </p:spPr>
        <p:txBody>
          <a:bodyPr rtlCol="0" anchor="ctr"/>
          <a:lstStyle/>
          <a:p>
            <a:pPr algn="ctr"/>
          </a:p>
        </p:txBody>
      </p:sp>
      <p:pic>
        <p:nvPicPr>
          <p:cNvPr id="51" name="Picture 50" descr="image28.png"/>
          <p:cNvPicPr>
            <a:picLocks noChangeAspect="1"/>
          </p:cNvPicPr>
          <p:nvPr/>
        </p:nvPicPr>
        <p:blipFill>
          <a:blip r:embed="rId7"/>
          <a:stretch>
            <a:fillRect/>
          </a:stretch>
        </p:blipFill>
        <p:spPr>
          <a:xfrm>
            <a:off x="544068" y="4946903"/>
            <a:ext cx="137160" cy="182880"/>
          </a:xfrm>
          <a:prstGeom prst="rect">
            <a:avLst/>
          </a:prstGeom>
        </p:spPr>
      </p:pic>
      <p:sp>
        <p:nvSpPr>
          <p:cNvPr id="52" name="TextBox 51"/>
          <p:cNvSpPr txBox="1"/>
          <p:nvPr/>
        </p:nvSpPr>
        <p:spPr>
          <a:xfrm>
            <a:off x="795528" y="4892040"/>
            <a:ext cx="10863072" cy="292608"/>
          </a:xfrm>
          <a:prstGeom prst="rect">
            <a:avLst/>
          </a:prstGeom>
          <a:noFill/>
        </p:spPr>
        <p:txBody>
          <a:bodyPr wrap="square" lIns="18288" tIns="0" rIns="18288" bIns="0" anchor="ctr">
            <a:noAutofit/>
          </a:bodyPr>
          <a:lstStyle/>
          <a:p>
            <a:pPr algn="l"/>
            <a:r>
              <a:rPr sz="1000" b="1" i="0">
                <a:solidFill>
                  <a:srgbClr val="FFFFFF"/>
                </a:solidFill>
                <a:latin typeface="Aptos"/>
              </a:rPr>
              <a:t>SUCCESS OUTCOME  ·  measured on the build laptop, 15 October 2026</a:t>
            </a:r>
          </a:p>
        </p:txBody>
      </p:sp>
      <p:sp>
        <p:nvSpPr>
          <p:cNvPr id="53" name="Rounded Rectangle 52"/>
          <p:cNvSpPr/>
          <p:nvPr/>
        </p:nvSpPr>
        <p:spPr>
          <a:xfrm>
            <a:off x="41148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4" name="Rectangle 53"/>
          <p:cNvSpPr/>
          <p:nvPr/>
        </p:nvSpPr>
        <p:spPr>
          <a:xfrm>
            <a:off x="521208" y="5257800"/>
            <a:ext cx="1578864" cy="45720"/>
          </a:xfrm>
          <a:prstGeom prst="rect">
            <a:avLst/>
          </a:prstGeom>
          <a:solidFill>
            <a:srgbClr val="2563EB"/>
          </a:solidFill>
          <a:ln>
            <a:noFill/>
          </a:ln>
          <a:effectLst/>
        </p:spPr>
        <p:txBody>
          <a:bodyPr rtlCol="0" anchor="ctr"/>
          <a:lstStyle/>
          <a:p>
            <a:pPr algn="ctr"/>
          </a:p>
        </p:txBody>
      </p:sp>
      <p:sp>
        <p:nvSpPr>
          <p:cNvPr id="55" name="TextBox 54"/>
          <p:cNvSpPr txBox="1"/>
          <p:nvPr/>
        </p:nvSpPr>
        <p:spPr>
          <a:xfrm>
            <a:off x="411480" y="5349240"/>
            <a:ext cx="1798320" cy="457200"/>
          </a:xfrm>
          <a:prstGeom prst="rect">
            <a:avLst/>
          </a:prstGeom>
          <a:noFill/>
        </p:spPr>
        <p:txBody>
          <a:bodyPr wrap="square" lIns="18288" tIns="0" rIns="18288" bIns="0" anchor="ctr">
            <a:noAutofit/>
          </a:bodyPr>
          <a:lstStyle/>
          <a:p>
            <a:pPr algn="ctr"/>
            <a:r>
              <a:rPr sz="2000" b="1" i="0">
                <a:solidFill>
                  <a:srgbClr val="2563EB"/>
                </a:solidFill>
                <a:latin typeface="Aptos"/>
              </a:rPr>
              <a:t>&lt; 1 s</a:t>
            </a:r>
          </a:p>
        </p:txBody>
      </p:sp>
      <p:sp>
        <p:nvSpPr>
          <p:cNvPr id="56" name="TextBox 55"/>
          <p:cNvSpPr txBox="1"/>
          <p:nvPr/>
        </p:nvSpPr>
        <p:spPr>
          <a:xfrm>
            <a:off x="45720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acknowledgement with a tracking ID, in the citizen's language</a:t>
            </a:r>
          </a:p>
        </p:txBody>
      </p:sp>
      <p:sp>
        <p:nvSpPr>
          <p:cNvPr id="57" name="Rounded Rectangle 56"/>
          <p:cNvSpPr/>
          <p:nvPr/>
        </p:nvSpPr>
        <p:spPr>
          <a:xfrm>
            <a:off x="2319528"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58" name="Rectangle 57"/>
          <p:cNvSpPr/>
          <p:nvPr/>
        </p:nvSpPr>
        <p:spPr>
          <a:xfrm>
            <a:off x="2429256" y="5257800"/>
            <a:ext cx="1578864" cy="45720"/>
          </a:xfrm>
          <a:prstGeom prst="rect">
            <a:avLst/>
          </a:prstGeom>
          <a:solidFill>
            <a:srgbClr val="0D9488"/>
          </a:solidFill>
          <a:ln>
            <a:noFill/>
          </a:ln>
          <a:effectLst/>
        </p:spPr>
        <p:txBody>
          <a:bodyPr rtlCol="0" anchor="ctr"/>
          <a:lstStyle/>
          <a:p>
            <a:pPr algn="ctr"/>
          </a:p>
        </p:txBody>
      </p:sp>
      <p:sp>
        <p:nvSpPr>
          <p:cNvPr id="59" name="TextBox 58"/>
          <p:cNvSpPr txBox="1"/>
          <p:nvPr/>
        </p:nvSpPr>
        <p:spPr>
          <a:xfrm>
            <a:off x="2319528" y="5349240"/>
            <a:ext cx="1798320" cy="457200"/>
          </a:xfrm>
          <a:prstGeom prst="rect">
            <a:avLst/>
          </a:prstGeom>
          <a:noFill/>
        </p:spPr>
        <p:txBody>
          <a:bodyPr wrap="square" lIns="18288" tIns="0" rIns="18288" bIns="0" anchor="ctr">
            <a:noAutofit/>
          </a:bodyPr>
          <a:lstStyle/>
          <a:p>
            <a:pPr algn="ctr"/>
            <a:r>
              <a:rPr sz="2000" b="1" i="0">
                <a:solidFill>
                  <a:srgbClr val="0D9488"/>
                </a:solidFill>
                <a:latin typeface="Aptos"/>
              </a:rPr>
              <a:t>~20 s</a:t>
            </a:r>
          </a:p>
        </p:txBody>
      </p:sp>
      <p:sp>
        <p:nvSpPr>
          <p:cNvPr id="60" name="TextBox 59"/>
          <p:cNvSpPr txBox="1"/>
          <p:nvPr/>
        </p:nvSpPr>
        <p:spPr>
          <a:xfrm>
            <a:off x="2365248"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full analysis of text and photo on local hardware, no cloud</a:t>
            </a:r>
          </a:p>
        </p:txBody>
      </p:sp>
      <p:sp>
        <p:nvSpPr>
          <p:cNvPr id="61" name="Rounded Rectangle 60"/>
          <p:cNvSpPr/>
          <p:nvPr/>
        </p:nvSpPr>
        <p:spPr>
          <a:xfrm>
            <a:off x="4227576"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2" name="Rectangle 61"/>
          <p:cNvSpPr/>
          <p:nvPr/>
        </p:nvSpPr>
        <p:spPr>
          <a:xfrm>
            <a:off x="4337304" y="5257800"/>
            <a:ext cx="1578864" cy="45720"/>
          </a:xfrm>
          <a:prstGeom prst="rect">
            <a:avLst/>
          </a:prstGeom>
          <a:solidFill>
            <a:srgbClr val="16A34A"/>
          </a:solidFill>
          <a:ln>
            <a:noFill/>
          </a:ln>
          <a:effectLst/>
        </p:spPr>
        <p:txBody>
          <a:bodyPr rtlCol="0" anchor="ctr"/>
          <a:lstStyle/>
          <a:p>
            <a:pPr algn="ctr"/>
          </a:p>
        </p:txBody>
      </p:sp>
      <p:sp>
        <p:nvSpPr>
          <p:cNvPr id="63" name="TextBox 62"/>
          <p:cNvSpPr txBox="1"/>
          <p:nvPr/>
        </p:nvSpPr>
        <p:spPr>
          <a:xfrm>
            <a:off x="4227576"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4" name="TextBox 63"/>
          <p:cNvSpPr txBox="1"/>
          <p:nvPr/>
        </p:nvSpPr>
        <p:spPr>
          <a:xfrm>
            <a:off x="4273296"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Critical cases reach a human (gold set, 4 of 4)</a:t>
            </a:r>
          </a:p>
        </p:txBody>
      </p:sp>
      <p:sp>
        <p:nvSpPr>
          <p:cNvPr id="65" name="Rounded Rectangle 64"/>
          <p:cNvSpPr/>
          <p:nvPr/>
        </p:nvSpPr>
        <p:spPr>
          <a:xfrm>
            <a:off x="6135624"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66" name="Rectangle 65"/>
          <p:cNvSpPr/>
          <p:nvPr/>
        </p:nvSpPr>
        <p:spPr>
          <a:xfrm>
            <a:off x="6245352" y="5257800"/>
            <a:ext cx="1578864" cy="45720"/>
          </a:xfrm>
          <a:prstGeom prst="rect">
            <a:avLst/>
          </a:prstGeom>
          <a:solidFill>
            <a:srgbClr val="16A34A"/>
          </a:solidFill>
          <a:ln>
            <a:noFill/>
          </a:ln>
          <a:effectLst/>
        </p:spPr>
        <p:txBody>
          <a:bodyPr rtlCol="0" anchor="ctr"/>
          <a:lstStyle/>
          <a:p>
            <a:pPr algn="ctr"/>
          </a:p>
        </p:txBody>
      </p:sp>
      <p:sp>
        <p:nvSpPr>
          <p:cNvPr id="67" name="TextBox 66"/>
          <p:cNvSpPr txBox="1"/>
          <p:nvPr/>
        </p:nvSpPr>
        <p:spPr>
          <a:xfrm>
            <a:off x="6135624" y="5349240"/>
            <a:ext cx="1798320" cy="457200"/>
          </a:xfrm>
          <a:prstGeom prst="rect">
            <a:avLst/>
          </a:prstGeom>
          <a:noFill/>
        </p:spPr>
        <p:txBody>
          <a:bodyPr wrap="square" lIns="18288" tIns="0" rIns="18288" bIns="0" anchor="ctr">
            <a:noAutofit/>
          </a:bodyPr>
          <a:lstStyle/>
          <a:p>
            <a:pPr algn="ctr"/>
            <a:r>
              <a:rPr sz="2000" b="1" i="0">
                <a:solidFill>
                  <a:srgbClr val="16A34A"/>
                </a:solidFill>
                <a:latin typeface="Aptos"/>
              </a:rPr>
              <a:t>100%</a:t>
            </a:r>
          </a:p>
        </p:txBody>
      </p:sp>
      <p:sp>
        <p:nvSpPr>
          <p:cNvPr id="68" name="TextBox 67"/>
          <p:cNvSpPr txBox="1"/>
          <p:nvPr/>
        </p:nvSpPr>
        <p:spPr>
          <a:xfrm>
            <a:off x="6181344"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department accuracy with rules on the gold set (model alone 75%)</a:t>
            </a:r>
          </a:p>
        </p:txBody>
      </p:sp>
      <p:sp>
        <p:nvSpPr>
          <p:cNvPr id="69" name="Rounded Rectangle 68"/>
          <p:cNvSpPr/>
          <p:nvPr/>
        </p:nvSpPr>
        <p:spPr>
          <a:xfrm>
            <a:off x="8043672"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0" name="Rectangle 69"/>
          <p:cNvSpPr/>
          <p:nvPr/>
        </p:nvSpPr>
        <p:spPr>
          <a:xfrm>
            <a:off x="8153399" y="5257800"/>
            <a:ext cx="1578864" cy="45720"/>
          </a:xfrm>
          <a:prstGeom prst="rect">
            <a:avLst/>
          </a:prstGeom>
          <a:solidFill>
            <a:srgbClr val="7E22CE"/>
          </a:solidFill>
          <a:ln>
            <a:noFill/>
          </a:ln>
          <a:effectLst/>
        </p:spPr>
        <p:txBody>
          <a:bodyPr rtlCol="0" anchor="ctr"/>
          <a:lstStyle/>
          <a:p>
            <a:pPr algn="ctr"/>
          </a:p>
        </p:txBody>
      </p:sp>
      <p:sp>
        <p:nvSpPr>
          <p:cNvPr id="71" name="TextBox 70"/>
          <p:cNvSpPr txBox="1"/>
          <p:nvPr/>
        </p:nvSpPr>
        <p:spPr>
          <a:xfrm>
            <a:off x="8043672" y="5349240"/>
            <a:ext cx="1798320" cy="457200"/>
          </a:xfrm>
          <a:prstGeom prst="rect">
            <a:avLst/>
          </a:prstGeom>
          <a:noFill/>
        </p:spPr>
        <p:txBody>
          <a:bodyPr wrap="square" lIns="18288" tIns="0" rIns="18288" bIns="0" anchor="ctr">
            <a:noAutofit/>
          </a:bodyPr>
          <a:lstStyle/>
          <a:p>
            <a:pPr algn="ctr"/>
            <a:r>
              <a:rPr sz="2000" b="1" i="0">
                <a:solidFill>
                  <a:srgbClr val="7E22CE"/>
                </a:solidFill>
                <a:latin typeface="Aptos"/>
              </a:rPr>
              <a:t>92%</a:t>
            </a:r>
          </a:p>
        </p:txBody>
      </p:sp>
      <p:sp>
        <p:nvSpPr>
          <p:cNvPr id="72" name="TextBox 71"/>
          <p:cNvSpPr txBox="1"/>
          <p:nvPr/>
        </p:nvSpPr>
        <p:spPr>
          <a:xfrm>
            <a:off x="8089392"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language identification across Tamil, Hindi, English and mixes</a:t>
            </a:r>
          </a:p>
        </p:txBody>
      </p:sp>
      <p:sp>
        <p:nvSpPr>
          <p:cNvPr id="73" name="Rounded Rectangle 72"/>
          <p:cNvSpPr/>
          <p:nvPr/>
        </p:nvSpPr>
        <p:spPr>
          <a:xfrm>
            <a:off x="9951720" y="5257800"/>
            <a:ext cx="1798320" cy="1097280"/>
          </a:xfrm>
          <a:prstGeom prst="roundRect">
            <a:avLst>
              <a:gd name="adj" fmla="val 8333"/>
            </a:avLst>
          </a:prstGeom>
          <a:solidFill>
            <a:srgbClr val="FFFFFF"/>
          </a:solidFill>
          <a:ln w="9525">
            <a:solidFill>
              <a:srgbClr val="E2E8F0"/>
            </a:solidFill>
          </a:ln>
          <a:effectLst/>
        </p:spPr>
        <p:txBody>
          <a:bodyPr rtlCol="0" anchor="ctr"/>
          <a:lstStyle/>
          <a:p>
            <a:pPr algn="ctr"/>
          </a:p>
        </p:txBody>
      </p:sp>
      <p:sp>
        <p:nvSpPr>
          <p:cNvPr id="74" name="Rectangle 73"/>
          <p:cNvSpPr/>
          <p:nvPr/>
        </p:nvSpPr>
        <p:spPr>
          <a:xfrm>
            <a:off x="10061447" y="5257800"/>
            <a:ext cx="1578864" cy="45720"/>
          </a:xfrm>
          <a:prstGeom prst="rect">
            <a:avLst/>
          </a:prstGeom>
          <a:solidFill>
            <a:srgbClr val="DC2626"/>
          </a:solidFill>
          <a:ln>
            <a:noFill/>
          </a:ln>
          <a:effectLst/>
        </p:spPr>
        <p:txBody>
          <a:bodyPr rtlCol="0" anchor="ctr"/>
          <a:lstStyle/>
          <a:p>
            <a:pPr algn="ctr"/>
          </a:p>
        </p:txBody>
      </p:sp>
      <p:sp>
        <p:nvSpPr>
          <p:cNvPr id="75" name="TextBox 74"/>
          <p:cNvSpPr txBox="1"/>
          <p:nvPr/>
        </p:nvSpPr>
        <p:spPr>
          <a:xfrm>
            <a:off x="9951720" y="5349240"/>
            <a:ext cx="1798320" cy="457200"/>
          </a:xfrm>
          <a:prstGeom prst="rect">
            <a:avLst/>
          </a:prstGeom>
          <a:noFill/>
        </p:spPr>
        <p:txBody>
          <a:bodyPr wrap="square" lIns="18288" tIns="0" rIns="18288" bIns="0" anchor="ctr">
            <a:noAutofit/>
          </a:bodyPr>
          <a:lstStyle/>
          <a:p>
            <a:pPr algn="ctr"/>
            <a:r>
              <a:rPr sz="2000" b="1" i="0">
                <a:solidFill>
                  <a:srgbClr val="DC2626"/>
                </a:solidFill>
                <a:latin typeface="Aptos"/>
              </a:rPr>
              <a:t>0</a:t>
            </a:r>
          </a:p>
        </p:txBody>
      </p:sp>
      <p:sp>
        <p:nvSpPr>
          <p:cNvPr id="76" name="TextBox 75"/>
          <p:cNvSpPr txBox="1"/>
          <p:nvPr/>
        </p:nvSpPr>
        <p:spPr>
          <a:xfrm>
            <a:off x="9997440" y="5806440"/>
            <a:ext cx="1706880" cy="502919"/>
          </a:xfrm>
          <a:prstGeom prst="rect">
            <a:avLst/>
          </a:prstGeom>
          <a:noFill/>
        </p:spPr>
        <p:txBody>
          <a:bodyPr wrap="square" lIns="18288" tIns="0" rIns="18288" bIns="0" anchor="t">
            <a:noAutofit/>
          </a:bodyPr>
          <a:lstStyle/>
          <a:p>
            <a:pPr algn="ctr"/>
            <a:r>
              <a:rPr sz="850" b="0" i="0">
                <a:solidFill>
                  <a:srgbClr val="140C12"/>
                </a:solidFill>
                <a:latin typeface="Aptos"/>
              </a:rPr>
              <a:t>complaints ever auto-closed; every decision carries a reason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Rounded Rectangle 6"/>
          <p:cNvSpPr/>
          <p:nvPr/>
        </p:nvSpPr>
        <p:spPr>
          <a:xfrm>
            <a:off x="411480" y="1371600"/>
            <a:ext cx="11338560" cy="566928"/>
          </a:xfrm>
          <a:prstGeom prst="roundRect">
            <a:avLst>
              <a:gd name="adj" fmla="val 16129"/>
            </a:avLst>
          </a:prstGeom>
          <a:solidFill>
            <a:srgbClr val="F4F8FC"/>
          </a:solidFill>
          <a:ln w="9525">
            <a:solidFill>
              <a:srgbClr val="BDD7EE"/>
            </a:solidFill>
          </a:ln>
          <a:effectLst/>
        </p:spPr>
        <p:txBody>
          <a:bodyPr rtlCol="0" anchor="ctr"/>
          <a:lstStyle/>
          <a:p>
            <a:pPr algn="ctr"/>
          </a:p>
        </p:txBody>
      </p:sp>
      <p:sp>
        <p:nvSpPr>
          <p:cNvPr id="8" name="Rounded Rectangle 7"/>
          <p:cNvSpPr/>
          <p:nvPr/>
        </p:nvSpPr>
        <p:spPr>
          <a:xfrm>
            <a:off x="411480" y="1371600"/>
            <a:ext cx="64008" cy="566928"/>
          </a:xfrm>
          <a:prstGeom prst="roundRect">
            <a:avLst>
              <a:gd name="adj" fmla="val 42857"/>
            </a:avLst>
          </a:prstGeom>
          <a:solidFill>
            <a:srgbClr val="0070C0"/>
          </a:solidFill>
          <a:ln>
            <a:noFill/>
          </a:ln>
          <a:effectLst/>
        </p:spPr>
        <p:txBody>
          <a:bodyPr rtlCol="0" anchor="ctr"/>
          <a:lstStyle/>
          <a:p>
            <a:pPr algn="ctr"/>
          </a:p>
        </p:txBody>
      </p:sp>
      <p:sp>
        <p:nvSpPr>
          <p:cNvPr id="9" name="Oval 8"/>
          <p:cNvSpPr/>
          <p:nvPr/>
        </p:nvSpPr>
        <p:spPr>
          <a:xfrm>
            <a:off x="603504" y="1463040"/>
            <a:ext cx="384048" cy="384048"/>
          </a:xfrm>
          <a:prstGeom prst="ellipse">
            <a:avLst/>
          </a:prstGeom>
          <a:solidFill>
            <a:srgbClr val="0070C0"/>
          </a:solidFill>
          <a:ln>
            <a:noFill/>
          </a:ln>
          <a:effectLst/>
        </p:spPr>
        <p:txBody>
          <a:bodyPr rtlCol="0" anchor="ctr"/>
          <a:lstStyle/>
          <a:p>
            <a:pPr algn="ctr"/>
          </a:p>
        </p:txBody>
      </p:sp>
      <p:pic>
        <p:nvPicPr>
          <p:cNvPr id="10" name="Picture 9" descr="image3.png"/>
          <p:cNvPicPr>
            <a:picLocks noChangeAspect="1"/>
          </p:cNvPicPr>
          <p:nvPr/>
        </p:nvPicPr>
        <p:blipFill>
          <a:blip r:embed="rId2"/>
          <a:stretch>
            <a:fillRect/>
          </a:stretch>
        </p:blipFill>
        <p:spPr>
          <a:xfrm>
            <a:off x="723519" y="1559052"/>
            <a:ext cx="144018" cy="192024"/>
          </a:xfrm>
          <a:prstGeom prst="rect">
            <a:avLst/>
          </a:prstGeom>
        </p:spPr>
      </p:pic>
      <p:sp>
        <p:nvSpPr>
          <p:cNvPr id="11" name="TextBox 10"/>
          <p:cNvSpPr txBox="1"/>
          <p:nvPr/>
        </p:nvSpPr>
        <p:spPr>
          <a:xfrm>
            <a:off x="1097280" y="1371600"/>
            <a:ext cx="10561320" cy="566928"/>
          </a:xfrm>
          <a:prstGeom prst="rect">
            <a:avLst/>
          </a:prstGeom>
          <a:noFill/>
        </p:spPr>
        <p:txBody>
          <a:bodyPr wrap="square" lIns="36576" tIns="18288" rIns="54864" bIns="18288" anchor="ctr">
            <a:noAutofit/>
          </a:bodyPr>
          <a:lstStyle/>
          <a:p>
            <a:pPr algn="l"/>
            <a:r>
              <a:rPr sz="1150" b="1" i="0">
                <a:solidFill>
                  <a:srgbClr val="1F497D"/>
                </a:solidFill>
                <a:latin typeface="Aptos"/>
              </a:rPr>
              <a:t>Vindex</a:t>
            </a:r>
            <a:r>
              <a:rPr sz="1150" b="0" i="0">
                <a:solidFill>
                  <a:srgbClr val="140C12"/>
                </a:solidFill>
                <a:latin typeface="Aptos"/>
              </a:rPr>
              <a:t> is a local-AI triage layer for grievance portals: every complaint is </a:t>
            </a:r>
            <a:r>
              <a:rPr sz="1150" b="1" i="0">
                <a:solidFill>
                  <a:srgbClr val="0070C0"/>
                </a:solidFill>
                <a:latin typeface="Aptos"/>
              </a:rPr>
              <a:t>understood in its own language, routed with evidence and never closed without a human</a:t>
            </a:r>
            <a:r>
              <a:rPr sz="1150" b="0" i="0">
                <a:solidFill>
                  <a:srgbClr val="140C12"/>
                </a:solidFill>
                <a:latin typeface="Aptos"/>
              </a:rPr>
              <a:t>. Text, photo and GPS go in; department, urgency, office, due time and a status email come out.</a:t>
            </a:r>
          </a:p>
        </p:txBody>
      </p:sp>
      <p:graphicFrame>
        <p:nvGraphicFramePr>
          <p:cNvPr id="12" name="Table 11"/>
          <p:cNvGraphicFramePr>
            <a:graphicFrameLocks noGrp="1"/>
          </p:cNvGraphicFramePr>
          <p:nvPr/>
        </p:nvGraphicFramePr>
        <p:xfrm>
          <a:off x="411480" y="2075688"/>
          <a:ext cx="7498080" cy="3090672"/>
        </p:xfrm>
        <a:graphic>
          <a:graphicData uri="http://schemas.openxmlformats.org/drawingml/2006/table">
            <a:tbl>
              <a:tblPr firstRow="0" bandRow="0">
                <a:tableStyleId>{5C22544A-7EE6-4342-B048-85BDC9FD1C3A}</a:tableStyleId>
              </a:tblPr>
              <a:tblGrid>
                <a:gridCol w="1554480"/>
                <a:gridCol w="3611880"/>
                <a:gridCol w="2331720"/>
              </a:tblGrid>
              <a:tr h="347472">
                <a:tc>
                  <a:txBody>
                    <a:bodyPr wrap="square"/>
                    <a:lstStyle/>
                    <a:p>
                      <a:pPr algn="l"/>
                      <a:r>
                        <a:rPr sz="900" b="1" i="0">
                          <a:solidFill>
                            <a:srgbClr val="FFFFFF"/>
                          </a:solidFill>
                          <a:latin typeface="Aptos"/>
                        </a:rPr>
                        <a:t>Core feature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What it does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c>
                  <a:txBody>
                    <a:bodyPr wrap="square"/>
                    <a:lstStyle/>
                    <a:p>
                      <a:pPr algn="l"/>
                      <a:r>
                        <a:rPr sz="900" b="1" i="0">
                          <a:solidFill>
                            <a:srgbClr val="FFFFFF"/>
                          </a:solidFill>
                          <a:latin typeface="Aptos"/>
                        </a:rPr>
                        <a:t>How it addresses the problem</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0070C0"/>
                    </a:solidFill>
                  </a:tcPr>
                </a:tc>
              </a:tr>
              <a:tr h="457200">
                <a:tc>
                  <a:txBody>
                    <a:bodyPr wrap="square"/>
                    <a:lstStyle/>
                    <a:p>
                      <a:pPr algn="l"/>
                      <a:r>
                        <a:rPr sz="900" b="1" i="0">
                          <a:solidFill>
                            <a:srgbClr val="1F497D"/>
                          </a:solidFill>
                          <a:latin typeface="Aptos"/>
                        </a:rPr>
                        <a:t>Multilingual intake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Text in Tamil, Hindi, English or a mix, with photo, in-app camera and GPS or a typed address; original text never altered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Language and format barriers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Local AI analysis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Gemma 3 4B on our own GPU returns language, department, urgency, entities and quoted evidence in one call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Urgency buried in long text; no cloud</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Rules + second opinion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YAML rules override the model; a NumPy classifier votes; any disagreement goes to a human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Misrouting, model blind spots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District-office routing</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38 districts, 760 offices with SLA; due time scaled by urgency; duplicates linked via pgvector</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Wrong team, duplicates, delays</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r h="457200">
                <a:tc>
                  <a:txBody>
                    <a:bodyPr wrap="square"/>
                    <a:lstStyle/>
                    <a:p>
                      <a:pPr algn="l"/>
                      <a:r>
                        <a:rPr sz="900" b="1" i="0">
                          <a:solidFill>
                            <a:srgbClr val="1F497D"/>
                          </a:solidFill>
                          <a:latin typeface="Aptos"/>
                        </a:rPr>
                        <a:t>Human review queue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District admin reviews Critical, low-confidence, disagreeing or duplicate cases; reason mandatory; no auto-close</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c>
                  <a:txBody>
                    <a:bodyPr wrap="square"/>
                    <a:lstStyle/>
                    <a:p>
                      <a:pPr algn="l"/>
                      <a:r>
                        <a:rPr sz="900" b="0" i="0">
                          <a:solidFill>
                            <a:srgbClr val="140C12"/>
                          </a:solidFill>
                          <a:latin typeface="Aptos"/>
                        </a:rPr>
                        <a:t>Over-automation, unfair rejection</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FFFFF"/>
                    </a:solidFill>
                  </a:tcPr>
                </a:tc>
              </a:tr>
              <a:tr h="457200">
                <a:tc>
                  <a:txBody>
                    <a:bodyPr wrap="square"/>
                    <a:lstStyle/>
                    <a:p>
                      <a:pPr algn="l"/>
                      <a:r>
                        <a:rPr sz="900" b="1" i="0">
                          <a:solidFill>
                            <a:srgbClr val="1F497D"/>
                          </a:solidFill>
                          <a:latin typeface="Aptos"/>
                        </a:rPr>
                        <a:t>Tracking, reply + email</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Tracking ID at once; status emails to citizen, department and district; citizen replies with photo or video</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c>
                  <a:txBody>
                    <a:bodyPr wrap="square"/>
                    <a:lstStyle/>
                    <a:p>
                      <a:pPr algn="l"/>
                      <a:r>
                        <a:rPr sz="900" b="0" i="0">
                          <a:solidFill>
                            <a:srgbClr val="140C12"/>
                          </a:solidFill>
                          <a:latin typeface="Aptos"/>
                        </a:rPr>
                        <a:t>Complainant left in the dark</a:t>
                      </a:r>
                    </a:p>
                  </a:txBody>
                  <a:tcPr marL="64008" marR="64008" marT="27432" marB="27432" anchor="ctr">
                    <a:lnL w="6350">
                      <a:solidFill>
                        <a:srgbClr val="BDD7EE"/>
                      </a:solidFill>
                    </a:lnL>
                    <a:lnR w="6350">
                      <a:solidFill>
                        <a:srgbClr val="BDD7EE"/>
                      </a:solidFill>
                    </a:lnR>
                    <a:lnT w="6350">
                      <a:solidFill>
                        <a:srgbClr val="BDD7EE"/>
                      </a:solidFill>
                    </a:lnT>
                    <a:lnB w="6350">
                      <a:solidFill>
                        <a:srgbClr val="BDD7EE"/>
                      </a:solidFill>
                    </a:lnB>
                    <a:solidFill>
                      <a:srgbClr val="F4F8FC"/>
                    </a:solidFill>
                  </a:tcPr>
                </a:tc>
              </a:tr>
            </a:tbl>
          </a:graphicData>
        </a:graphic>
      </p:graphicFrame>
      <p:sp>
        <p:nvSpPr>
          <p:cNvPr id="13" name="Rounded Rectangle 12"/>
          <p:cNvSpPr/>
          <p:nvPr/>
        </p:nvSpPr>
        <p:spPr>
          <a:xfrm>
            <a:off x="8092440" y="2075688"/>
            <a:ext cx="3657600" cy="274320"/>
          </a:xfrm>
          <a:prstGeom prst="roundRect">
            <a:avLst>
              <a:gd name="adj" fmla="val 20000"/>
            </a:avLst>
          </a:prstGeom>
          <a:solidFill>
            <a:srgbClr val="1E3A8A"/>
          </a:solidFill>
          <a:ln>
            <a:noFill/>
          </a:ln>
          <a:effectLst/>
        </p:spPr>
        <p:txBody>
          <a:bodyPr rtlCol="0" anchor="ctr"/>
          <a:lstStyle/>
          <a:p>
            <a:pPr algn="ctr"/>
          </a:p>
        </p:txBody>
      </p:sp>
      <p:sp>
        <p:nvSpPr>
          <p:cNvPr id="14" name="TextBox 13"/>
          <p:cNvSpPr txBox="1"/>
          <p:nvPr/>
        </p:nvSpPr>
        <p:spPr>
          <a:xfrm>
            <a:off x="8202167" y="2075688"/>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TARGET USERS / STAKEHOLDERS</a:t>
            </a:r>
          </a:p>
        </p:txBody>
      </p:sp>
      <p:sp>
        <p:nvSpPr>
          <p:cNvPr id="15" name="Rounded Rectangle 14"/>
          <p:cNvSpPr/>
          <p:nvPr/>
        </p:nvSpPr>
        <p:spPr>
          <a:xfrm>
            <a:off x="8092440" y="2377440"/>
            <a:ext cx="3657600" cy="1325880"/>
          </a:xfrm>
          <a:prstGeom prst="roundRect">
            <a:avLst>
              <a:gd name="adj" fmla="val 5517"/>
            </a:avLst>
          </a:prstGeom>
          <a:solidFill>
            <a:srgbClr val="FFFFFF"/>
          </a:solidFill>
          <a:ln w="9525">
            <a:solidFill>
              <a:srgbClr val="E2E8F0"/>
            </a:solidFill>
          </a:ln>
          <a:effectLst/>
        </p:spPr>
        <p:txBody>
          <a:bodyPr rtlCol="0" anchor="ctr"/>
          <a:lstStyle/>
          <a:p>
            <a:pPr algn="ctr"/>
          </a:p>
        </p:txBody>
      </p:sp>
      <p:pic>
        <p:nvPicPr>
          <p:cNvPr id="16" name="Picture 15" descr="image38.png"/>
          <p:cNvPicPr>
            <a:picLocks noChangeAspect="1"/>
          </p:cNvPicPr>
          <p:nvPr/>
        </p:nvPicPr>
        <p:blipFill>
          <a:blip r:embed="rId3"/>
          <a:stretch>
            <a:fillRect/>
          </a:stretch>
        </p:blipFill>
        <p:spPr>
          <a:xfrm>
            <a:off x="8183879" y="2459736"/>
            <a:ext cx="182880" cy="182880"/>
          </a:xfrm>
          <a:prstGeom prst="rect">
            <a:avLst/>
          </a:prstGeom>
        </p:spPr>
      </p:pic>
      <p:sp>
        <p:nvSpPr>
          <p:cNvPr id="17" name="TextBox 16"/>
          <p:cNvSpPr txBox="1"/>
          <p:nvPr/>
        </p:nvSpPr>
        <p:spPr>
          <a:xfrm>
            <a:off x="8412480" y="2432304"/>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Citizens</a:t>
            </a:r>
            <a:r>
              <a:rPr sz="850" b="0" i="0">
                <a:solidFill>
                  <a:srgbClr val="140C12"/>
                </a:solidFill>
                <a:latin typeface="Aptos"/>
              </a:rPr>
              <a:t> - any language, phone-first, track and reply</a:t>
            </a:r>
          </a:p>
        </p:txBody>
      </p:sp>
      <p:pic>
        <p:nvPicPr>
          <p:cNvPr id="18" name="Picture 17" descr="image12.png"/>
          <p:cNvPicPr>
            <a:picLocks noChangeAspect="1"/>
          </p:cNvPicPr>
          <p:nvPr/>
        </p:nvPicPr>
        <p:blipFill>
          <a:blip r:embed="rId4"/>
          <a:stretch>
            <a:fillRect/>
          </a:stretch>
        </p:blipFill>
        <p:spPr>
          <a:xfrm>
            <a:off x="8195309" y="2706624"/>
            <a:ext cx="160020" cy="182880"/>
          </a:xfrm>
          <a:prstGeom prst="rect">
            <a:avLst/>
          </a:prstGeom>
        </p:spPr>
      </p:pic>
      <p:sp>
        <p:nvSpPr>
          <p:cNvPr id="19" name="TextBox 18"/>
          <p:cNvSpPr txBox="1"/>
          <p:nvPr/>
        </p:nvSpPr>
        <p:spPr>
          <a:xfrm>
            <a:off x="8412480" y="2679192"/>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Department admins</a:t>
            </a:r>
            <a:r>
              <a:rPr sz="850" b="0" i="0">
                <a:solidFill>
                  <a:srgbClr val="140C12"/>
                </a:solidFill>
                <a:latin typeface="Aptos"/>
              </a:rPr>
              <a:t> - only their department's cases, with due times</a:t>
            </a:r>
          </a:p>
        </p:txBody>
      </p:sp>
      <p:pic>
        <p:nvPicPr>
          <p:cNvPr id="20" name="Picture 19" descr="image36.png"/>
          <p:cNvPicPr>
            <a:picLocks noChangeAspect="1"/>
          </p:cNvPicPr>
          <p:nvPr/>
        </p:nvPicPr>
        <p:blipFill>
          <a:blip r:embed="rId5"/>
          <a:stretch>
            <a:fillRect/>
          </a:stretch>
        </p:blipFill>
        <p:spPr>
          <a:xfrm>
            <a:off x="8183879" y="2953512"/>
            <a:ext cx="182880" cy="182880"/>
          </a:xfrm>
          <a:prstGeom prst="rect">
            <a:avLst/>
          </a:prstGeom>
        </p:spPr>
      </p:pic>
      <p:sp>
        <p:nvSpPr>
          <p:cNvPr id="21" name="TextBox 20"/>
          <p:cNvSpPr txBox="1"/>
          <p:nvPr/>
        </p:nvSpPr>
        <p:spPr>
          <a:xfrm>
            <a:off x="8412480" y="2926080"/>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District admins</a:t>
            </a:r>
            <a:r>
              <a:rPr sz="850" b="0" i="0">
                <a:solidFill>
                  <a:srgbClr val="140C12"/>
                </a:solidFill>
                <a:latin typeface="Aptos"/>
              </a:rPr>
              <a:t> - review queue, add department admins</a:t>
            </a:r>
          </a:p>
        </p:txBody>
      </p:sp>
      <p:pic>
        <p:nvPicPr>
          <p:cNvPr id="22" name="Picture 21" descr="image15.png"/>
          <p:cNvPicPr>
            <a:picLocks noChangeAspect="1"/>
          </p:cNvPicPr>
          <p:nvPr/>
        </p:nvPicPr>
        <p:blipFill>
          <a:blip r:embed="rId6"/>
          <a:stretch>
            <a:fillRect/>
          </a:stretch>
        </p:blipFill>
        <p:spPr>
          <a:xfrm>
            <a:off x="8183879" y="3218616"/>
            <a:ext cx="182880" cy="146446"/>
          </a:xfrm>
          <a:prstGeom prst="rect">
            <a:avLst/>
          </a:prstGeom>
        </p:spPr>
      </p:pic>
      <p:sp>
        <p:nvSpPr>
          <p:cNvPr id="23" name="TextBox 22"/>
          <p:cNvSpPr txBox="1"/>
          <p:nvPr/>
        </p:nvSpPr>
        <p:spPr>
          <a:xfrm>
            <a:off x="8412480" y="3172968"/>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Super admin</a:t>
            </a:r>
            <a:r>
              <a:rPr sz="850" b="0" i="0">
                <a:solidFill>
                  <a:srgbClr val="140C12"/>
                </a:solidFill>
                <a:latin typeface="Aptos"/>
              </a:rPr>
              <a:t> - all districts, rules, metrics, staff</a:t>
            </a:r>
          </a:p>
        </p:txBody>
      </p:sp>
      <p:pic>
        <p:nvPicPr>
          <p:cNvPr id="24" name="Picture 23" descr="image39.png"/>
          <p:cNvPicPr>
            <a:picLocks noChangeAspect="1"/>
          </p:cNvPicPr>
          <p:nvPr/>
        </p:nvPicPr>
        <p:blipFill>
          <a:blip r:embed="rId7"/>
          <a:stretch>
            <a:fillRect/>
          </a:stretch>
        </p:blipFill>
        <p:spPr>
          <a:xfrm>
            <a:off x="8183879" y="3447288"/>
            <a:ext cx="182880" cy="182880"/>
          </a:xfrm>
          <a:prstGeom prst="rect">
            <a:avLst/>
          </a:prstGeom>
        </p:spPr>
      </p:pic>
      <p:sp>
        <p:nvSpPr>
          <p:cNvPr id="25" name="TextBox 24"/>
          <p:cNvSpPr txBox="1"/>
          <p:nvPr/>
        </p:nvSpPr>
        <p:spPr>
          <a:xfrm>
            <a:off x="8412480" y="3419856"/>
            <a:ext cx="3291840" cy="246888"/>
          </a:xfrm>
          <a:prstGeom prst="rect">
            <a:avLst/>
          </a:prstGeom>
          <a:noFill/>
        </p:spPr>
        <p:txBody>
          <a:bodyPr wrap="square" lIns="18288" tIns="0" rIns="18288" bIns="0" anchor="ctr">
            <a:noAutofit/>
          </a:bodyPr>
          <a:lstStyle/>
          <a:p>
            <a:pPr algn="l"/>
            <a:r>
              <a:rPr sz="850" b="1" i="0">
                <a:solidFill>
                  <a:srgbClr val="1E3A8A"/>
                </a:solidFill>
                <a:latin typeface="Aptos"/>
              </a:rPr>
              <a:t>Auditors</a:t>
            </a:r>
            <a:r>
              <a:rPr sz="850" b="0" i="0">
                <a:solidFill>
                  <a:srgbClr val="140C12"/>
                </a:solidFill>
                <a:latin typeface="Aptos"/>
              </a:rPr>
              <a:t> - every decision and override with a reason</a:t>
            </a:r>
          </a:p>
        </p:txBody>
      </p:sp>
      <p:sp>
        <p:nvSpPr>
          <p:cNvPr id="26" name="Rounded Rectangle 25"/>
          <p:cNvSpPr/>
          <p:nvPr/>
        </p:nvSpPr>
        <p:spPr>
          <a:xfrm>
            <a:off x="8092440" y="3840480"/>
            <a:ext cx="3657600" cy="274320"/>
          </a:xfrm>
          <a:prstGeom prst="roundRect">
            <a:avLst>
              <a:gd name="adj" fmla="val 20000"/>
            </a:avLst>
          </a:prstGeom>
          <a:solidFill>
            <a:srgbClr val="0284C7"/>
          </a:solidFill>
          <a:ln>
            <a:noFill/>
          </a:ln>
          <a:effectLst/>
        </p:spPr>
        <p:txBody>
          <a:bodyPr rtlCol="0" anchor="ctr"/>
          <a:lstStyle/>
          <a:p>
            <a:pPr algn="ctr"/>
          </a:p>
        </p:txBody>
      </p:sp>
      <p:sp>
        <p:nvSpPr>
          <p:cNvPr id="27" name="TextBox 26"/>
          <p:cNvSpPr txBox="1"/>
          <p:nvPr/>
        </p:nvSpPr>
        <p:spPr>
          <a:xfrm>
            <a:off x="8202167" y="3840480"/>
            <a:ext cx="3456432" cy="274320"/>
          </a:xfrm>
          <a:prstGeom prst="rect">
            <a:avLst/>
          </a:prstGeom>
          <a:noFill/>
        </p:spPr>
        <p:txBody>
          <a:bodyPr wrap="square" lIns="18288" tIns="0" rIns="18288" bIns="0" anchor="ctr">
            <a:noAutofit/>
          </a:bodyPr>
          <a:lstStyle/>
          <a:p>
            <a:pPr algn="l"/>
            <a:r>
              <a:rPr sz="900" b="1" i="0">
                <a:solidFill>
                  <a:srgbClr val="FFFFFF"/>
                </a:solidFill>
                <a:latin typeface="Aptos"/>
              </a:rPr>
              <a:t>WHAT IS DIFFERENT</a:t>
            </a:r>
          </a:p>
        </p:txBody>
      </p:sp>
      <p:sp>
        <p:nvSpPr>
          <p:cNvPr id="28" name="Rounded Rectangle 27"/>
          <p:cNvSpPr/>
          <p:nvPr/>
        </p:nvSpPr>
        <p:spPr>
          <a:xfrm>
            <a:off x="8092440" y="4142232"/>
            <a:ext cx="3657600" cy="1024128"/>
          </a:xfrm>
          <a:prstGeom prst="roundRect">
            <a:avLst>
              <a:gd name="adj" fmla="val 7142"/>
            </a:avLst>
          </a:prstGeom>
          <a:solidFill>
            <a:srgbClr val="FFFFFF"/>
          </a:solidFill>
          <a:ln w="9525">
            <a:solidFill>
              <a:srgbClr val="E2E8F0"/>
            </a:solidFill>
          </a:ln>
          <a:effectLst/>
        </p:spPr>
        <p:txBody>
          <a:bodyPr rtlCol="0" anchor="ctr"/>
          <a:lstStyle/>
          <a:p>
            <a:pPr algn="ctr"/>
          </a:p>
        </p:txBody>
      </p:sp>
      <p:sp>
        <p:nvSpPr>
          <p:cNvPr id="29" name="TextBox 28"/>
          <p:cNvSpPr txBox="1"/>
          <p:nvPr/>
        </p:nvSpPr>
        <p:spPr>
          <a:xfrm>
            <a:off x="8183879" y="4178808"/>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All inference local: </a:t>
            </a:r>
            <a:r>
              <a:rPr sz="850" b="0" i="0">
                <a:solidFill>
                  <a:srgbClr val="140C12"/>
                </a:solidFill>
                <a:latin typeface="Aptos"/>
              </a:rPr>
              <a:t>privacy and zero per-request cost</a:t>
            </a:r>
          </a:p>
        </p:txBody>
      </p:sp>
      <p:sp>
        <p:nvSpPr>
          <p:cNvPr id="30" name="TextBox 29"/>
          <p:cNvSpPr txBox="1"/>
          <p:nvPr/>
        </p:nvSpPr>
        <p:spPr>
          <a:xfrm>
            <a:off x="8183879" y="4416552"/>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Explainable by construction: </a:t>
            </a:r>
            <a:r>
              <a:rPr sz="850" b="0" i="0">
                <a:solidFill>
                  <a:srgbClr val="140C12"/>
                </a:solidFill>
                <a:latin typeface="Aptos"/>
              </a:rPr>
              <a:t>evidence spans, rules, second opinion</a:t>
            </a:r>
          </a:p>
        </p:txBody>
      </p:sp>
      <p:sp>
        <p:nvSpPr>
          <p:cNvPr id="31" name="TextBox 30"/>
          <p:cNvSpPr txBox="1"/>
          <p:nvPr/>
        </p:nvSpPr>
        <p:spPr>
          <a:xfrm>
            <a:off x="8183879" y="4654296"/>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Never auto-closes: </a:t>
            </a:r>
            <a:r>
              <a:rPr sz="850" b="0" i="0">
                <a:solidFill>
                  <a:srgbClr val="140C12"/>
                </a:solidFill>
                <a:latin typeface="Aptos"/>
              </a:rPr>
              <a:t>a human decides every uncertain case</a:t>
            </a:r>
          </a:p>
        </p:txBody>
      </p:sp>
      <p:sp>
        <p:nvSpPr>
          <p:cNvPr id="32" name="TextBox 31"/>
          <p:cNvSpPr txBox="1"/>
          <p:nvPr/>
        </p:nvSpPr>
        <p:spPr>
          <a:xfrm>
            <a:off x="8183879" y="4892040"/>
            <a:ext cx="3520440" cy="237744"/>
          </a:xfrm>
          <a:prstGeom prst="rect">
            <a:avLst/>
          </a:prstGeom>
          <a:noFill/>
        </p:spPr>
        <p:txBody>
          <a:bodyPr wrap="square" lIns="18288" tIns="0" rIns="18288" bIns="0" anchor="ctr">
            <a:noAutofit/>
          </a:bodyPr>
          <a:lstStyle/>
          <a:p>
            <a:pPr algn="l"/>
            <a:r>
              <a:rPr sz="850" b="1" i="0">
                <a:solidFill>
                  <a:srgbClr val="16A34A"/>
                </a:solidFill>
                <a:latin typeface="Aptos"/>
              </a:rPr>
              <a:t>✓  </a:t>
            </a:r>
            <a:r>
              <a:rPr sz="850" b="1" i="0">
                <a:solidFill>
                  <a:srgbClr val="1E3A8A"/>
                </a:solidFill>
                <a:latin typeface="Aptos"/>
              </a:rPr>
              <a:t>Fairness measured, </a:t>
            </a:r>
            <a:r>
              <a:rPr sz="850" b="0" i="0">
                <a:solidFill>
                  <a:srgbClr val="140C12"/>
                </a:solidFill>
                <a:latin typeface="Aptos"/>
              </a:rPr>
              <a:t>not assumed: accuracy per language</a:t>
            </a:r>
          </a:p>
        </p:txBody>
      </p:sp>
      <p:sp>
        <p:nvSpPr>
          <p:cNvPr id="33" name="Rounded Rectangle 32"/>
          <p:cNvSpPr/>
          <p:nvPr/>
        </p:nvSpPr>
        <p:spPr>
          <a:xfrm>
            <a:off x="411480" y="5303520"/>
            <a:ext cx="11338560" cy="1051560"/>
          </a:xfrm>
          <a:prstGeom prst="roundRect">
            <a:avLst>
              <a:gd name="adj" fmla="val 10434"/>
            </a:avLst>
          </a:prstGeom>
          <a:solidFill>
            <a:srgbClr val="FFFFFF"/>
          </a:solidFill>
          <a:ln w="12700">
            <a:solidFill>
              <a:srgbClr val="1F497D"/>
            </a:solidFill>
          </a:ln>
          <a:effectLst/>
        </p:spPr>
        <p:txBody>
          <a:bodyPr rtlCol="0" anchor="ctr"/>
          <a:lstStyle/>
          <a:p>
            <a:pPr algn="ctr"/>
          </a:p>
        </p:txBody>
      </p:sp>
      <p:sp>
        <p:nvSpPr>
          <p:cNvPr id="34" name="TextBox 33"/>
          <p:cNvSpPr txBox="1"/>
          <p:nvPr/>
        </p:nvSpPr>
        <p:spPr>
          <a:xfrm>
            <a:off x="54864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Languages</a:t>
            </a:r>
          </a:p>
        </p:txBody>
      </p:sp>
      <p:sp>
        <p:nvSpPr>
          <p:cNvPr id="35" name="Rounded Rectangle 34"/>
          <p:cNvSpPr/>
          <p:nvPr/>
        </p:nvSpPr>
        <p:spPr>
          <a:xfrm>
            <a:off x="1417319" y="5440679"/>
            <a:ext cx="502920" cy="256032"/>
          </a:xfrm>
          <a:prstGeom prst="roundRect">
            <a:avLst>
              <a:gd name="adj" fmla="val 50000"/>
            </a:avLst>
          </a:prstGeom>
          <a:solidFill>
            <a:srgbClr val="2563EB"/>
          </a:solidFill>
          <a:ln>
            <a:noFill/>
          </a:ln>
          <a:effectLst/>
        </p:spPr>
        <p:txBody>
          <a:bodyPr rtlCol="0" anchor="ctr"/>
          <a:lstStyle/>
          <a:p>
            <a:pPr algn="ctr"/>
          </a:p>
        </p:txBody>
      </p:sp>
      <p:sp>
        <p:nvSpPr>
          <p:cNvPr id="36" name="TextBox 35"/>
          <p:cNvSpPr txBox="1"/>
          <p:nvPr/>
        </p:nvSpPr>
        <p:spPr>
          <a:xfrm>
            <a:off x="1417319"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Tamil</a:t>
            </a:r>
          </a:p>
        </p:txBody>
      </p:sp>
      <p:sp>
        <p:nvSpPr>
          <p:cNvPr id="37" name="Rounded Rectangle 36"/>
          <p:cNvSpPr/>
          <p:nvPr/>
        </p:nvSpPr>
        <p:spPr>
          <a:xfrm>
            <a:off x="1993391" y="5440679"/>
            <a:ext cx="502920" cy="256032"/>
          </a:xfrm>
          <a:prstGeom prst="roundRect">
            <a:avLst>
              <a:gd name="adj" fmla="val 50000"/>
            </a:avLst>
          </a:prstGeom>
          <a:solidFill>
            <a:srgbClr val="7E22CE"/>
          </a:solidFill>
          <a:ln>
            <a:noFill/>
          </a:ln>
          <a:effectLst/>
        </p:spPr>
        <p:txBody>
          <a:bodyPr rtlCol="0" anchor="ctr"/>
          <a:lstStyle/>
          <a:p>
            <a:pPr algn="ctr"/>
          </a:p>
        </p:txBody>
      </p:sp>
      <p:sp>
        <p:nvSpPr>
          <p:cNvPr id="38" name="TextBox 37"/>
          <p:cNvSpPr txBox="1"/>
          <p:nvPr/>
        </p:nvSpPr>
        <p:spPr>
          <a:xfrm>
            <a:off x="1993391" y="5440679"/>
            <a:ext cx="502920" cy="256032"/>
          </a:xfrm>
          <a:prstGeom prst="rect">
            <a:avLst/>
          </a:prstGeom>
          <a:noFill/>
        </p:spPr>
        <p:txBody>
          <a:bodyPr wrap="square" lIns="18288" tIns="0" rIns="18288" bIns="0" anchor="ctr">
            <a:noAutofit/>
          </a:bodyPr>
          <a:lstStyle/>
          <a:p>
            <a:pPr algn="ctr"/>
            <a:r>
              <a:rPr sz="800" b="1" i="0">
                <a:solidFill>
                  <a:srgbClr val="FFFFFF"/>
                </a:solidFill>
                <a:latin typeface="Aptos"/>
              </a:rPr>
              <a:t>Hindi</a:t>
            </a:r>
          </a:p>
        </p:txBody>
      </p:sp>
      <p:sp>
        <p:nvSpPr>
          <p:cNvPr id="39" name="Rounded Rectangle 38"/>
          <p:cNvSpPr/>
          <p:nvPr/>
        </p:nvSpPr>
        <p:spPr>
          <a:xfrm>
            <a:off x="2569463" y="5440679"/>
            <a:ext cx="612648" cy="256032"/>
          </a:xfrm>
          <a:prstGeom prst="roundRect">
            <a:avLst>
              <a:gd name="adj" fmla="val 50000"/>
            </a:avLst>
          </a:prstGeom>
          <a:solidFill>
            <a:srgbClr val="0D9488"/>
          </a:solidFill>
          <a:ln>
            <a:noFill/>
          </a:ln>
          <a:effectLst/>
        </p:spPr>
        <p:txBody>
          <a:bodyPr rtlCol="0" anchor="ctr"/>
          <a:lstStyle/>
          <a:p>
            <a:pPr algn="ctr"/>
          </a:p>
        </p:txBody>
      </p:sp>
      <p:sp>
        <p:nvSpPr>
          <p:cNvPr id="40" name="TextBox 39"/>
          <p:cNvSpPr txBox="1"/>
          <p:nvPr/>
        </p:nvSpPr>
        <p:spPr>
          <a:xfrm>
            <a:off x="2569463"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English</a:t>
            </a:r>
          </a:p>
        </p:txBody>
      </p:sp>
      <p:sp>
        <p:nvSpPr>
          <p:cNvPr id="41" name="Rounded Rectangle 40"/>
          <p:cNvSpPr/>
          <p:nvPr/>
        </p:nvSpPr>
        <p:spPr>
          <a:xfrm>
            <a:off x="3255263" y="5440679"/>
            <a:ext cx="1088136" cy="256032"/>
          </a:xfrm>
          <a:prstGeom prst="roundRect">
            <a:avLst>
              <a:gd name="adj" fmla="val 50000"/>
            </a:avLst>
          </a:prstGeom>
          <a:solidFill>
            <a:srgbClr val="C55A11"/>
          </a:solidFill>
          <a:ln>
            <a:noFill/>
          </a:ln>
          <a:effectLst/>
        </p:spPr>
        <p:txBody>
          <a:bodyPr rtlCol="0" anchor="ctr"/>
          <a:lstStyle/>
          <a:p>
            <a:pPr algn="ctr"/>
          </a:p>
        </p:txBody>
      </p:sp>
      <p:sp>
        <p:nvSpPr>
          <p:cNvPr id="42" name="TextBox 41"/>
          <p:cNvSpPr txBox="1"/>
          <p:nvPr/>
        </p:nvSpPr>
        <p:spPr>
          <a:xfrm>
            <a:off x="3255263"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Tanglish (ta+en)</a:t>
            </a:r>
          </a:p>
        </p:txBody>
      </p:sp>
      <p:sp>
        <p:nvSpPr>
          <p:cNvPr id="43" name="Rounded Rectangle 42"/>
          <p:cNvSpPr/>
          <p:nvPr/>
        </p:nvSpPr>
        <p:spPr>
          <a:xfrm>
            <a:off x="4416552" y="5440679"/>
            <a:ext cx="1088136" cy="256032"/>
          </a:xfrm>
          <a:prstGeom prst="roundRect">
            <a:avLst>
              <a:gd name="adj" fmla="val 50000"/>
            </a:avLst>
          </a:prstGeom>
          <a:solidFill>
            <a:srgbClr val="16A34A"/>
          </a:solidFill>
          <a:ln>
            <a:noFill/>
          </a:ln>
          <a:effectLst/>
        </p:spPr>
        <p:txBody>
          <a:bodyPr rtlCol="0" anchor="ctr"/>
          <a:lstStyle/>
          <a:p>
            <a:pPr algn="ctr"/>
          </a:p>
        </p:txBody>
      </p:sp>
      <p:sp>
        <p:nvSpPr>
          <p:cNvPr id="44" name="TextBox 43"/>
          <p:cNvSpPr txBox="1"/>
          <p:nvPr/>
        </p:nvSpPr>
        <p:spPr>
          <a:xfrm>
            <a:off x="4416552" y="5440679"/>
            <a:ext cx="1088136" cy="256032"/>
          </a:xfrm>
          <a:prstGeom prst="rect">
            <a:avLst/>
          </a:prstGeom>
          <a:noFill/>
        </p:spPr>
        <p:txBody>
          <a:bodyPr wrap="square" lIns="18288" tIns="0" rIns="18288" bIns="0" anchor="ctr">
            <a:noAutofit/>
          </a:bodyPr>
          <a:lstStyle/>
          <a:p>
            <a:pPr algn="ctr"/>
            <a:r>
              <a:rPr sz="800" b="1" i="0">
                <a:solidFill>
                  <a:srgbClr val="FFFFFF"/>
                </a:solidFill>
                <a:latin typeface="Aptos"/>
              </a:rPr>
              <a:t>Hinglish (hi+en)</a:t>
            </a:r>
          </a:p>
        </p:txBody>
      </p:sp>
      <p:sp>
        <p:nvSpPr>
          <p:cNvPr id="45" name="TextBox 44"/>
          <p:cNvSpPr txBox="1"/>
          <p:nvPr/>
        </p:nvSpPr>
        <p:spPr>
          <a:xfrm>
            <a:off x="6126480" y="5422392"/>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Outputs</a:t>
            </a:r>
          </a:p>
        </p:txBody>
      </p:sp>
      <p:sp>
        <p:nvSpPr>
          <p:cNvPr id="46" name="Rounded Rectangle 45"/>
          <p:cNvSpPr/>
          <p:nvPr/>
        </p:nvSpPr>
        <p:spPr>
          <a:xfrm>
            <a:off x="6995160" y="5440679"/>
            <a:ext cx="768096" cy="256032"/>
          </a:xfrm>
          <a:prstGeom prst="roundRect">
            <a:avLst>
              <a:gd name="adj" fmla="val 50000"/>
            </a:avLst>
          </a:prstGeom>
          <a:solidFill>
            <a:srgbClr val="1F497D"/>
          </a:solidFill>
          <a:ln>
            <a:noFill/>
          </a:ln>
          <a:effectLst/>
        </p:spPr>
        <p:txBody>
          <a:bodyPr rtlCol="0" anchor="ctr"/>
          <a:lstStyle/>
          <a:p>
            <a:pPr algn="ctr"/>
          </a:p>
        </p:txBody>
      </p:sp>
      <p:sp>
        <p:nvSpPr>
          <p:cNvPr id="47" name="TextBox 46"/>
          <p:cNvSpPr txBox="1"/>
          <p:nvPr/>
        </p:nvSpPr>
        <p:spPr>
          <a:xfrm>
            <a:off x="6995160" y="5440679"/>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Department</a:t>
            </a:r>
          </a:p>
        </p:txBody>
      </p:sp>
      <p:sp>
        <p:nvSpPr>
          <p:cNvPr id="48" name="Rounded Rectangle 47"/>
          <p:cNvSpPr/>
          <p:nvPr/>
        </p:nvSpPr>
        <p:spPr>
          <a:xfrm>
            <a:off x="7836408" y="5440679"/>
            <a:ext cx="612648" cy="256032"/>
          </a:xfrm>
          <a:prstGeom prst="roundRect">
            <a:avLst>
              <a:gd name="adj" fmla="val 50000"/>
            </a:avLst>
          </a:prstGeom>
          <a:solidFill>
            <a:srgbClr val="1F497D"/>
          </a:solidFill>
          <a:ln>
            <a:noFill/>
          </a:ln>
          <a:effectLst/>
        </p:spPr>
        <p:txBody>
          <a:bodyPr rtlCol="0" anchor="ctr"/>
          <a:lstStyle/>
          <a:p>
            <a:pPr algn="ctr"/>
          </a:p>
        </p:txBody>
      </p:sp>
      <p:sp>
        <p:nvSpPr>
          <p:cNvPr id="49" name="TextBox 48"/>
          <p:cNvSpPr txBox="1"/>
          <p:nvPr/>
        </p:nvSpPr>
        <p:spPr>
          <a:xfrm>
            <a:off x="7836408" y="5440679"/>
            <a:ext cx="612648" cy="256032"/>
          </a:xfrm>
          <a:prstGeom prst="rect">
            <a:avLst/>
          </a:prstGeom>
          <a:noFill/>
        </p:spPr>
        <p:txBody>
          <a:bodyPr wrap="square" lIns="18288" tIns="0" rIns="18288" bIns="0" anchor="ctr">
            <a:noAutofit/>
          </a:bodyPr>
          <a:lstStyle/>
          <a:p>
            <a:pPr algn="ctr"/>
            <a:r>
              <a:rPr sz="800" b="1" i="0">
                <a:solidFill>
                  <a:srgbClr val="FFFFFF"/>
                </a:solidFill>
                <a:latin typeface="Aptos"/>
              </a:rPr>
              <a:t>Urgency</a:t>
            </a:r>
          </a:p>
        </p:txBody>
      </p:sp>
      <p:sp>
        <p:nvSpPr>
          <p:cNvPr id="50" name="Rounded Rectangle 49"/>
          <p:cNvSpPr/>
          <p:nvPr/>
        </p:nvSpPr>
        <p:spPr>
          <a:xfrm>
            <a:off x="8522208" y="5440679"/>
            <a:ext cx="987552" cy="256032"/>
          </a:xfrm>
          <a:prstGeom prst="roundRect">
            <a:avLst>
              <a:gd name="adj" fmla="val 50000"/>
            </a:avLst>
          </a:prstGeom>
          <a:solidFill>
            <a:srgbClr val="1F497D"/>
          </a:solidFill>
          <a:ln>
            <a:noFill/>
          </a:ln>
          <a:effectLst/>
        </p:spPr>
        <p:txBody>
          <a:bodyPr rtlCol="0" anchor="ctr"/>
          <a:lstStyle/>
          <a:p>
            <a:pPr algn="ctr"/>
          </a:p>
        </p:txBody>
      </p:sp>
      <p:sp>
        <p:nvSpPr>
          <p:cNvPr id="51" name="TextBox 50"/>
          <p:cNvSpPr txBox="1"/>
          <p:nvPr/>
        </p:nvSpPr>
        <p:spPr>
          <a:xfrm>
            <a:off x="8522208" y="5440679"/>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Evidence spans</a:t>
            </a:r>
          </a:p>
        </p:txBody>
      </p:sp>
      <p:sp>
        <p:nvSpPr>
          <p:cNvPr id="52" name="Rounded Rectangle 51"/>
          <p:cNvSpPr/>
          <p:nvPr/>
        </p:nvSpPr>
        <p:spPr>
          <a:xfrm>
            <a:off x="9582912" y="5440679"/>
            <a:ext cx="1362456" cy="256032"/>
          </a:xfrm>
          <a:prstGeom prst="roundRect">
            <a:avLst>
              <a:gd name="adj" fmla="val 50000"/>
            </a:avLst>
          </a:prstGeom>
          <a:solidFill>
            <a:srgbClr val="1F497D"/>
          </a:solidFill>
          <a:ln>
            <a:noFill/>
          </a:ln>
          <a:effectLst/>
        </p:spPr>
        <p:txBody>
          <a:bodyPr rtlCol="0" anchor="ctr"/>
          <a:lstStyle/>
          <a:p>
            <a:pPr algn="ctr"/>
          </a:p>
        </p:txBody>
      </p:sp>
      <p:sp>
        <p:nvSpPr>
          <p:cNvPr id="53" name="TextBox 52"/>
          <p:cNvSpPr txBox="1"/>
          <p:nvPr/>
        </p:nvSpPr>
        <p:spPr>
          <a:xfrm>
            <a:off x="9582912" y="5440679"/>
            <a:ext cx="1362456" cy="256032"/>
          </a:xfrm>
          <a:prstGeom prst="rect">
            <a:avLst/>
          </a:prstGeom>
          <a:noFill/>
        </p:spPr>
        <p:txBody>
          <a:bodyPr wrap="square" lIns="18288" tIns="0" rIns="18288" bIns="0" anchor="ctr">
            <a:noAutofit/>
          </a:bodyPr>
          <a:lstStyle/>
          <a:p>
            <a:pPr algn="ctr"/>
            <a:r>
              <a:rPr sz="800" b="1" i="0">
                <a:solidFill>
                  <a:srgbClr val="FFFFFF"/>
                </a:solidFill>
                <a:latin typeface="Aptos"/>
              </a:rPr>
              <a:t>Office + SLA due time</a:t>
            </a:r>
          </a:p>
        </p:txBody>
      </p:sp>
      <p:sp>
        <p:nvSpPr>
          <p:cNvPr id="54" name="Rounded Rectangle 53"/>
          <p:cNvSpPr/>
          <p:nvPr/>
        </p:nvSpPr>
        <p:spPr>
          <a:xfrm>
            <a:off x="11018520" y="5440679"/>
            <a:ext cx="877824" cy="256032"/>
          </a:xfrm>
          <a:prstGeom prst="roundRect">
            <a:avLst>
              <a:gd name="adj" fmla="val 50000"/>
            </a:avLst>
          </a:prstGeom>
          <a:solidFill>
            <a:srgbClr val="1F497D"/>
          </a:solidFill>
          <a:ln>
            <a:noFill/>
          </a:ln>
          <a:effectLst/>
        </p:spPr>
        <p:txBody>
          <a:bodyPr rtlCol="0" anchor="ctr"/>
          <a:lstStyle/>
          <a:p>
            <a:pPr algn="ctr"/>
          </a:p>
        </p:txBody>
      </p:sp>
      <p:sp>
        <p:nvSpPr>
          <p:cNvPr id="55" name="TextBox 54"/>
          <p:cNvSpPr txBox="1"/>
          <p:nvPr/>
        </p:nvSpPr>
        <p:spPr>
          <a:xfrm>
            <a:off x="11018520" y="5440679"/>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Status email</a:t>
            </a:r>
          </a:p>
        </p:txBody>
      </p:sp>
      <p:sp>
        <p:nvSpPr>
          <p:cNvPr id="56" name="TextBox 55"/>
          <p:cNvSpPr txBox="1"/>
          <p:nvPr/>
        </p:nvSpPr>
        <p:spPr>
          <a:xfrm>
            <a:off x="54864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Inputs</a:t>
            </a:r>
          </a:p>
        </p:txBody>
      </p:sp>
      <p:sp>
        <p:nvSpPr>
          <p:cNvPr id="57" name="Rounded Rectangle 56"/>
          <p:cNvSpPr/>
          <p:nvPr/>
        </p:nvSpPr>
        <p:spPr>
          <a:xfrm>
            <a:off x="1417319" y="5916168"/>
            <a:ext cx="722376" cy="256032"/>
          </a:xfrm>
          <a:prstGeom prst="roundRect">
            <a:avLst>
              <a:gd name="adj" fmla="val 50000"/>
            </a:avLst>
          </a:prstGeom>
          <a:solidFill>
            <a:srgbClr val="0284C7"/>
          </a:solidFill>
          <a:ln>
            <a:noFill/>
          </a:ln>
          <a:effectLst/>
        </p:spPr>
        <p:txBody>
          <a:bodyPr rtlCol="0" anchor="ctr"/>
          <a:lstStyle/>
          <a:p>
            <a:pPr algn="ctr"/>
          </a:p>
        </p:txBody>
      </p:sp>
      <p:sp>
        <p:nvSpPr>
          <p:cNvPr id="58" name="TextBox 57"/>
          <p:cNvSpPr txBox="1"/>
          <p:nvPr/>
        </p:nvSpPr>
        <p:spPr>
          <a:xfrm>
            <a:off x="1417319" y="5916168"/>
            <a:ext cx="722376" cy="256032"/>
          </a:xfrm>
          <a:prstGeom prst="rect">
            <a:avLst/>
          </a:prstGeom>
          <a:noFill/>
        </p:spPr>
        <p:txBody>
          <a:bodyPr wrap="square" lIns="18288" tIns="0" rIns="18288" bIns="0" anchor="ctr">
            <a:noAutofit/>
          </a:bodyPr>
          <a:lstStyle/>
          <a:p>
            <a:pPr algn="ctr"/>
            <a:r>
              <a:rPr sz="800" b="1" i="0">
                <a:solidFill>
                  <a:srgbClr val="FFFFFF"/>
                </a:solidFill>
                <a:latin typeface="Aptos"/>
              </a:rPr>
              <a:t>Free text</a:t>
            </a:r>
          </a:p>
        </p:txBody>
      </p:sp>
      <p:sp>
        <p:nvSpPr>
          <p:cNvPr id="59" name="Rounded Rectangle 58"/>
          <p:cNvSpPr/>
          <p:nvPr/>
        </p:nvSpPr>
        <p:spPr>
          <a:xfrm>
            <a:off x="2212848"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0" name="TextBox 59"/>
          <p:cNvSpPr txBox="1"/>
          <p:nvPr/>
        </p:nvSpPr>
        <p:spPr>
          <a:xfrm>
            <a:off x="2212848"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Photo upload</a:t>
            </a:r>
          </a:p>
        </p:txBody>
      </p:sp>
      <p:sp>
        <p:nvSpPr>
          <p:cNvPr id="61" name="Rounded Rectangle 60"/>
          <p:cNvSpPr/>
          <p:nvPr/>
        </p:nvSpPr>
        <p:spPr>
          <a:xfrm>
            <a:off x="3163824" y="5916168"/>
            <a:ext cx="932688" cy="256032"/>
          </a:xfrm>
          <a:prstGeom prst="roundRect">
            <a:avLst>
              <a:gd name="adj" fmla="val 50000"/>
            </a:avLst>
          </a:prstGeom>
          <a:solidFill>
            <a:srgbClr val="0284C7"/>
          </a:solidFill>
          <a:ln>
            <a:noFill/>
          </a:ln>
          <a:effectLst/>
        </p:spPr>
        <p:txBody>
          <a:bodyPr rtlCol="0" anchor="ctr"/>
          <a:lstStyle/>
          <a:p>
            <a:pPr algn="ctr"/>
          </a:p>
        </p:txBody>
      </p:sp>
      <p:sp>
        <p:nvSpPr>
          <p:cNvPr id="62" name="TextBox 61"/>
          <p:cNvSpPr txBox="1"/>
          <p:nvPr/>
        </p:nvSpPr>
        <p:spPr>
          <a:xfrm>
            <a:off x="3163824" y="5916168"/>
            <a:ext cx="932688" cy="256032"/>
          </a:xfrm>
          <a:prstGeom prst="rect">
            <a:avLst/>
          </a:prstGeom>
          <a:noFill/>
        </p:spPr>
        <p:txBody>
          <a:bodyPr wrap="square" lIns="18288" tIns="0" rIns="18288" bIns="0" anchor="ctr">
            <a:noAutofit/>
          </a:bodyPr>
          <a:lstStyle/>
          <a:p>
            <a:pPr algn="ctr"/>
            <a:r>
              <a:rPr sz="800" b="1" i="0">
                <a:solidFill>
                  <a:srgbClr val="FFFFFF"/>
                </a:solidFill>
                <a:latin typeface="Aptos"/>
              </a:rPr>
              <a:t>In-app camera</a:t>
            </a:r>
          </a:p>
        </p:txBody>
      </p:sp>
      <p:sp>
        <p:nvSpPr>
          <p:cNvPr id="63" name="Rounded Rectangle 62"/>
          <p:cNvSpPr/>
          <p:nvPr/>
        </p:nvSpPr>
        <p:spPr>
          <a:xfrm>
            <a:off x="4169664" y="5916168"/>
            <a:ext cx="877824" cy="256032"/>
          </a:xfrm>
          <a:prstGeom prst="roundRect">
            <a:avLst>
              <a:gd name="adj" fmla="val 50000"/>
            </a:avLst>
          </a:prstGeom>
          <a:solidFill>
            <a:srgbClr val="0284C7"/>
          </a:solidFill>
          <a:ln>
            <a:noFill/>
          </a:ln>
          <a:effectLst/>
        </p:spPr>
        <p:txBody>
          <a:bodyPr rtlCol="0" anchor="ctr"/>
          <a:lstStyle/>
          <a:p>
            <a:pPr algn="ctr"/>
          </a:p>
        </p:txBody>
      </p:sp>
      <p:sp>
        <p:nvSpPr>
          <p:cNvPr id="64" name="TextBox 63"/>
          <p:cNvSpPr txBox="1"/>
          <p:nvPr/>
        </p:nvSpPr>
        <p:spPr>
          <a:xfrm>
            <a:off x="4169664"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GPS location</a:t>
            </a:r>
          </a:p>
        </p:txBody>
      </p:sp>
      <p:sp>
        <p:nvSpPr>
          <p:cNvPr id="65" name="Rounded Rectangle 64"/>
          <p:cNvSpPr/>
          <p:nvPr/>
        </p:nvSpPr>
        <p:spPr>
          <a:xfrm>
            <a:off x="5120640" y="5916168"/>
            <a:ext cx="987552" cy="256032"/>
          </a:xfrm>
          <a:prstGeom prst="roundRect">
            <a:avLst>
              <a:gd name="adj" fmla="val 50000"/>
            </a:avLst>
          </a:prstGeom>
          <a:solidFill>
            <a:srgbClr val="0284C7"/>
          </a:solidFill>
          <a:ln>
            <a:noFill/>
          </a:ln>
          <a:effectLst/>
        </p:spPr>
        <p:txBody>
          <a:bodyPr rtlCol="0" anchor="ctr"/>
          <a:lstStyle/>
          <a:p>
            <a:pPr algn="ctr"/>
          </a:p>
        </p:txBody>
      </p:sp>
      <p:sp>
        <p:nvSpPr>
          <p:cNvPr id="66" name="TextBox 65"/>
          <p:cNvSpPr txBox="1"/>
          <p:nvPr/>
        </p:nvSpPr>
        <p:spPr>
          <a:xfrm>
            <a:off x="5120640"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Manual address</a:t>
            </a:r>
          </a:p>
        </p:txBody>
      </p:sp>
      <p:sp>
        <p:nvSpPr>
          <p:cNvPr id="67" name="TextBox 66"/>
          <p:cNvSpPr txBox="1"/>
          <p:nvPr/>
        </p:nvSpPr>
        <p:spPr>
          <a:xfrm>
            <a:off x="6126480" y="5897880"/>
            <a:ext cx="914400" cy="292608"/>
          </a:xfrm>
          <a:prstGeom prst="rect">
            <a:avLst/>
          </a:prstGeom>
          <a:noFill/>
        </p:spPr>
        <p:txBody>
          <a:bodyPr wrap="square" lIns="18288" tIns="0" rIns="18288" bIns="0" anchor="ctr">
            <a:noAutofit/>
          </a:bodyPr>
          <a:lstStyle/>
          <a:p>
            <a:pPr algn="l"/>
            <a:r>
              <a:rPr sz="950" b="1" i="0">
                <a:solidFill>
                  <a:srgbClr val="1F497D"/>
                </a:solidFill>
                <a:latin typeface="Aptos"/>
              </a:rPr>
              <a:t>Guarantees</a:t>
            </a:r>
          </a:p>
        </p:txBody>
      </p:sp>
      <p:sp>
        <p:nvSpPr>
          <p:cNvPr id="68" name="Rounded Rectangle 67"/>
          <p:cNvSpPr/>
          <p:nvPr/>
        </p:nvSpPr>
        <p:spPr>
          <a:xfrm>
            <a:off x="6995160" y="5916168"/>
            <a:ext cx="1143000" cy="256032"/>
          </a:xfrm>
          <a:prstGeom prst="roundRect">
            <a:avLst>
              <a:gd name="adj" fmla="val 50000"/>
            </a:avLst>
          </a:prstGeom>
          <a:solidFill>
            <a:srgbClr val="00796B"/>
          </a:solidFill>
          <a:ln>
            <a:noFill/>
          </a:ln>
          <a:effectLst/>
        </p:spPr>
        <p:txBody>
          <a:bodyPr rtlCol="0" anchor="ctr"/>
          <a:lstStyle/>
          <a:p>
            <a:pPr algn="ctr"/>
          </a:p>
        </p:txBody>
      </p:sp>
      <p:sp>
        <p:nvSpPr>
          <p:cNvPr id="69" name="TextBox 68"/>
          <p:cNvSpPr txBox="1"/>
          <p:nvPr/>
        </p:nvSpPr>
        <p:spPr>
          <a:xfrm>
            <a:off x="6995160" y="5916168"/>
            <a:ext cx="1143000" cy="256032"/>
          </a:xfrm>
          <a:prstGeom prst="rect">
            <a:avLst/>
          </a:prstGeom>
          <a:noFill/>
        </p:spPr>
        <p:txBody>
          <a:bodyPr wrap="square" lIns="18288" tIns="0" rIns="18288" bIns="0" anchor="ctr">
            <a:noAutofit/>
          </a:bodyPr>
          <a:lstStyle/>
          <a:p>
            <a:pPr algn="ctr"/>
            <a:r>
              <a:rPr sz="800" b="1" i="0">
                <a:solidFill>
                  <a:srgbClr val="FFFFFF"/>
                </a:solidFill>
                <a:latin typeface="Aptos"/>
              </a:rPr>
              <a:t>Tracking ID &lt; 1 s</a:t>
            </a:r>
          </a:p>
        </p:txBody>
      </p:sp>
      <p:sp>
        <p:nvSpPr>
          <p:cNvPr id="70" name="Rounded Rectangle 69"/>
          <p:cNvSpPr/>
          <p:nvPr/>
        </p:nvSpPr>
        <p:spPr>
          <a:xfrm>
            <a:off x="8211312" y="5916168"/>
            <a:ext cx="877824" cy="256032"/>
          </a:xfrm>
          <a:prstGeom prst="roundRect">
            <a:avLst>
              <a:gd name="adj" fmla="val 50000"/>
            </a:avLst>
          </a:prstGeom>
          <a:solidFill>
            <a:srgbClr val="00796B"/>
          </a:solidFill>
          <a:ln>
            <a:noFill/>
          </a:ln>
          <a:effectLst/>
        </p:spPr>
        <p:txBody>
          <a:bodyPr rtlCol="0" anchor="ctr"/>
          <a:lstStyle/>
          <a:p>
            <a:pPr algn="ctr"/>
          </a:p>
        </p:txBody>
      </p:sp>
      <p:sp>
        <p:nvSpPr>
          <p:cNvPr id="71" name="TextBox 70"/>
          <p:cNvSpPr txBox="1"/>
          <p:nvPr/>
        </p:nvSpPr>
        <p:spPr>
          <a:xfrm>
            <a:off x="8211312" y="5916168"/>
            <a:ext cx="877824" cy="256032"/>
          </a:xfrm>
          <a:prstGeom prst="rect">
            <a:avLst/>
          </a:prstGeom>
          <a:noFill/>
        </p:spPr>
        <p:txBody>
          <a:bodyPr wrap="square" lIns="18288" tIns="0" rIns="18288" bIns="0" anchor="ctr">
            <a:noAutofit/>
          </a:bodyPr>
          <a:lstStyle/>
          <a:p>
            <a:pPr algn="ctr"/>
            <a:r>
              <a:rPr sz="800" b="1" i="0">
                <a:solidFill>
                  <a:srgbClr val="FFFFFF"/>
                </a:solidFill>
                <a:latin typeface="Aptos"/>
              </a:rPr>
              <a:t>Human review</a:t>
            </a:r>
          </a:p>
        </p:txBody>
      </p:sp>
      <p:sp>
        <p:nvSpPr>
          <p:cNvPr id="72" name="Rounded Rectangle 71"/>
          <p:cNvSpPr/>
          <p:nvPr/>
        </p:nvSpPr>
        <p:spPr>
          <a:xfrm>
            <a:off x="9162288" y="5916168"/>
            <a:ext cx="987552" cy="256032"/>
          </a:xfrm>
          <a:prstGeom prst="roundRect">
            <a:avLst>
              <a:gd name="adj" fmla="val 50000"/>
            </a:avLst>
          </a:prstGeom>
          <a:solidFill>
            <a:srgbClr val="00796B"/>
          </a:solidFill>
          <a:ln>
            <a:noFill/>
          </a:ln>
          <a:effectLst/>
        </p:spPr>
        <p:txBody>
          <a:bodyPr rtlCol="0" anchor="ctr"/>
          <a:lstStyle/>
          <a:p>
            <a:pPr algn="ctr"/>
          </a:p>
        </p:txBody>
      </p:sp>
      <p:sp>
        <p:nvSpPr>
          <p:cNvPr id="73" name="TextBox 72"/>
          <p:cNvSpPr txBox="1"/>
          <p:nvPr/>
        </p:nvSpPr>
        <p:spPr>
          <a:xfrm>
            <a:off x="9162288" y="5916168"/>
            <a:ext cx="987552" cy="256032"/>
          </a:xfrm>
          <a:prstGeom prst="rect">
            <a:avLst/>
          </a:prstGeom>
          <a:noFill/>
        </p:spPr>
        <p:txBody>
          <a:bodyPr wrap="square" lIns="18288" tIns="0" rIns="18288" bIns="0" anchor="ctr">
            <a:noAutofit/>
          </a:bodyPr>
          <a:lstStyle/>
          <a:p>
            <a:pPr algn="ctr"/>
            <a:r>
              <a:rPr sz="800" b="1" i="0">
                <a:solidFill>
                  <a:srgbClr val="FFFFFF"/>
                </a:solidFill>
                <a:latin typeface="Aptos"/>
              </a:rPr>
              <a:t>Reply + rating</a:t>
            </a:r>
          </a:p>
        </p:txBody>
      </p:sp>
      <p:sp>
        <p:nvSpPr>
          <p:cNvPr id="74" name="Rounded Rectangle 73"/>
          <p:cNvSpPr/>
          <p:nvPr/>
        </p:nvSpPr>
        <p:spPr>
          <a:xfrm>
            <a:off x="10222992" y="5916168"/>
            <a:ext cx="557784" cy="256032"/>
          </a:xfrm>
          <a:prstGeom prst="roundRect">
            <a:avLst>
              <a:gd name="adj" fmla="val 50000"/>
            </a:avLst>
          </a:prstGeom>
          <a:solidFill>
            <a:srgbClr val="00796B"/>
          </a:solidFill>
          <a:ln>
            <a:noFill/>
          </a:ln>
          <a:effectLst/>
        </p:spPr>
        <p:txBody>
          <a:bodyPr rtlCol="0" anchor="ctr"/>
          <a:lstStyle/>
          <a:p>
            <a:pPr algn="ctr"/>
          </a:p>
        </p:txBody>
      </p:sp>
      <p:sp>
        <p:nvSpPr>
          <p:cNvPr id="75" name="TextBox 74"/>
          <p:cNvSpPr txBox="1"/>
          <p:nvPr/>
        </p:nvSpPr>
        <p:spPr>
          <a:xfrm>
            <a:off x="10222992" y="5916168"/>
            <a:ext cx="557784" cy="256032"/>
          </a:xfrm>
          <a:prstGeom prst="rect">
            <a:avLst/>
          </a:prstGeom>
          <a:noFill/>
        </p:spPr>
        <p:txBody>
          <a:bodyPr wrap="square" lIns="18288" tIns="0" rIns="18288" bIns="0" anchor="ctr">
            <a:noAutofit/>
          </a:bodyPr>
          <a:lstStyle/>
          <a:p>
            <a:pPr algn="ctr"/>
            <a:r>
              <a:rPr sz="800" b="1" i="0">
                <a:solidFill>
                  <a:srgbClr val="FFFFFF"/>
                </a:solidFill>
                <a:latin typeface="Aptos"/>
              </a:rPr>
              <a:t>Me-too</a:t>
            </a:r>
          </a:p>
        </p:txBody>
      </p:sp>
      <p:sp>
        <p:nvSpPr>
          <p:cNvPr id="76" name="Rounded Rectangle 75"/>
          <p:cNvSpPr/>
          <p:nvPr/>
        </p:nvSpPr>
        <p:spPr>
          <a:xfrm>
            <a:off x="10853928" y="5916168"/>
            <a:ext cx="768096" cy="256032"/>
          </a:xfrm>
          <a:prstGeom prst="roundRect">
            <a:avLst>
              <a:gd name="adj" fmla="val 50000"/>
            </a:avLst>
          </a:prstGeom>
          <a:solidFill>
            <a:srgbClr val="00796B"/>
          </a:solidFill>
          <a:ln>
            <a:noFill/>
          </a:ln>
          <a:effectLst/>
        </p:spPr>
        <p:txBody>
          <a:bodyPr rtlCol="0" anchor="ctr"/>
          <a:lstStyle/>
          <a:p>
            <a:pPr algn="ctr"/>
          </a:p>
        </p:txBody>
      </p:sp>
      <p:sp>
        <p:nvSpPr>
          <p:cNvPr id="77" name="TextBox 76"/>
          <p:cNvSpPr txBox="1"/>
          <p:nvPr/>
        </p:nvSpPr>
        <p:spPr>
          <a:xfrm>
            <a:off x="10853928" y="5916168"/>
            <a:ext cx="768096" cy="256032"/>
          </a:xfrm>
          <a:prstGeom prst="rect">
            <a:avLst/>
          </a:prstGeom>
          <a:noFill/>
        </p:spPr>
        <p:txBody>
          <a:bodyPr wrap="square" lIns="18288" tIns="0" rIns="18288" bIns="0" anchor="ctr">
            <a:noAutofit/>
          </a:bodyPr>
          <a:lstStyle/>
          <a:p>
            <a:pPr algn="ctr"/>
            <a:r>
              <a:rPr sz="800" b="1" i="0">
                <a:solidFill>
                  <a:srgbClr val="FFFFFF"/>
                </a:solidFill>
                <a:latin typeface="Aptos"/>
              </a:rPr>
              <a:t>SLA alerts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END-TO-END WORKFLOW  ·  </a:t>
            </a:r>
            <a:r>
              <a:rPr sz="1050" b="1" i="0">
                <a:solidFill>
                  <a:srgbClr val="0070C0"/>
                </a:solidFill>
                <a:latin typeface="Aptos"/>
              </a:rPr>
              <a:t>text, photo and GPS in; a local model, rules and a second opinion decide; the right office or a human reviewer out; the citizen is emailed at every step</a:t>
            </a:r>
          </a:p>
        </p:txBody>
      </p:sp>
      <p:sp>
        <p:nvSpPr>
          <p:cNvPr id="8" name="Rounded Rectangle 7"/>
          <p:cNvSpPr/>
          <p:nvPr/>
        </p:nvSpPr>
        <p:spPr>
          <a:xfrm>
            <a:off x="411480" y="1719072"/>
            <a:ext cx="11338560" cy="3200400"/>
          </a:xfrm>
          <a:prstGeom prst="roundRect">
            <a:avLst>
              <a:gd name="adj" fmla="val 4000"/>
            </a:avLst>
          </a:prstGeom>
          <a:solidFill>
            <a:srgbClr val="FFFFFF"/>
          </a:solidFill>
          <a:ln w="12700">
            <a:solidFill>
              <a:srgbClr val="1F497D"/>
            </a:solidFill>
          </a:ln>
          <a:effectLst/>
        </p:spPr>
        <p:txBody>
          <a:bodyPr rtlCol="0" anchor="ctr"/>
          <a:lstStyle/>
          <a:p>
            <a:pPr algn="ctr"/>
          </a:p>
        </p:txBody>
      </p:sp>
      <p:sp>
        <p:nvSpPr>
          <p:cNvPr id="9" name="Rounded Rectangle 8"/>
          <p:cNvSpPr/>
          <p:nvPr/>
        </p:nvSpPr>
        <p:spPr>
          <a:xfrm>
            <a:off x="777240" y="1901952"/>
            <a:ext cx="2331720" cy="621792"/>
          </a:xfrm>
          <a:prstGeom prst="roundRect">
            <a:avLst>
              <a:gd name="adj" fmla="val 17647"/>
            </a:avLst>
          </a:prstGeom>
          <a:solidFill>
            <a:srgbClr val="1F497D"/>
          </a:solidFill>
          <a:ln w="12700">
            <a:solidFill>
              <a:srgbClr val="1F497D"/>
            </a:solidFill>
          </a:ln>
          <a:effectLst/>
        </p:spPr>
        <p:txBody>
          <a:bodyPr rtlCol="0" anchor="ctr"/>
          <a:lstStyle/>
          <a:p>
            <a:pPr algn="ctr"/>
          </a:p>
        </p:txBody>
      </p:sp>
      <p:sp>
        <p:nvSpPr>
          <p:cNvPr id="10" name="TextBox 9"/>
          <p:cNvSpPr txBox="1"/>
          <p:nvPr/>
        </p:nvSpPr>
        <p:spPr>
          <a:xfrm>
            <a:off x="777240" y="1901952"/>
            <a:ext cx="2331720" cy="621792"/>
          </a:xfrm>
          <a:prstGeom prst="rect">
            <a:avLst/>
          </a:prstGeom>
          <a:noFill/>
        </p:spPr>
        <p:txBody>
          <a:bodyPr wrap="square" lIns="45720" tIns="18288" rIns="45720" bIns="18288" anchor="ctr">
            <a:noAutofit/>
          </a:bodyPr>
          <a:lstStyle/>
          <a:p>
            <a:pPr algn="ctr"/>
            <a:r>
              <a:rPr sz="950" b="1" i="0">
                <a:solidFill>
                  <a:srgbClr val="FFFFFF"/>
                </a:solidFill>
                <a:latin typeface="Aptos"/>
              </a:rPr>
              <a:t>Start: citizen files a complaint (text, photo, GPS) from the Vindex app</a:t>
            </a:r>
          </a:p>
        </p:txBody>
      </p:sp>
      <p:sp>
        <p:nvSpPr>
          <p:cNvPr id="11" name="Rounded Rectangle 10"/>
          <p:cNvSpPr/>
          <p:nvPr/>
        </p:nvSpPr>
        <p:spPr>
          <a:xfrm>
            <a:off x="347472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2" name="TextBox 11"/>
          <p:cNvSpPr txBox="1"/>
          <p:nvPr/>
        </p:nvSpPr>
        <p:spPr>
          <a:xfrm>
            <a:off x="347472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Validate: verified account, file type and size, PII masked before the model</a:t>
            </a:r>
          </a:p>
        </p:txBody>
      </p:sp>
      <p:sp>
        <p:nvSpPr>
          <p:cNvPr id="13" name="Rounded Rectangle 12"/>
          <p:cNvSpPr/>
          <p:nvPr/>
        </p:nvSpPr>
        <p:spPr>
          <a:xfrm>
            <a:off x="6172200" y="1901952"/>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14" name="TextBox 13"/>
          <p:cNvSpPr txBox="1"/>
          <p:nvPr/>
        </p:nvSpPr>
        <p:spPr>
          <a:xfrm>
            <a:off x="617220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Local AI: Gemma 3 4B reads text + photo; language, department, urgency, evidence</a:t>
            </a:r>
          </a:p>
        </p:txBody>
      </p:sp>
      <p:sp>
        <p:nvSpPr>
          <p:cNvPr id="15" name="Rounded Rectangle 14"/>
          <p:cNvSpPr/>
          <p:nvPr/>
        </p:nvSpPr>
        <p:spPr>
          <a:xfrm>
            <a:off x="8869680" y="1901952"/>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16" name="TextBox 15"/>
          <p:cNvSpPr txBox="1"/>
          <p:nvPr/>
        </p:nvSpPr>
        <p:spPr>
          <a:xfrm>
            <a:off x="8869680" y="1901952"/>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Rules + second opinion cross-check; district office + SLA due time</a:t>
            </a:r>
          </a:p>
        </p:txBody>
      </p:sp>
      <p:cxnSp>
        <p:nvCxnSpPr>
          <p:cNvPr id="17" name="Connector 16"/>
          <p:cNvCxnSpPr/>
          <p:nvPr/>
        </p:nvCxnSpPr>
        <p:spPr>
          <a:xfrm>
            <a:off x="3136391" y="2212848"/>
            <a:ext cx="310897" cy="0"/>
          </a:xfrm>
          <a:prstGeom prst="line">
            <a:avLst/>
          </a:prstGeom>
          <a:ln w="15875">
            <a:solidFill>
              <a:srgbClr val="1F497D"/>
            </a:solidFill>
            <a:tailEnd type="triangle" w="med" len="med"/>
          </a:ln>
        </p:spPr>
      </p:cxnSp>
      <p:cxnSp>
        <p:nvCxnSpPr>
          <p:cNvPr id="18" name="Connector 17"/>
          <p:cNvCxnSpPr/>
          <p:nvPr/>
        </p:nvCxnSpPr>
        <p:spPr>
          <a:xfrm>
            <a:off x="5833872" y="2212848"/>
            <a:ext cx="310896" cy="0"/>
          </a:xfrm>
          <a:prstGeom prst="line">
            <a:avLst/>
          </a:prstGeom>
          <a:ln w="15875">
            <a:solidFill>
              <a:srgbClr val="1F497D"/>
            </a:solidFill>
            <a:tailEnd type="triangle" w="med" len="med"/>
          </a:ln>
        </p:spPr>
      </p:cxnSp>
      <p:cxnSp>
        <p:nvCxnSpPr>
          <p:cNvPr id="19" name="Connector 18"/>
          <p:cNvCxnSpPr/>
          <p:nvPr/>
        </p:nvCxnSpPr>
        <p:spPr>
          <a:xfrm>
            <a:off x="8531352" y="2212848"/>
            <a:ext cx="310896" cy="0"/>
          </a:xfrm>
          <a:prstGeom prst="line">
            <a:avLst/>
          </a:prstGeom>
          <a:ln w="15875">
            <a:solidFill>
              <a:srgbClr val="1F497D"/>
            </a:solidFill>
            <a:tailEnd type="triangle" w="med" len="med"/>
          </a:ln>
        </p:spPr>
      </p:cxnSp>
      <p:cxnSp>
        <p:nvCxnSpPr>
          <p:cNvPr id="20" name="Connector 19"/>
          <p:cNvCxnSpPr/>
          <p:nvPr/>
        </p:nvCxnSpPr>
        <p:spPr>
          <a:xfrm>
            <a:off x="10035540" y="2551176"/>
            <a:ext cx="0" cy="256032"/>
          </a:xfrm>
          <a:prstGeom prst="line">
            <a:avLst/>
          </a:prstGeom>
          <a:ln w="15875">
            <a:solidFill>
              <a:srgbClr val="1F497D"/>
            </a:solidFill>
            <a:tailEnd type="triangle" w="med" len="med"/>
          </a:ln>
        </p:spPr>
      </p:cxnSp>
      <p:sp>
        <p:nvSpPr>
          <p:cNvPr id="21" name="Rounded Rectangle 20"/>
          <p:cNvSpPr/>
          <p:nvPr/>
        </p:nvSpPr>
        <p:spPr>
          <a:xfrm>
            <a:off x="8869680" y="2834640"/>
            <a:ext cx="2331720" cy="621792"/>
          </a:xfrm>
          <a:prstGeom prst="roundRect">
            <a:avLst>
              <a:gd name="adj" fmla="val 17647"/>
            </a:avLst>
          </a:prstGeom>
          <a:solidFill>
            <a:srgbClr val="FFF2CC"/>
          </a:solidFill>
          <a:ln w="12700">
            <a:solidFill>
              <a:srgbClr val="C55A11"/>
            </a:solidFill>
          </a:ln>
          <a:effectLst/>
        </p:spPr>
        <p:txBody>
          <a:bodyPr rtlCol="0" anchor="ctr"/>
          <a:lstStyle/>
          <a:p>
            <a:pPr algn="ctr"/>
          </a:p>
        </p:txBody>
      </p:sp>
      <p:sp>
        <p:nvSpPr>
          <p:cNvPr id="22" name="TextBox 21"/>
          <p:cNvSpPr txBox="1"/>
          <p:nvPr/>
        </p:nvSpPr>
        <p:spPr>
          <a:xfrm>
            <a:off x="886968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Duplicate check via pgvector; evidence spans and second opinion saved</a:t>
            </a:r>
          </a:p>
        </p:txBody>
      </p:sp>
      <p:sp>
        <p:nvSpPr>
          <p:cNvPr id="23" name="Rounded Rectangle 22"/>
          <p:cNvSpPr/>
          <p:nvPr/>
        </p:nvSpPr>
        <p:spPr>
          <a:xfrm>
            <a:off x="6172200" y="2834640"/>
            <a:ext cx="2331720" cy="621792"/>
          </a:xfrm>
          <a:prstGeom prst="roundRect">
            <a:avLst>
              <a:gd name="adj" fmla="val 17647"/>
            </a:avLst>
          </a:prstGeom>
          <a:solidFill>
            <a:srgbClr val="EAF2FA"/>
          </a:solidFill>
          <a:ln w="12700">
            <a:solidFill>
              <a:srgbClr val="0070C0"/>
            </a:solidFill>
          </a:ln>
          <a:effectLst/>
        </p:spPr>
        <p:txBody>
          <a:bodyPr rtlCol="0" anchor="ctr"/>
          <a:lstStyle/>
          <a:p>
            <a:pPr algn="ctr"/>
          </a:p>
        </p:txBody>
      </p:sp>
      <p:sp>
        <p:nvSpPr>
          <p:cNvPr id="24" name="TextBox 23"/>
          <p:cNvSpPr txBox="1"/>
          <p:nvPr/>
        </p:nvSpPr>
        <p:spPr>
          <a:xfrm>
            <a:off x="617220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Stored with analysis + audit event; acknowledgement email sent</a:t>
            </a:r>
          </a:p>
        </p:txBody>
      </p:sp>
      <p:cxnSp>
        <p:nvCxnSpPr>
          <p:cNvPr id="25" name="Connector 24"/>
          <p:cNvCxnSpPr/>
          <p:nvPr/>
        </p:nvCxnSpPr>
        <p:spPr>
          <a:xfrm flipH="1">
            <a:off x="8531352" y="3145536"/>
            <a:ext cx="310896" cy="0"/>
          </a:xfrm>
          <a:prstGeom prst="line">
            <a:avLst/>
          </a:prstGeom>
          <a:ln w="15875">
            <a:solidFill>
              <a:srgbClr val="1F497D"/>
            </a:solidFill>
            <a:tailEnd type="triangle" w="med" len="med"/>
          </a:ln>
        </p:spPr>
      </p:cxnSp>
      <p:sp>
        <p:nvSpPr>
          <p:cNvPr id="26" name="Diamond 25"/>
          <p:cNvSpPr/>
          <p:nvPr/>
        </p:nvSpPr>
        <p:spPr>
          <a:xfrm>
            <a:off x="3589020" y="2688336"/>
            <a:ext cx="2103120" cy="914400"/>
          </a:xfrm>
          <a:prstGeom prst="diamond">
            <a:avLst/>
          </a:prstGeom>
          <a:solidFill>
            <a:srgbClr val="FFF2CC"/>
          </a:solidFill>
          <a:ln w="12700">
            <a:solidFill>
              <a:srgbClr val="C55A11"/>
            </a:solidFill>
          </a:ln>
          <a:effectLst/>
        </p:spPr>
        <p:txBody>
          <a:bodyPr rtlCol="0" anchor="ctr"/>
          <a:lstStyle/>
          <a:p>
            <a:pPr algn="ctr"/>
          </a:p>
        </p:txBody>
      </p:sp>
      <p:sp>
        <p:nvSpPr>
          <p:cNvPr id="27" name="TextBox 26"/>
          <p:cNvSpPr txBox="1"/>
          <p:nvPr/>
        </p:nvSpPr>
        <p:spPr>
          <a:xfrm>
            <a:off x="3967581" y="2871216"/>
            <a:ext cx="1345996" cy="548640"/>
          </a:xfrm>
          <a:prstGeom prst="rect">
            <a:avLst/>
          </a:prstGeom>
          <a:noFill/>
        </p:spPr>
        <p:txBody>
          <a:bodyPr wrap="square" lIns="0" tIns="0" rIns="0" bIns="0" anchor="ctr">
            <a:noAutofit/>
          </a:bodyPr>
          <a:lstStyle/>
          <a:p>
            <a:pPr algn="ctr"/>
            <a:r>
              <a:rPr sz="900" b="1" i="0">
                <a:solidFill>
                  <a:srgbClr val="140C12"/>
                </a:solidFill>
                <a:latin typeface="Aptos"/>
              </a:rPr>
              <a:t>Confident, no flags, not Critical?</a:t>
            </a:r>
          </a:p>
        </p:txBody>
      </p:sp>
      <p:cxnSp>
        <p:nvCxnSpPr>
          <p:cNvPr id="28" name="Connector 27"/>
          <p:cNvCxnSpPr/>
          <p:nvPr/>
        </p:nvCxnSpPr>
        <p:spPr>
          <a:xfrm flipH="1">
            <a:off x="5719572" y="3145536"/>
            <a:ext cx="425196" cy="0"/>
          </a:xfrm>
          <a:prstGeom prst="line">
            <a:avLst/>
          </a:prstGeom>
          <a:ln w="15875">
            <a:solidFill>
              <a:srgbClr val="1F497D"/>
            </a:solidFill>
            <a:tailEnd type="triangle" w="med" len="med"/>
          </a:ln>
        </p:spPr>
      </p:cxnSp>
      <p:sp>
        <p:nvSpPr>
          <p:cNvPr id="29" name="Rounded Rectangle 28"/>
          <p:cNvSpPr/>
          <p:nvPr/>
        </p:nvSpPr>
        <p:spPr>
          <a:xfrm>
            <a:off x="777240" y="2834640"/>
            <a:ext cx="2331720" cy="621792"/>
          </a:xfrm>
          <a:prstGeom prst="roundRect">
            <a:avLst>
              <a:gd name="adj" fmla="val 17647"/>
            </a:avLst>
          </a:prstGeom>
          <a:solidFill>
            <a:srgbClr val="E8F5E9"/>
          </a:solidFill>
          <a:ln w="12700">
            <a:solidFill>
              <a:srgbClr val="2E7D32"/>
            </a:solidFill>
          </a:ln>
          <a:effectLst/>
        </p:spPr>
        <p:txBody>
          <a:bodyPr rtlCol="0" anchor="ctr"/>
          <a:lstStyle/>
          <a:p>
            <a:pPr algn="ctr"/>
          </a:p>
        </p:txBody>
      </p:sp>
      <p:sp>
        <p:nvSpPr>
          <p:cNvPr id="30" name="TextBox 29"/>
          <p:cNvSpPr txBox="1"/>
          <p:nvPr/>
        </p:nvSpPr>
        <p:spPr>
          <a:xfrm>
            <a:off x="777240" y="283464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Routed to the district office; 'routed' status email with due time</a:t>
            </a:r>
          </a:p>
        </p:txBody>
      </p:sp>
      <p:cxnSp>
        <p:nvCxnSpPr>
          <p:cNvPr id="31" name="Connector 30"/>
          <p:cNvCxnSpPr/>
          <p:nvPr/>
        </p:nvCxnSpPr>
        <p:spPr>
          <a:xfrm flipH="1">
            <a:off x="3136391" y="3145536"/>
            <a:ext cx="425197" cy="0"/>
          </a:xfrm>
          <a:prstGeom prst="line">
            <a:avLst/>
          </a:prstGeom>
          <a:ln w="15875">
            <a:solidFill>
              <a:srgbClr val="2E7D32"/>
            </a:solidFill>
            <a:tailEnd type="triangle" w="med" len="med"/>
          </a:ln>
        </p:spPr>
      </p:cxnSp>
      <p:sp>
        <p:nvSpPr>
          <p:cNvPr id="32" name="TextBox 31"/>
          <p:cNvSpPr txBox="1"/>
          <p:nvPr/>
        </p:nvSpPr>
        <p:spPr>
          <a:xfrm>
            <a:off x="3131820" y="2816352"/>
            <a:ext cx="457200" cy="182880"/>
          </a:xfrm>
          <a:prstGeom prst="rect">
            <a:avLst/>
          </a:prstGeom>
          <a:noFill/>
        </p:spPr>
        <p:txBody>
          <a:bodyPr wrap="square" lIns="0" tIns="0" rIns="0" bIns="0" anchor="t">
            <a:noAutofit/>
          </a:bodyPr>
          <a:lstStyle/>
          <a:p>
            <a:pPr algn="ctr"/>
            <a:r>
              <a:rPr sz="850" b="1" i="0">
                <a:solidFill>
                  <a:srgbClr val="2E7D32"/>
                </a:solidFill>
                <a:latin typeface="Aptos"/>
              </a:rPr>
              <a:t>Yes</a:t>
            </a:r>
          </a:p>
        </p:txBody>
      </p:sp>
      <p:cxnSp>
        <p:nvCxnSpPr>
          <p:cNvPr id="33" name="Connector 32"/>
          <p:cNvCxnSpPr/>
          <p:nvPr/>
        </p:nvCxnSpPr>
        <p:spPr>
          <a:xfrm>
            <a:off x="4640579" y="3630168"/>
            <a:ext cx="0" cy="365760"/>
          </a:xfrm>
          <a:prstGeom prst="line">
            <a:avLst/>
          </a:prstGeom>
          <a:ln w="15875">
            <a:solidFill>
              <a:srgbClr val="C00000"/>
            </a:solidFill>
            <a:tailEnd type="triangle" w="med" len="med"/>
          </a:ln>
        </p:spPr>
      </p:cxnSp>
      <p:sp>
        <p:nvSpPr>
          <p:cNvPr id="34" name="TextBox 33"/>
          <p:cNvSpPr txBox="1"/>
          <p:nvPr/>
        </p:nvSpPr>
        <p:spPr>
          <a:xfrm>
            <a:off x="4686299" y="3648456"/>
            <a:ext cx="365760" cy="182880"/>
          </a:xfrm>
          <a:prstGeom prst="rect">
            <a:avLst/>
          </a:prstGeom>
          <a:noFill/>
        </p:spPr>
        <p:txBody>
          <a:bodyPr wrap="square" lIns="0" tIns="0" rIns="0" bIns="0" anchor="t">
            <a:noAutofit/>
          </a:bodyPr>
          <a:lstStyle/>
          <a:p>
            <a:pPr algn="l"/>
            <a:r>
              <a:rPr sz="850" b="1" i="0">
                <a:solidFill>
                  <a:srgbClr val="C00000"/>
                </a:solidFill>
                <a:latin typeface="Aptos"/>
              </a:rPr>
              <a:t>No</a:t>
            </a:r>
          </a:p>
        </p:txBody>
      </p:sp>
      <p:sp>
        <p:nvSpPr>
          <p:cNvPr id="35" name="Rounded Rectangle 34"/>
          <p:cNvSpPr/>
          <p:nvPr/>
        </p:nvSpPr>
        <p:spPr>
          <a:xfrm>
            <a:off x="3474720" y="4023360"/>
            <a:ext cx="2331720" cy="621792"/>
          </a:xfrm>
          <a:prstGeom prst="roundRect">
            <a:avLst>
              <a:gd name="adj" fmla="val 17647"/>
            </a:avLst>
          </a:prstGeom>
          <a:solidFill>
            <a:srgbClr val="FDECEA"/>
          </a:solidFill>
          <a:ln w="12700">
            <a:solidFill>
              <a:srgbClr val="C00000"/>
            </a:solidFill>
          </a:ln>
          <a:effectLst/>
        </p:spPr>
        <p:txBody>
          <a:bodyPr rtlCol="0" anchor="ctr"/>
          <a:lstStyle/>
          <a:p>
            <a:pPr algn="ctr"/>
          </a:p>
        </p:txBody>
      </p:sp>
      <p:sp>
        <p:nvSpPr>
          <p:cNvPr id="36" name="TextBox 35"/>
          <p:cNvSpPr txBox="1"/>
          <p:nvPr/>
        </p:nvSpPr>
        <p:spPr>
          <a:xfrm>
            <a:off x="3474720" y="4023360"/>
            <a:ext cx="2331720" cy="621792"/>
          </a:xfrm>
          <a:prstGeom prst="rect">
            <a:avLst/>
          </a:prstGeom>
          <a:noFill/>
        </p:spPr>
        <p:txBody>
          <a:bodyPr wrap="square" lIns="45720" tIns="18288" rIns="45720" bIns="18288" anchor="ctr">
            <a:noAutofit/>
          </a:bodyPr>
          <a:lstStyle/>
          <a:p>
            <a:pPr algn="ctr"/>
            <a:r>
              <a:rPr sz="950" b="0" i="0">
                <a:solidFill>
                  <a:srgbClr val="140C12"/>
                </a:solidFill>
                <a:latin typeface="Aptos"/>
              </a:rPr>
              <a:t>Human review: accept, reassign, merge or ask for info, reason mandatory</a:t>
            </a:r>
          </a:p>
        </p:txBody>
      </p:sp>
      <p:sp>
        <p:nvSpPr>
          <p:cNvPr id="37" name="Rounded Rectangle 36"/>
          <p:cNvSpPr/>
          <p:nvPr/>
        </p:nvSpPr>
        <p:spPr>
          <a:xfrm>
            <a:off x="777240" y="4133088"/>
            <a:ext cx="2331720" cy="411480"/>
          </a:xfrm>
          <a:prstGeom prst="roundRect">
            <a:avLst>
              <a:gd name="adj" fmla="val 26666"/>
            </a:avLst>
          </a:prstGeom>
          <a:solidFill>
            <a:srgbClr val="1F497D"/>
          </a:solidFill>
          <a:ln w="12700">
            <a:solidFill>
              <a:srgbClr val="1F497D"/>
            </a:solidFill>
          </a:ln>
          <a:effectLst/>
        </p:spPr>
        <p:txBody>
          <a:bodyPr rtlCol="0" anchor="ctr"/>
          <a:lstStyle/>
          <a:p>
            <a:pPr algn="ctr"/>
          </a:p>
        </p:txBody>
      </p:sp>
      <p:sp>
        <p:nvSpPr>
          <p:cNvPr id="38" name="TextBox 37"/>
          <p:cNvSpPr txBox="1"/>
          <p:nvPr/>
        </p:nvSpPr>
        <p:spPr>
          <a:xfrm>
            <a:off x="777240" y="4133088"/>
            <a:ext cx="2331720" cy="411480"/>
          </a:xfrm>
          <a:prstGeom prst="rect">
            <a:avLst/>
          </a:prstGeom>
          <a:noFill/>
        </p:spPr>
        <p:txBody>
          <a:bodyPr wrap="square" lIns="45720" tIns="18288" rIns="45720" bIns="18288" anchor="ctr">
            <a:noAutofit/>
          </a:bodyPr>
          <a:lstStyle/>
          <a:p>
            <a:pPr algn="ctr"/>
            <a:r>
              <a:rPr sz="950" b="1" i="0">
                <a:solidFill>
                  <a:srgbClr val="FFFFFF"/>
                </a:solidFill>
                <a:latin typeface="Aptos"/>
              </a:rPr>
              <a:t>End: status email, tracking page updated</a:t>
            </a:r>
          </a:p>
        </p:txBody>
      </p:sp>
      <p:cxnSp>
        <p:nvCxnSpPr>
          <p:cNvPr id="39" name="Connector 38"/>
          <p:cNvCxnSpPr/>
          <p:nvPr/>
        </p:nvCxnSpPr>
        <p:spPr>
          <a:xfrm>
            <a:off x="1943100" y="3483864"/>
            <a:ext cx="0" cy="621792"/>
          </a:xfrm>
          <a:prstGeom prst="line">
            <a:avLst/>
          </a:prstGeom>
          <a:ln w="15875">
            <a:solidFill>
              <a:srgbClr val="1F497D"/>
            </a:solidFill>
            <a:tailEnd type="triangle" w="med" len="med"/>
          </a:ln>
        </p:spPr>
      </p:cxnSp>
      <p:cxnSp>
        <p:nvCxnSpPr>
          <p:cNvPr id="40" name="Connector 39"/>
          <p:cNvCxnSpPr/>
          <p:nvPr/>
        </p:nvCxnSpPr>
        <p:spPr>
          <a:xfrm flipH="1">
            <a:off x="3136391" y="4279392"/>
            <a:ext cx="310897" cy="0"/>
          </a:xfrm>
          <a:prstGeom prst="line">
            <a:avLst/>
          </a:prstGeom>
          <a:ln w="15875">
            <a:solidFill>
              <a:srgbClr val="1F497D"/>
            </a:solidFill>
            <a:tailEnd type="triangle" w="med" len="med"/>
          </a:ln>
        </p:spPr>
      </p:cxnSp>
      <p:sp>
        <p:nvSpPr>
          <p:cNvPr id="41" name="Rounded Rectangle 40"/>
          <p:cNvSpPr/>
          <p:nvPr/>
        </p:nvSpPr>
        <p:spPr>
          <a:xfrm>
            <a:off x="617220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2" name="TextBox 41"/>
          <p:cNvSpPr txBox="1"/>
          <p:nvPr/>
        </p:nvSpPr>
        <p:spPr>
          <a:xfrm>
            <a:off x="617220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Every decision and override is logged with a reason; nothing is auto-closed</a:t>
            </a:r>
          </a:p>
        </p:txBody>
      </p:sp>
      <p:sp>
        <p:nvSpPr>
          <p:cNvPr id="43" name="Rounded Rectangle 42"/>
          <p:cNvSpPr/>
          <p:nvPr/>
        </p:nvSpPr>
        <p:spPr>
          <a:xfrm>
            <a:off x="8869680" y="4023360"/>
            <a:ext cx="2331720" cy="621792"/>
          </a:xfrm>
          <a:prstGeom prst="roundRect">
            <a:avLst>
              <a:gd name="adj" fmla="val 17647"/>
            </a:avLst>
          </a:prstGeom>
          <a:solidFill>
            <a:srgbClr val="FFFFFF"/>
          </a:solidFill>
          <a:ln w="12700">
            <a:solidFill>
              <a:srgbClr val="BDD7EE"/>
            </a:solidFill>
          </a:ln>
          <a:effectLst/>
        </p:spPr>
        <p:txBody>
          <a:bodyPr rtlCol="0" anchor="ctr"/>
          <a:lstStyle/>
          <a:p>
            <a:pPr algn="ctr"/>
          </a:p>
        </p:txBody>
      </p:sp>
      <p:sp>
        <p:nvSpPr>
          <p:cNvPr id="44" name="TextBox 43"/>
          <p:cNvSpPr txBox="1"/>
          <p:nvPr/>
        </p:nvSpPr>
        <p:spPr>
          <a:xfrm>
            <a:off x="8869680" y="4023360"/>
            <a:ext cx="2331720" cy="621792"/>
          </a:xfrm>
          <a:prstGeom prst="rect">
            <a:avLst/>
          </a:prstGeom>
          <a:noFill/>
        </p:spPr>
        <p:txBody>
          <a:bodyPr wrap="square" lIns="45720" tIns="18288" rIns="45720" bIns="18288" anchor="ctr">
            <a:noAutofit/>
          </a:bodyPr>
          <a:lstStyle/>
          <a:p>
            <a:pPr algn="ctr"/>
            <a:r>
              <a:rPr sz="900" b="0" i="0">
                <a:solidFill>
                  <a:srgbClr val="595959"/>
                </a:solidFill>
                <a:latin typeface="Aptos"/>
              </a:rPr>
              <a:t>Citizen tracks by ID at any time; officer corrections become ground truth per language</a:t>
            </a:r>
          </a:p>
        </p:txBody>
      </p:sp>
      <p:sp>
        <p:nvSpPr>
          <p:cNvPr id="45" name="Rounded Rectangle 44"/>
          <p:cNvSpPr/>
          <p:nvPr/>
        </p:nvSpPr>
        <p:spPr>
          <a:xfrm>
            <a:off x="411480" y="5047488"/>
            <a:ext cx="5577840" cy="1307592"/>
          </a:xfrm>
          <a:prstGeom prst="roundRect">
            <a:avLst>
              <a:gd name="adj" fmla="val 8391"/>
            </a:avLst>
          </a:prstGeom>
          <a:solidFill>
            <a:srgbClr val="EAF2FA"/>
          </a:solidFill>
          <a:ln w="12700">
            <a:solidFill>
              <a:srgbClr val="1F497D"/>
            </a:solidFill>
          </a:ln>
          <a:effectLst/>
        </p:spPr>
        <p:txBody>
          <a:bodyPr rtlCol="0" anchor="ctr"/>
          <a:lstStyle/>
          <a:p>
            <a:pPr algn="ctr"/>
          </a:p>
        </p:txBody>
      </p:sp>
      <p:sp>
        <p:nvSpPr>
          <p:cNvPr id="46" name="Rounded Rectangle 45"/>
          <p:cNvSpPr/>
          <p:nvPr/>
        </p:nvSpPr>
        <p:spPr>
          <a:xfrm>
            <a:off x="411480" y="5047488"/>
            <a:ext cx="5577840" cy="347472"/>
          </a:xfrm>
          <a:prstGeom prst="roundRect">
            <a:avLst>
              <a:gd name="adj" fmla="val 31578"/>
            </a:avLst>
          </a:prstGeom>
          <a:solidFill>
            <a:srgbClr val="1F497D"/>
          </a:solidFill>
          <a:ln>
            <a:noFill/>
          </a:ln>
          <a:effectLst/>
        </p:spPr>
        <p:txBody>
          <a:bodyPr rtlCol="0" anchor="ctr"/>
          <a:lstStyle/>
          <a:p>
            <a:pPr algn="ctr"/>
          </a:p>
        </p:txBody>
      </p:sp>
      <p:sp>
        <p:nvSpPr>
          <p:cNvPr id="47" name="Rectangle 46"/>
          <p:cNvSpPr/>
          <p:nvPr/>
        </p:nvSpPr>
        <p:spPr>
          <a:xfrm>
            <a:off x="411480" y="5221224"/>
            <a:ext cx="5577840" cy="173736"/>
          </a:xfrm>
          <a:prstGeom prst="rect">
            <a:avLst/>
          </a:prstGeom>
          <a:solidFill>
            <a:srgbClr val="1F497D"/>
          </a:solidFill>
          <a:ln>
            <a:noFill/>
          </a:ln>
          <a:effectLst/>
        </p:spPr>
        <p:txBody>
          <a:bodyPr rtlCol="0" anchor="ctr"/>
          <a:lstStyle/>
          <a:p>
            <a:pPr algn="ctr"/>
          </a:p>
        </p:txBody>
      </p:sp>
      <p:pic>
        <p:nvPicPr>
          <p:cNvPr id="48" name="Picture 47" descr="image25.png"/>
          <p:cNvPicPr>
            <a:picLocks noChangeAspect="1"/>
          </p:cNvPicPr>
          <p:nvPr/>
        </p:nvPicPr>
        <p:blipFill>
          <a:blip r:embed="rId2"/>
          <a:stretch>
            <a:fillRect/>
          </a:stretch>
        </p:blipFill>
        <p:spPr>
          <a:xfrm>
            <a:off x="539496" y="5111496"/>
            <a:ext cx="219456" cy="219456"/>
          </a:xfrm>
          <a:prstGeom prst="rect">
            <a:avLst/>
          </a:prstGeom>
        </p:spPr>
      </p:pic>
      <p:sp>
        <p:nvSpPr>
          <p:cNvPr id="49" name="TextBox 48"/>
          <p:cNvSpPr txBox="1"/>
          <p:nvPr/>
        </p:nvSpPr>
        <p:spPr>
          <a:xfrm>
            <a:off x="86868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Key decisions, validation and security</a:t>
            </a:r>
          </a:p>
        </p:txBody>
      </p:sp>
      <p:sp>
        <p:nvSpPr>
          <p:cNvPr id="50" name="TextBox 49"/>
          <p:cNvSpPr txBox="1"/>
          <p:nvPr/>
        </p:nvSpPr>
        <p:spPr>
          <a:xfrm>
            <a:off x="50292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Accounts: </a:t>
            </a:r>
            <a:r>
              <a:rPr sz="850" b="0" i="0">
                <a:solidFill>
                  <a:srgbClr val="140C12"/>
                </a:solidFill>
                <a:latin typeface="Aptos"/>
              </a:rPr>
              <a:t>mobile + email + strong password, email OTP, argon2 hashing, JWT with password version</a:t>
            </a:r>
          </a:p>
          <a:p>
            <a:pPr algn="l" marL="146304" indent="-146304">
              <a:spcAft>
                <a:spcPts val="300"/>
              </a:spcAft>
              <a:buFont typeface="Arial"/>
              <a:buChar char="•"/>
            </a:pPr>
            <a:r>
              <a:rPr sz="850" b="1" i="0">
                <a:solidFill>
                  <a:srgbClr val="140C12"/>
                </a:solidFill>
                <a:latin typeface="Aptos"/>
              </a:rPr>
              <a:t>Privacy: </a:t>
            </a:r>
            <a:r>
              <a:rPr sz="850" b="0" i="0">
                <a:solidFill>
                  <a:srgbClr val="140C12"/>
                </a:solidFill>
                <a:latin typeface="Aptos"/>
              </a:rPr>
              <a:t>PII masked before the model; name and Aadhaar last 4 stored for the office only</a:t>
            </a:r>
          </a:p>
          <a:p>
            <a:pPr algn="l" marL="146304" indent="-146304">
              <a:spcAft>
                <a:spcPts val="300"/>
              </a:spcAft>
              <a:buFont typeface="Arial"/>
              <a:buChar char="•"/>
            </a:pPr>
            <a:r>
              <a:rPr sz="850" b="1" i="0">
                <a:solidFill>
                  <a:srgbClr val="140C12"/>
                </a:solidFill>
                <a:latin typeface="Aptos"/>
              </a:rPr>
              <a:t>Control: </a:t>
            </a:r>
            <a:r>
              <a:rPr sz="850" b="0" i="0">
                <a:solidFill>
                  <a:srgbClr val="140C12"/>
                </a:solidFill>
                <a:latin typeface="Aptos"/>
              </a:rPr>
              <a:t>rules override the model; low confidence (&lt; 0.70), disagreement, duplicate (≥ 0.85) or Critical → human</a:t>
            </a:r>
          </a:p>
          <a:p>
            <a:pPr algn="l" marL="146304" indent="-146304">
              <a:spcAft>
                <a:spcPts val="300"/>
              </a:spcAft>
              <a:buFont typeface="Arial"/>
              <a:buChar char="•"/>
            </a:pPr>
            <a:r>
              <a:rPr sz="850" b="1" i="0">
                <a:solidFill>
                  <a:srgbClr val="140C12"/>
                </a:solidFill>
                <a:latin typeface="Aptos"/>
              </a:rPr>
              <a:t>Scope: </a:t>
            </a:r>
            <a:r>
              <a:rPr sz="850" b="0" i="0">
                <a:solidFill>
                  <a:srgbClr val="140C12"/>
                </a:solidFill>
                <a:latin typeface="Aptos"/>
              </a:rPr>
              <a:t>super admin → district admins → department admins; each sees only its district and department</a:t>
            </a:r>
          </a:p>
        </p:txBody>
      </p:sp>
      <p:sp>
        <p:nvSpPr>
          <p:cNvPr id="51" name="Rounded Rectangle 50"/>
          <p:cNvSpPr/>
          <p:nvPr/>
        </p:nvSpPr>
        <p:spPr>
          <a:xfrm>
            <a:off x="6172200" y="5047488"/>
            <a:ext cx="5577840" cy="1307592"/>
          </a:xfrm>
          <a:prstGeom prst="roundRect">
            <a:avLst>
              <a:gd name="adj" fmla="val 8391"/>
            </a:avLst>
          </a:prstGeom>
          <a:solidFill>
            <a:srgbClr val="FFF2CC"/>
          </a:solidFill>
          <a:ln w="12700">
            <a:solidFill>
              <a:srgbClr val="C55A11"/>
            </a:solidFill>
          </a:ln>
          <a:effectLst/>
        </p:spPr>
        <p:txBody>
          <a:bodyPr rtlCol="0" anchor="ctr"/>
          <a:lstStyle/>
          <a:p>
            <a:pPr algn="ctr"/>
          </a:p>
        </p:txBody>
      </p:sp>
      <p:sp>
        <p:nvSpPr>
          <p:cNvPr id="52" name="Rounded Rectangle 51"/>
          <p:cNvSpPr/>
          <p:nvPr/>
        </p:nvSpPr>
        <p:spPr>
          <a:xfrm>
            <a:off x="6172200" y="5047488"/>
            <a:ext cx="5577840" cy="347472"/>
          </a:xfrm>
          <a:prstGeom prst="roundRect">
            <a:avLst>
              <a:gd name="adj" fmla="val 31578"/>
            </a:avLst>
          </a:prstGeom>
          <a:solidFill>
            <a:srgbClr val="C55A11"/>
          </a:solidFill>
          <a:ln>
            <a:noFill/>
          </a:ln>
          <a:effectLst/>
        </p:spPr>
        <p:txBody>
          <a:bodyPr rtlCol="0" anchor="ctr"/>
          <a:lstStyle/>
          <a:p>
            <a:pPr algn="ctr"/>
          </a:p>
        </p:txBody>
      </p:sp>
      <p:sp>
        <p:nvSpPr>
          <p:cNvPr id="53" name="Rectangle 52"/>
          <p:cNvSpPr/>
          <p:nvPr/>
        </p:nvSpPr>
        <p:spPr>
          <a:xfrm>
            <a:off x="6172200" y="5221224"/>
            <a:ext cx="5577840" cy="173736"/>
          </a:xfrm>
          <a:prstGeom prst="rect">
            <a:avLst/>
          </a:prstGeom>
          <a:solidFill>
            <a:srgbClr val="C55A11"/>
          </a:solidFill>
          <a:ln>
            <a:noFill/>
          </a:ln>
          <a:effectLst/>
        </p:spPr>
        <p:txBody>
          <a:bodyPr rtlCol="0" anchor="ctr"/>
          <a:lstStyle/>
          <a:p>
            <a:pPr algn="ctr"/>
          </a:p>
        </p:txBody>
      </p:sp>
      <p:pic>
        <p:nvPicPr>
          <p:cNvPr id="54" name="Picture 53" descr="image26.png"/>
          <p:cNvPicPr>
            <a:picLocks noChangeAspect="1"/>
          </p:cNvPicPr>
          <p:nvPr/>
        </p:nvPicPr>
        <p:blipFill>
          <a:blip r:embed="rId3"/>
          <a:stretch>
            <a:fillRect/>
          </a:stretch>
        </p:blipFill>
        <p:spPr>
          <a:xfrm>
            <a:off x="6300216" y="5111496"/>
            <a:ext cx="219456" cy="219456"/>
          </a:xfrm>
          <a:prstGeom prst="rect">
            <a:avLst/>
          </a:prstGeom>
        </p:spPr>
      </p:pic>
      <p:sp>
        <p:nvSpPr>
          <p:cNvPr id="55" name="TextBox 54"/>
          <p:cNvSpPr txBox="1"/>
          <p:nvPr/>
        </p:nvSpPr>
        <p:spPr>
          <a:xfrm>
            <a:off x="6629400" y="5047488"/>
            <a:ext cx="50292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 and learning loop</a:t>
            </a:r>
          </a:p>
        </p:txBody>
      </p:sp>
      <p:sp>
        <p:nvSpPr>
          <p:cNvPr id="56" name="TextBox 55"/>
          <p:cNvSpPr txBox="1"/>
          <p:nvPr/>
        </p:nvSpPr>
        <p:spPr>
          <a:xfrm>
            <a:off x="6263640" y="5449823"/>
            <a:ext cx="5394959" cy="868679"/>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No lost complaints: </a:t>
            </a:r>
            <a:r>
              <a:rPr sz="850" b="0" i="0">
                <a:solidFill>
                  <a:srgbClr val="140C12"/>
                </a:solidFill>
                <a:latin typeface="Aptos"/>
              </a:rPr>
              <a:t>a model timeout or error sends the case to the review queue as 'awaiting analysis'</a:t>
            </a:r>
          </a:p>
          <a:p>
            <a:pPr algn="l" marL="146304" indent="-146304">
              <a:spcAft>
                <a:spcPts val="300"/>
              </a:spcAft>
              <a:buFont typeface="Arial"/>
              <a:buChar char="•"/>
            </a:pPr>
            <a:r>
              <a:rPr sz="850" b="1" i="0">
                <a:solidFill>
                  <a:srgbClr val="140C12"/>
                </a:solidFill>
                <a:latin typeface="Aptos"/>
              </a:rPr>
              <a:t>Email never blocks: </a:t>
            </a:r>
            <a:r>
              <a:rPr sz="850" b="0" i="0">
                <a:solidFill>
                  <a:srgbClr val="140C12"/>
                </a:solidFill>
                <a:latin typeface="Aptos"/>
              </a:rPr>
              <a:t>an outbox thread with one persistent connection delivers every mail, three attempts, reason logged</a:t>
            </a:r>
          </a:p>
          <a:p>
            <a:pPr algn="l" marL="146304" indent="-146304">
              <a:spcAft>
                <a:spcPts val="300"/>
              </a:spcAft>
              <a:buFont typeface="Arial"/>
              <a:buChar char="•"/>
            </a:pPr>
            <a:r>
              <a:rPr sz="850" b="1" i="0">
                <a:solidFill>
                  <a:srgbClr val="140C12"/>
                </a:solidFill>
                <a:latin typeface="Aptos"/>
              </a:rPr>
              <a:t>Overdue: </a:t>
            </a:r>
            <a:r>
              <a:rPr sz="850" b="0" i="0">
                <a:solidFill>
                  <a:srgbClr val="140C12"/>
                </a:solidFill>
                <a:latin typeface="Aptos"/>
              </a:rPr>
              <a:t>due times from the office SLA; a breach is escalated to the district admin by email, once</a:t>
            </a:r>
          </a:p>
          <a:p>
            <a:pPr algn="l" marL="146304" indent="-146304">
              <a:spcAft>
                <a:spcPts val="300"/>
              </a:spcAft>
              <a:buFont typeface="Arial"/>
              <a:buChar char="•"/>
            </a:pPr>
            <a:r>
              <a:rPr sz="850" b="1" i="0">
                <a:solidFill>
                  <a:srgbClr val="140C12"/>
                </a:solidFill>
                <a:latin typeface="Aptos"/>
              </a:rPr>
              <a:t>Speed: </a:t>
            </a:r>
            <a:r>
              <a:rPr sz="850" b="0" i="0">
                <a:solidFill>
                  <a:srgbClr val="140C12"/>
                </a:solidFill>
                <a:latin typeface="Aptos"/>
              </a:rPr>
              <a:t>tracking ID in under 1 s; analysis 12-20 s in the background on a 4 GB laptop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SYSTEM ARCHITECTURE  ·  </a:t>
            </a:r>
            <a:r>
              <a:rPr sz="1050" b="1" i="0">
                <a:solidFill>
                  <a:srgbClr val="0070C0"/>
                </a:solidFill>
                <a:latin typeface="Aptos"/>
              </a:rPr>
              <a:t>everything runs on one laptop inside the organisation; the only model runtime is Ollama; no cloud AI calls</a:t>
            </a:r>
          </a:p>
        </p:txBody>
      </p:sp>
      <p:sp>
        <p:nvSpPr>
          <p:cNvPr id="8" name="Rounded Rectangle 7"/>
          <p:cNvSpPr/>
          <p:nvPr/>
        </p:nvSpPr>
        <p:spPr>
          <a:xfrm>
            <a:off x="411480" y="1719072"/>
            <a:ext cx="1783080" cy="3154680"/>
          </a:xfrm>
          <a:prstGeom prst="roundRect">
            <a:avLst>
              <a:gd name="adj" fmla="val 6153"/>
            </a:avLst>
          </a:prstGeom>
          <a:solidFill>
            <a:srgbClr val="F2F2F2"/>
          </a:solidFill>
          <a:ln w="12700">
            <a:solidFill>
              <a:srgbClr val="7F7F7F"/>
            </a:solidFill>
          </a:ln>
          <a:effectLst/>
        </p:spPr>
        <p:txBody>
          <a:bodyPr rtlCol="0" anchor="ctr"/>
          <a:lstStyle/>
          <a:p>
            <a:pPr algn="ctr"/>
          </a:p>
        </p:txBody>
      </p:sp>
      <p:pic>
        <p:nvPicPr>
          <p:cNvPr id="9" name="Picture 8" descr="image10.png"/>
          <p:cNvPicPr>
            <a:picLocks noChangeAspect="1"/>
          </p:cNvPicPr>
          <p:nvPr/>
        </p:nvPicPr>
        <p:blipFill>
          <a:blip r:embed="rId2"/>
          <a:stretch>
            <a:fillRect/>
          </a:stretch>
        </p:blipFill>
        <p:spPr>
          <a:xfrm>
            <a:off x="521208" y="1857946"/>
            <a:ext cx="292608" cy="234314"/>
          </a:xfrm>
          <a:prstGeom prst="rect">
            <a:avLst/>
          </a:prstGeom>
        </p:spPr>
      </p:pic>
      <p:sp>
        <p:nvSpPr>
          <p:cNvPr id="10" name="TextBox 9"/>
          <p:cNvSpPr txBox="1"/>
          <p:nvPr/>
        </p:nvSpPr>
        <p:spPr>
          <a:xfrm>
            <a:off x="868680" y="1764792"/>
            <a:ext cx="1280160" cy="457200"/>
          </a:xfrm>
          <a:prstGeom prst="rect">
            <a:avLst/>
          </a:prstGeom>
          <a:noFill/>
        </p:spPr>
        <p:txBody>
          <a:bodyPr wrap="square" lIns="18288" tIns="0" rIns="18288" bIns="0" anchor="ctr">
            <a:noAutofit/>
          </a:bodyPr>
          <a:lstStyle/>
          <a:p>
            <a:pPr algn="l"/>
            <a:r>
              <a:rPr sz="1050" b="1" i="0">
                <a:solidFill>
                  <a:srgbClr val="140C12"/>
                </a:solidFill>
                <a:latin typeface="Aptos"/>
              </a:rPr>
              <a:t>Users</a:t>
            </a:r>
          </a:p>
          <a:p>
            <a:pPr algn="l"/>
            <a:r>
              <a:rPr sz="850" b="0" i="0">
                <a:solidFill>
                  <a:srgbClr val="475569"/>
                </a:solidFill>
                <a:latin typeface="Aptos"/>
              </a:rPr>
              <a:t>Roles</a:t>
            </a:r>
          </a:p>
        </p:txBody>
      </p:sp>
      <p:sp>
        <p:nvSpPr>
          <p:cNvPr id="11" name="Rounded Rectangle 10"/>
          <p:cNvSpPr/>
          <p:nvPr/>
        </p:nvSpPr>
        <p:spPr>
          <a:xfrm>
            <a:off x="2377440" y="1719072"/>
            <a:ext cx="2331720" cy="3154680"/>
          </a:xfrm>
          <a:prstGeom prst="roundRect">
            <a:avLst>
              <a:gd name="adj" fmla="val 4705"/>
            </a:avLst>
          </a:prstGeom>
          <a:solidFill>
            <a:srgbClr val="E8F4FD"/>
          </a:solidFill>
          <a:ln w="12700">
            <a:solidFill>
              <a:srgbClr val="0070C0"/>
            </a:solidFill>
          </a:ln>
          <a:effectLst/>
        </p:spPr>
        <p:txBody>
          <a:bodyPr rtlCol="0" anchor="ctr"/>
          <a:lstStyle/>
          <a:p>
            <a:pPr algn="ctr"/>
          </a:p>
        </p:txBody>
      </p:sp>
      <p:pic>
        <p:nvPicPr>
          <p:cNvPr id="12" name="Picture 11" descr="image14.png"/>
          <p:cNvPicPr>
            <a:picLocks noChangeAspect="1"/>
          </p:cNvPicPr>
          <p:nvPr/>
        </p:nvPicPr>
        <p:blipFill>
          <a:blip r:embed="rId3"/>
          <a:stretch>
            <a:fillRect/>
          </a:stretch>
        </p:blipFill>
        <p:spPr>
          <a:xfrm>
            <a:off x="2487168" y="1844802"/>
            <a:ext cx="292608" cy="260604"/>
          </a:xfrm>
          <a:prstGeom prst="rect">
            <a:avLst/>
          </a:prstGeom>
        </p:spPr>
      </p:pic>
      <p:sp>
        <p:nvSpPr>
          <p:cNvPr id="13" name="TextBox 12"/>
          <p:cNvSpPr txBox="1"/>
          <p:nvPr/>
        </p:nvSpPr>
        <p:spPr>
          <a:xfrm>
            <a:off x="2834640" y="1764792"/>
            <a:ext cx="1828799" cy="457200"/>
          </a:xfrm>
          <a:prstGeom prst="rect">
            <a:avLst/>
          </a:prstGeom>
          <a:noFill/>
        </p:spPr>
        <p:txBody>
          <a:bodyPr wrap="square" lIns="18288" tIns="0" rIns="18288" bIns="0" anchor="ctr">
            <a:noAutofit/>
          </a:bodyPr>
          <a:lstStyle/>
          <a:p>
            <a:pPr algn="l"/>
            <a:r>
              <a:rPr sz="1050" b="1" i="0">
                <a:solidFill>
                  <a:srgbClr val="140C12"/>
                </a:solidFill>
                <a:latin typeface="Aptos"/>
              </a:rPr>
              <a:t>Presentation</a:t>
            </a:r>
          </a:p>
          <a:p>
            <a:pPr algn="l"/>
            <a:r>
              <a:rPr sz="850" b="0" i="0">
                <a:solidFill>
                  <a:srgbClr val="475569"/>
                </a:solidFill>
                <a:latin typeface="Aptos"/>
              </a:rPr>
              <a:t>React + TS, shadcn/ui</a:t>
            </a:r>
          </a:p>
        </p:txBody>
      </p:sp>
      <p:sp>
        <p:nvSpPr>
          <p:cNvPr id="14" name="Rounded Rectangle 13"/>
          <p:cNvSpPr/>
          <p:nvPr/>
        </p:nvSpPr>
        <p:spPr>
          <a:xfrm>
            <a:off x="4892040" y="1719072"/>
            <a:ext cx="3611880" cy="3154680"/>
          </a:xfrm>
          <a:prstGeom prst="roundRect">
            <a:avLst>
              <a:gd name="adj" fmla="val 3478"/>
            </a:avLst>
          </a:prstGeom>
          <a:solidFill>
            <a:srgbClr val="EEF0FA"/>
          </a:solidFill>
          <a:ln w="12700">
            <a:solidFill>
              <a:srgbClr val="6B4C9A"/>
            </a:solidFill>
          </a:ln>
          <a:effectLst/>
        </p:spPr>
        <p:txBody>
          <a:bodyPr rtlCol="0" anchor="ctr"/>
          <a:lstStyle/>
          <a:p>
            <a:pPr algn="ctr"/>
          </a:p>
        </p:txBody>
      </p:sp>
      <p:pic>
        <p:nvPicPr>
          <p:cNvPr id="15" name="Picture 14" descr="image15.png"/>
          <p:cNvPicPr>
            <a:picLocks noChangeAspect="1"/>
          </p:cNvPicPr>
          <p:nvPr/>
        </p:nvPicPr>
        <p:blipFill>
          <a:blip r:embed="rId4"/>
          <a:stretch>
            <a:fillRect/>
          </a:stretch>
        </p:blipFill>
        <p:spPr>
          <a:xfrm>
            <a:off x="5001768" y="1857946"/>
            <a:ext cx="292608" cy="234314"/>
          </a:xfrm>
          <a:prstGeom prst="rect">
            <a:avLst/>
          </a:prstGeom>
        </p:spPr>
      </p:pic>
      <p:sp>
        <p:nvSpPr>
          <p:cNvPr id="16" name="TextBox 15"/>
          <p:cNvSpPr txBox="1"/>
          <p:nvPr/>
        </p:nvSpPr>
        <p:spPr>
          <a:xfrm>
            <a:off x="5349240" y="1764792"/>
            <a:ext cx="3108960" cy="457200"/>
          </a:xfrm>
          <a:prstGeom prst="rect">
            <a:avLst/>
          </a:prstGeom>
          <a:noFill/>
        </p:spPr>
        <p:txBody>
          <a:bodyPr wrap="square" lIns="18288" tIns="0" rIns="18288" bIns="0" anchor="ctr">
            <a:noAutofit/>
          </a:bodyPr>
          <a:lstStyle/>
          <a:p>
            <a:pPr algn="l"/>
            <a:r>
              <a:rPr sz="1050" b="1" i="0">
                <a:solidFill>
                  <a:srgbClr val="140C12"/>
                </a:solidFill>
                <a:latin typeface="Aptos"/>
              </a:rPr>
              <a:t>Application layer</a:t>
            </a:r>
          </a:p>
          <a:p>
            <a:pPr algn="l"/>
            <a:r>
              <a:rPr sz="850" b="0" i="0">
                <a:solidFill>
                  <a:srgbClr val="475569"/>
                </a:solidFill>
                <a:latin typeface="Aptos"/>
              </a:rPr>
              <a:t>Python · FastAPI + worker</a:t>
            </a:r>
          </a:p>
        </p:txBody>
      </p:sp>
      <p:sp>
        <p:nvSpPr>
          <p:cNvPr id="17" name="Rounded Rectangle 16"/>
          <p:cNvSpPr/>
          <p:nvPr/>
        </p:nvSpPr>
        <p:spPr>
          <a:xfrm>
            <a:off x="8686800" y="1719072"/>
            <a:ext cx="3063240" cy="3154680"/>
          </a:xfrm>
          <a:prstGeom prst="roundRect">
            <a:avLst>
              <a:gd name="adj" fmla="val 3582"/>
            </a:avLst>
          </a:prstGeom>
          <a:solidFill>
            <a:srgbClr val="E6F4F1"/>
          </a:solidFill>
          <a:ln w="12700">
            <a:solidFill>
              <a:srgbClr val="00796B"/>
            </a:solidFill>
          </a:ln>
          <a:effectLst/>
        </p:spPr>
        <p:txBody>
          <a:bodyPr rtlCol="0" anchor="ctr"/>
          <a:lstStyle/>
          <a:p>
            <a:pPr algn="ctr"/>
          </a:p>
        </p:txBody>
      </p:sp>
      <p:pic>
        <p:nvPicPr>
          <p:cNvPr id="18" name="Picture 17" descr="image16.png"/>
          <p:cNvPicPr>
            <a:picLocks noChangeAspect="1"/>
          </p:cNvPicPr>
          <p:nvPr/>
        </p:nvPicPr>
        <p:blipFill>
          <a:blip r:embed="rId5"/>
          <a:stretch>
            <a:fillRect/>
          </a:stretch>
        </p:blipFill>
        <p:spPr>
          <a:xfrm>
            <a:off x="8814815" y="1828800"/>
            <a:ext cx="256032" cy="292608"/>
          </a:xfrm>
          <a:prstGeom prst="rect">
            <a:avLst/>
          </a:prstGeom>
        </p:spPr>
      </p:pic>
      <p:sp>
        <p:nvSpPr>
          <p:cNvPr id="19" name="TextBox 18"/>
          <p:cNvSpPr txBox="1"/>
          <p:nvPr/>
        </p:nvSpPr>
        <p:spPr>
          <a:xfrm>
            <a:off x="9144000" y="1764792"/>
            <a:ext cx="2560320" cy="457200"/>
          </a:xfrm>
          <a:prstGeom prst="rect">
            <a:avLst/>
          </a:prstGeom>
          <a:noFill/>
        </p:spPr>
        <p:txBody>
          <a:bodyPr wrap="square" lIns="18288" tIns="0" rIns="18288" bIns="0" anchor="ctr">
            <a:noAutofit/>
          </a:bodyPr>
          <a:lstStyle/>
          <a:p>
            <a:pPr algn="l"/>
            <a:r>
              <a:rPr sz="1050" b="1" i="0">
                <a:solidFill>
                  <a:srgbClr val="140C12"/>
                </a:solidFill>
                <a:latin typeface="Aptos"/>
              </a:rPr>
              <a:t>Data | config | AI</a:t>
            </a:r>
          </a:p>
          <a:p>
            <a:pPr algn="l"/>
            <a:r>
              <a:rPr sz="850" b="0" i="0">
                <a:solidFill>
                  <a:srgbClr val="475569"/>
                </a:solidFill>
                <a:latin typeface="Aptos"/>
              </a:rPr>
              <a:t>stores · config · models</a:t>
            </a:r>
          </a:p>
        </p:txBody>
      </p:sp>
      <p:sp>
        <p:nvSpPr>
          <p:cNvPr id="20" name="Rounded Rectangle 19"/>
          <p:cNvSpPr/>
          <p:nvPr/>
        </p:nvSpPr>
        <p:spPr>
          <a:xfrm>
            <a:off x="502920" y="2286000"/>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1" name="Picture 20" descr="image11.png"/>
          <p:cNvPicPr>
            <a:picLocks noChangeAspect="1"/>
          </p:cNvPicPr>
          <p:nvPr/>
        </p:nvPicPr>
        <p:blipFill>
          <a:blip r:embed="rId6"/>
          <a:stretch>
            <a:fillRect/>
          </a:stretch>
        </p:blipFill>
        <p:spPr>
          <a:xfrm>
            <a:off x="1184148" y="2373689"/>
            <a:ext cx="237744" cy="190380"/>
          </a:xfrm>
          <a:prstGeom prst="rect">
            <a:avLst/>
          </a:prstGeom>
        </p:spPr>
      </p:pic>
      <p:sp>
        <p:nvSpPr>
          <p:cNvPr id="22" name="TextBox 21"/>
          <p:cNvSpPr txBox="1"/>
          <p:nvPr/>
        </p:nvSpPr>
        <p:spPr>
          <a:xfrm>
            <a:off x="502920" y="2560320"/>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Citizen</a:t>
            </a:r>
          </a:p>
          <a:p>
            <a:pPr algn="ctr"/>
            <a:r>
              <a:rPr sz="800" b="0" i="0">
                <a:solidFill>
                  <a:srgbClr val="140C12"/>
                </a:solidFill>
                <a:latin typeface="Aptos"/>
              </a:rPr>
              <a:t>files, tracks and replies in any language</a:t>
            </a:r>
          </a:p>
        </p:txBody>
      </p:sp>
      <p:sp>
        <p:nvSpPr>
          <p:cNvPr id="23" name="Rounded Rectangle 22"/>
          <p:cNvSpPr/>
          <p:nvPr/>
        </p:nvSpPr>
        <p:spPr>
          <a:xfrm>
            <a:off x="502920" y="3145536"/>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4" name="Picture 23" descr="image12.png"/>
          <p:cNvPicPr>
            <a:picLocks noChangeAspect="1"/>
          </p:cNvPicPr>
          <p:nvPr/>
        </p:nvPicPr>
        <p:blipFill>
          <a:blip r:embed="rId7"/>
          <a:stretch>
            <a:fillRect/>
          </a:stretch>
        </p:blipFill>
        <p:spPr>
          <a:xfrm>
            <a:off x="1199007" y="3209544"/>
            <a:ext cx="208026" cy="237744"/>
          </a:xfrm>
          <a:prstGeom prst="rect">
            <a:avLst/>
          </a:prstGeom>
        </p:spPr>
      </p:pic>
      <p:sp>
        <p:nvSpPr>
          <p:cNvPr id="25" name="TextBox 24"/>
          <p:cNvSpPr txBox="1"/>
          <p:nvPr/>
        </p:nvSpPr>
        <p:spPr>
          <a:xfrm>
            <a:off x="502920" y="3419856"/>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Department admin</a:t>
            </a:r>
          </a:p>
          <a:p>
            <a:pPr algn="ctr"/>
            <a:r>
              <a:rPr sz="800" b="0" i="0">
                <a:solidFill>
                  <a:srgbClr val="140C12"/>
                </a:solidFill>
                <a:latin typeface="Aptos"/>
              </a:rPr>
              <a:t>only its department and district</a:t>
            </a:r>
          </a:p>
        </p:txBody>
      </p:sp>
      <p:sp>
        <p:nvSpPr>
          <p:cNvPr id="26" name="Rounded Rectangle 25"/>
          <p:cNvSpPr/>
          <p:nvPr/>
        </p:nvSpPr>
        <p:spPr>
          <a:xfrm>
            <a:off x="502920" y="4005072"/>
            <a:ext cx="1600200" cy="749808"/>
          </a:xfrm>
          <a:prstGeom prst="roundRect">
            <a:avLst>
              <a:gd name="adj" fmla="val 9756"/>
            </a:avLst>
          </a:prstGeom>
          <a:solidFill>
            <a:srgbClr val="FFFFFF"/>
          </a:solidFill>
          <a:ln w="12700">
            <a:solidFill>
              <a:srgbClr val="7F7F7F"/>
            </a:solidFill>
          </a:ln>
          <a:effectLst/>
        </p:spPr>
        <p:txBody>
          <a:bodyPr rtlCol="0" anchor="ctr"/>
          <a:lstStyle/>
          <a:p>
            <a:pPr algn="ctr"/>
          </a:p>
        </p:txBody>
      </p:sp>
      <p:pic>
        <p:nvPicPr>
          <p:cNvPr id="27" name="Picture 26" descr="image13.png"/>
          <p:cNvPicPr>
            <a:picLocks noChangeAspect="1"/>
          </p:cNvPicPr>
          <p:nvPr/>
        </p:nvPicPr>
        <p:blipFill>
          <a:blip r:embed="rId8"/>
          <a:stretch>
            <a:fillRect/>
          </a:stretch>
        </p:blipFill>
        <p:spPr>
          <a:xfrm>
            <a:off x="1184148" y="4082081"/>
            <a:ext cx="237744" cy="211740"/>
          </a:xfrm>
          <a:prstGeom prst="rect">
            <a:avLst/>
          </a:prstGeom>
        </p:spPr>
      </p:pic>
      <p:sp>
        <p:nvSpPr>
          <p:cNvPr id="28" name="TextBox 27"/>
          <p:cNvSpPr txBox="1"/>
          <p:nvPr/>
        </p:nvSpPr>
        <p:spPr>
          <a:xfrm>
            <a:off x="502920" y="4279392"/>
            <a:ext cx="1600200" cy="475488"/>
          </a:xfrm>
          <a:prstGeom prst="rect">
            <a:avLst/>
          </a:prstGeom>
          <a:noFill/>
        </p:spPr>
        <p:txBody>
          <a:bodyPr wrap="square" lIns="27432" tIns="9144" rIns="27432" bIns="9144" anchor="ctr">
            <a:noAutofit/>
          </a:bodyPr>
          <a:lstStyle/>
          <a:p>
            <a:pPr algn="ctr"/>
            <a:r>
              <a:rPr sz="900" b="1" i="0">
                <a:solidFill>
                  <a:srgbClr val="140C12"/>
                </a:solidFill>
                <a:latin typeface="Aptos"/>
              </a:rPr>
              <a:t>District + super admin</a:t>
            </a:r>
          </a:p>
          <a:p>
            <a:pPr algn="ctr"/>
            <a:r>
              <a:rPr sz="800" b="0" i="0">
                <a:solidFill>
                  <a:srgbClr val="140C12"/>
                </a:solidFill>
                <a:latin typeface="Aptos"/>
              </a:rPr>
              <a:t>review queue, staff, rules, metrics</a:t>
            </a:r>
          </a:p>
        </p:txBody>
      </p:sp>
      <p:sp>
        <p:nvSpPr>
          <p:cNvPr id="29" name="Rounded Rectangle 28"/>
          <p:cNvSpPr/>
          <p:nvPr/>
        </p:nvSpPr>
        <p:spPr>
          <a:xfrm>
            <a:off x="2468880" y="2286000"/>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0" name="TextBox 29"/>
          <p:cNvSpPr txBox="1"/>
          <p:nvPr/>
        </p:nvSpPr>
        <p:spPr>
          <a:xfrm>
            <a:off x="2468880" y="2286000"/>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Register + email OTP</a:t>
            </a:r>
          </a:p>
        </p:txBody>
      </p:sp>
      <p:sp>
        <p:nvSpPr>
          <p:cNvPr id="31" name="Rounded Rectangle 30"/>
          <p:cNvSpPr/>
          <p:nvPr/>
        </p:nvSpPr>
        <p:spPr>
          <a:xfrm>
            <a:off x="2468880" y="2798064"/>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2" name="TextBox 31"/>
          <p:cNvSpPr txBox="1"/>
          <p:nvPr/>
        </p:nvSpPr>
        <p:spPr>
          <a:xfrm>
            <a:off x="2468880" y="2798064"/>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New complaint: photo, video, GPS</a:t>
            </a:r>
          </a:p>
        </p:txBody>
      </p:sp>
      <p:sp>
        <p:nvSpPr>
          <p:cNvPr id="33" name="Rounded Rectangle 32"/>
          <p:cNvSpPr/>
          <p:nvPr/>
        </p:nvSpPr>
        <p:spPr>
          <a:xfrm>
            <a:off x="2468880" y="3310128"/>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4" name="TextBox 33"/>
          <p:cNvSpPr txBox="1"/>
          <p:nvPr/>
        </p:nvSpPr>
        <p:spPr>
          <a:xfrm>
            <a:off x="2468880" y="3310128"/>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Track: evidence, reply, timeline</a:t>
            </a:r>
          </a:p>
        </p:txBody>
      </p:sp>
      <p:sp>
        <p:nvSpPr>
          <p:cNvPr id="35" name="Rounded Rectangle 34"/>
          <p:cNvSpPr/>
          <p:nvPr/>
        </p:nvSpPr>
        <p:spPr>
          <a:xfrm>
            <a:off x="2468880" y="3822191"/>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6" name="TextBox 35"/>
          <p:cNvSpPr txBox="1"/>
          <p:nvPr/>
        </p:nvSpPr>
        <p:spPr>
          <a:xfrm>
            <a:off x="2468880" y="3822191"/>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Queue: review / active / resolved</a:t>
            </a:r>
          </a:p>
        </p:txBody>
      </p:sp>
      <p:sp>
        <p:nvSpPr>
          <p:cNvPr id="37" name="Rounded Rectangle 36"/>
          <p:cNvSpPr/>
          <p:nvPr/>
        </p:nvSpPr>
        <p:spPr>
          <a:xfrm>
            <a:off x="2468880" y="4334256"/>
            <a:ext cx="2148840" cy="420624"/>
          </a:xfrm>
          <a:prstGeom prst="roundRect">
            <a:avLst>
              <a:gd name="adj" fmla="val 17391"/>
            </a:avLst>
          </a:prstGeom>
          <a:solidFill>
            <a:srgbClr val="FFFFFF"/>
          </a:solidFill>
          <a:ln w="12700">
            <a:solidFill>
              <a:srgbClr val="0070C0"/>
            </a:solidFill>
          </a:ln>
          <a:effectLst/>
        </p:spPr>
        <p:txBody>
          <a:bodyPr rtlCol="0" anchor="ctr"/>
          <a:lstStyle/>
          <a:p>
            <a:pPr algn="ctr"/>
          </a:p>
        </p:txBody>
      </p:sp>
      <p:sp>
        <p:nvSpPr>
          <p:cNvPr id="38" name="TextBox 37"/>
          <p:cNvSpPr txBox="1"/>
          <p:nvPr/>
        </p:nvSpPr>
        <p:spPr>
          <a:xfrm>
            <a:off x="2468880" y="4334256"/>
            <a:ext cx="2148840" cy="420624"/>
          </a:xfrm>
          <a:prstGeom prst="rect">
            <a:avLst/>
          </a:prstGeom>
          <a:noFill/>
        </p:spPr>
        <p:txBody>
          <a:bodyPr wrap="square" lIns="27432" tIns="9144" rIns="27432" bIns="9144" anchor="ctr">
            <a:noAutofit/>
          </a:bodyPr>
          <a:lstStyle/>
          <a:p>
            <a:pPr algn="ctr"/>
            <a:r>
              <a:rPr sz="950" b="1" i="0">
                <a:solidFill>
                  <a:srgbClr val="140C12"/>
                </a:solidFill>
                <a:latin typeface="Aptos"/>
              </a:rPr>
              <a:t>Admin: staff, rules, metrics</a:t>
            </a:r>
          </a:p>
        </p:txBody>
      </p:sp>
      <p:sp>
        <p:nvSpPr>
          <p:cNvPr id="39" name="Rounded Rectangle 38"/>
          <p:cNvSpPr/>
          <p:nvPr/>
        </p:nvSpPr>
        <p:spPr>
          <a:xfrm>
            <a:off x="4983480" y="2286000"/>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0" name="TextBox 39"/>
          <p:cNvSpPr txBox="1"/>
          <p:nvPr/>
        </p:nvSpPr>
        <p:spPr>
          <a:xfrm>
            <a:off x="4983480" y="2286000"/>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API layer</a:t>
            </a:r>
          </a:p>
          <a:p>
            <a:pPr algn="ctr"/>
            <a:r>
              <a:rPr sz="850" b="0" i="0">
                <a:solidFill>
                  <a:srgbClr val="140C12"/>
                </a:solidFill>
                <a:latin typeface="Aptos"/>
              </a:rPr>
              <a:t>JWT sessions | role scoping | OTP + argon2</a:t>
            </a:r>
          </a:p>
        </p:txBody>
      </p:sp>
      <p:sp>
        <p:nvSpPr>
          <p:cNvPr id="41" name="Rounded Rectangle 40"/>
          <p:cNvSpPr/>
          <p:nvPr/>
        </p:nvSpPr>
        <p:spPr>
          <a:xfrm>
            <a:off x="4983480" y="2798064"/>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2" name="TextBox 41"/>
          <p:cNvSpPr txBox="1"/>
          <p:nvPr/>
        </p:nvSpPr>
        <p:spPr>
          <a:xfrm>
            <a:off x="4983480" y="2798064"/>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Intake and reply</a:t>
            </a:r>
          </a:p>
          <a:p>
            <a:pPr algn="ctr"/>
            <a:r>
              <a:rPr sz="850" b="0" i="0">
                <a:solidFill>
                  <a:srgbClr val="140C12"/>
                </a:solidFill>
                <a:latin typeface="Aptos"/>
              </a:rPr>
              <a:t>validate → store raw → ack email → queue</a:t>
            </a:r>
          </a:p>
        </p:txBody>
      </p:sp>
      <p:sp>
        <p:nvSpPr>
          <p:cNvPr id="43" name="Rounded Rectangle 42"/>
          <p:cNvSpPr/>
          <p:nvPr/>
        </p:nvSpPr>
        <p:spPr>
          <a:xfrm>
            <a:off x="4983480" y="3310128"/>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4" name="TextBox 43"/>
          <p:cNvSpPr txBox="1"/>
          <p:nvPr/>
        </p:nvSpPr>
        <p:spPr>
          <a:xfrm>
            <a:off x="4983480" y="3310128"/>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Analysis worker</a:t>
            </a:r>
          </a:p>
          <a:p>
            <a:pPr algn="ctr"/>
            <a:r>
              <a:rPr sz="850" b="0" i="0">
                <a:solidFill>
                  <a:srgbClr val="140C12"/>
                </a:solidFill>
                <a:latin typeface="Aptos"/>
              </a:rPr>
              <a:t>PII mask → geocode → Gemma 3 → embed → dedup</a:t>
            </a:r>
          </a:p>
        </p:txBody>
      </p:sp>
      <p:sp>
        <p:nvSpPr>
          <p:cNvPr id="45" name="Rounded Rectangle 44"/>
          <p:cNvSpPr/>
          <p:nvPr/>
        </p:nvSpPr>
        <p:spPr>
          <a:xfrm>
            <a:off x="4983480" y="3822191"/>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6" name="TextBox 45"/>
          <p:cNvSpPr txBox="1"/>
          <p:nvPr/>
        </p:nvSpPr>
        <p:spPr>
          <a:xfrm>
            <a:off x="4983480" y="3822191"/>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Rules, decision, SLA watch</a:t>
            </a:r>
          </a:p>
          <a:p>
            <a:pPr algn="ctr"/>
            <a:r>
              <a:rPr sz="850" b="0" i="0">
                <a:solidFill>
                  <a:srgbClr val="140C12"/>
                </a:solidFill>
                <a:latin typeface="Aptos"/>
              </a:rPr>
              <a:t>YAML rules | second opinion | office + due time | overdue</a:t>
            </a:r>
          </a:p>
        </p:txBody>
      </p:sp>
      <p:sp>
        <p:nvSpPr>
          <p:cNvPr id="47" name="Rounded Rectangle 46"/>
          <p:cNvSpPr/>
          <p:nvPr/>
        </p:nvSpPr>
        <p:spPr>
          <a:xfrm>
            <a:off x="4983480" y="4334256"/>
            <a:ext cx="3429000" cy="457200"/>
          </a:xfrm>
          <a:prstGeom prst="roundRect">
            <a:avLst>
              <a:gd name="adj" fmla="val 16000"/>
            </a:avLst>
          </a:prstGeom>
          <a:solidFill>
            <a:srgbClr val="FFFFFF"/>
          </a:solidFill>
          <a:ln w="12700">
            <a:solidFill>
              <a:srgbClr val="6B4C9A"/>
            </a:solidFill>
          </a:ln>
          <a:effectLst/>
        </p:spPr>
        <p:txBody>
          <a:bodyPr rtlCol="0" anchor="ctr"/>
          <a:lstStyle/>
          <a:p>
            <a:pPr algn="ctr"/>
          </a:p>
        </p:txBody>
      </p:sp>
      <p:sp>
        <p:nvSpPr>
          <p:cNvPr id="48" name="TextBox 47"/>
          <p:cNvSpPr txBox="1"/>
          <p:nvPr/>
        </p:nvSpPr>
        <p:spPr>
          <a:xfrm>
            <a:off x="4983480" y="4334256"/>
            <a:ext cx="3429000" cy="457200"/>
          </a:xfrm>
          <a:prstGeom prst="rect">
            <a:avLst/>
          </a:prstGeom>
          <a:noFill/>
        </p:spPr>
        <p:txBody>
          <a:bodyPr wrap="square" lIns="27432" tIns="9144" rIns="27432" bIns="9144" anchor="ctr">
            <a:noAutofit/>
          </a:bodyPr>
          <a:lstStyle/>
          <a:p>
            <a:pPr algn="ctr"/>
            <a:r>
              <a:rPr sz="950" b="1" i="0">
                <a:solidFill>
                  <a:srgbClr val="140C12"/>
                </a:solidFill>
                <a:latin typeface="Aptos"/>
              </a:rPr>
              <a:t>Review and outbox</a:t>
            </a:r>
          </a:p>
          <a:p>
            <a:pPr algn="ctr"/>
            <a:r>
              <a:rPr sz="850" b="0" i="0">
                <a:solidFill>
                  <a:srgbClr val="140C12"/>
                </a:solidFill>
                <a:latin typeface="Aptos"/>
              </a:rPr>
              <a:t>decisions, overrides | citizen, department, district emails</a:t>
            </a:r>
          </a:p>
        </p:txBody>
      </p:sp>
      <p:sp>
        <p:nvSpPr>
          <p:cNvPr id="49" name="Rounded Rectangle 48"/>
          <p:cNvSpPr/>
          <p:nvPr/>
        </p:nvSpPr>
        <p:spPr>
          <a:xfrm>
            <a:off x="8778240" y="228600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0" name="TextBox 49"/>
          <p:cNvSpPr txBox="1"/>
          <p:nvPr/>
        </p:nvSpPr>
        <p:spPr>
          <a:xfrm>
            <a:off x="8778240" y="228600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Local AI (Ollama)</a:t>
            </a:r>
          </a:p>
          <a:p>
            <a:pPr algn="ctr"/>
            <a:r>
              <a:rPr sz="850" b="0" i="0">
                <a:solidFill>
                  <a:srgbClr val="140C12"/>
                </a:solidFill>
                <a:latin typeface="Aptos"/>
              </a:rPr>
              <a:t>Gemma 3 4B text + vision | bge-m3 | NumPy classifier</a:t>
            </a:r>
          </a:p>
        </p:txBody>
      </p:sp>
      <p:sp>
        <p:nvSpPr>
          <p:cNvPr id="51" name="Rounded Rectangle 50"/>
          <p:cNvSpPr/>
          <p:nvPr/>
        </p:nvSpPr>
        <p:spPr>
          <a:xfrm>
            <a:off x="8778240" y="292608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2" name="TextBox 51"/>
          <p:cNvSpPr txBox="1"/>
          <p:nvPr/>
        </p:nvSpPr>
        <p:spPr>
          <a:xfrm>
            <a:off x="8778240" y="292608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PostgreSQL 17 + pgvector</a:t>
            </a:r>
          </a:p>
          <a:p>
            <a:pPr algn="ctr"/>
            <a:r>
              <a:rPr sz="850" b="0" i="0">
                <a:solidFill>
                  <a:srgbClr val="140C12"/>
                </a:solidFill>
                <a:latin typeface="Aptos"/>
              </a:rPr>
              <a:t>complaints | analyses | HNSW duplicate index</a:t>
            </a:r>
          </a:p>
        </p:txBody>
      </p:sp>
      <p:sp>
        <p:nvSpPr>
          <p:cNvPr id="53" name="Rounded Rectangle 52"/>
          <p:cNvSpPr/>
          <p:nvPr/>
        </p:nvSpPr>
        <p:spPr>
          <a:xfrm>
            <a:off x="8778240" y="356616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4" name="TextBox 53"/>
          <p:cNvSpPr txBox="1"/>
          <p:nvPr/>
        </p:nvSpPr>
        <p:spPr>
          <a:xfrm>
            <a:off x="8778240" y="356616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Media + config</a:t>
            </a:r>
          </a:p>
          <a:p>
            <a:pPr algn="ctr"/>
            <a:r>
              <a:rPr sz="850" b="0" i="0">
                <a:solidFill>
                  <a:srgbClr val="140C12"/>
                </a:solidFill>
                <a:latin typeface="Aptos"/>
              </a:rPr>
              <a:t>photos/videos on disk | taxonomy, rules, 760 TN offices</a:t>
            </a:r>
          </a:p>
        </p:txBody>
      </p:sp>
      <p:sp>
        <p:nvSpPr>
          <p:cNvPr id="55" name="Rounded Rectangle 54"/>
          <p:cNvSpPr/>
          <p:nvPr/>
        </p:nvSpPr>
        <p:spPr>
          <a:xfrm>
            <a:off x="8778240" y="4206240"/>
            <a:ext cx="2880360" cy="548640"/>
          </a:xfrm>
          <a:prstGeom prst="roundRect">
            <a:avLst>
              <a:gd name="adj" fmla="val 13333"/>
            </a:avLst>
          </a:prstGeom>
          <a:solidFill>
            <a:srgbClr val="FFFFFF"/>
          </a:solidFill>
          <a:ln w="12700">
            <a:solidFill>
              <a:srgbClr val="00796B"/>
            </a:solidFill>
          </a:ln>
          <a:effectLst/>
        </p:spPr>
        <p:txBody>
          <a:bodyPr rtlCol="0" anchor="ctr"/>
          <a:lstStyle/>
          <a:p>
            <a:pPr algn="ctr"/>
          </a:p>
        </p:txBody>
      </p:sp>
      <p:sp>
        <p:nvSpPr>
          <p:cNvPr id="56" name="TextBox 55"/>
          <p:cNvSpPr txBox="1"/>
          <p:nvPr/>
        </p:nvSpPr>
        <p:spPr>
          <a:xfrm>
            <a:off x="8778240" y="4206240"/>
            <a:ext cx="2880360" cy="548640"/>
          </a:xfrm>
          <a:prstGeom prst="rect">
            <a:avLst/>
          </a:prstGeom>
          <a:noFill/>
        </p:spPr>
        <p:txBody>
          <a:bodyPr wrap="square" lIns="27432" tIns="9144" rIns="27432" bIns="9144" anchor="ctr">
            <a:noAutofit/>
          </a:bodyPr>
          <a:lstStyle/>
          <a:p>
            <a:pPr algn="ctr"/>
            <a:r>
              <a:rPr sz="950" b="1" i="0">
                <a:solidFill>
                  <a:srgbClr val="140C12"/>
                </a:solidFill>
                <a:latin typeface="Aptos"/>
              </a:rPr>
              <a:t>Mailpit / SMTP</a:t>
            </a:r>
          </a:p>
          <a:p>
            <a:pPr algn="ctr"/>
            <a:r>
              <a:rPr sz="850" b="0" i="0">
                <a:solidFill>
                  <a:srgbClr val="140C12"/>
                </a:solidFill>
                <a:latin typeface="Aptos"/>
              </a:rPr>
              <a:t>OTP + status emails | every send logged</a:t>
            </a:r>
          </a:p>
        </p:txBody>
      </p:sp>
      <p:cxnSp>
        <p:nvCxnSpPr>
          <p:cNvPr id="57" name="Connector 56"/>
          <p:cNvCxnSpPr/>
          <p:nvPr/>
        </p:nvCxnSpPr>
        <p:spPr>
          <a:xfrm>
            <a:off x="2121408" y="2651760"/>
            <a:ext cx="237744" cy="0"/>
          </a:xfrm>
          <a:prstGeom prst="line">
            <a:avLst/>
          </a:prstGeom>
          <a:ln w="12700">
            <a:solidFill>
              <a:srgbClr val="1F497D"/>
            </a:solidFill>
            <a:headEnd type="triangle" w="med" len="med"/>
            <a:tailEnd type="triangle" w="med" len="med"/>
          </a:ln>
        </p:spPr>
      </p:cxnSp>
      <p:cxnSp>
        <p:nvCxnSpPr>
          <p:cNvPr id="58" name="Connector 57"/>
          <p:cNvCxnSpPr/>
          <p:nvPr/>
        </p:nvCxnSpPr>
        <p:spPr>
          <a:xfrm>
            <a:off x="2121408" y="3520440"/>
            <a:ext cx="237744" cy="0"/>
          </a:xfrm>
          <a:prstGeom prst="line">
            <a:avLst/>
          </a:prstGeom>
          <a:ln w="12700">
            <a:solidFill>
              <a:srgbClr val="1F497D"/>
            </a:solidFill>
            <a:headEnd type="triangle" w="med" len="med"/>
            <a:tailEnd type="triangle" w="med" len="med"/>
          </a:ln>
        </p:spPr>
      </p:cxnSp>
      <p:cxnSp>
        <p:nvCxnSpPr>
          <p:cNvPr id="59" name="Connector 58"/>
          <p:cNvCxnSpPr/>
          <p:nvPr/>
        </p:nvCxnSpPr>
        <p:spPr>
          <a:xfrm>
            <a:off x="2121408" y="4389120"/>
            <a:ext cx="237744" cy="0"/>
          </a:xfrm>
          <a:prstGeom prst="line">
            <a:avLst/>
          </a:prstGeom>
          <a:ln w="12700">
            <a:solidFill>
              <a:srgbClr val="1F497D"/>
            </a:solidFill>
            <a:headEnd type="triangle" w="med" len="med"/>
            <a:tailEnd type="triangle" w="med" len="med"/>
          </a:ln>
        </p:spPr>
      </p:cxnSp>
      <p:cxnSp>
        <p:nvCxnSpPr>
          <p:cNvPr id="60" name="Connector 59"/>
          <p:cNvCxnSpPr/>
          <p:nvPr/>
        </p:nvCxnSpPr>
        <p:spPr>
          <a:xfrm>
            <a:off x="4636008" y="2496312"/>
            <a:ext cx="237744" cy="0"/>
          </a:xfrm>
          <a:prstGeom prst="line">
            <a:avLst/>
          </a:prstGeom>
          <a:ln w="12700">
            <a:solidFill>
              <a:srgbClr val="1F497D"/>
            </a:solidFill>
            <a:headEnd type="triangle" w="med" len="med"/>
            <a:tailEnd type="triangle" w="med" len="med"/>
          </a:ln>
        </p:spPr>
      </p:cxnSp>
      <p:cxnSp>
        <p:nvCxnSpPr>
          <p:cNvPr id="61" name="Connector 60"/>
          <p:cNvCxnSpPr/>
          <p:nvPr/>
        </p:nvCxnSpPr>
        <p:spPr>
          <a:xfrm>
            <a:off x="4636008" y="3520440"/>
            <a:ext cx="237744" cy="0"/>
          </a:xfrm>
          <a:prstGeom prst="line">
            <a:avLst/>
          </a:prstGeom>
          <a:ln w="12700">
            <a:solidFill>
              <a:srgbClr val="1F497D"/>
            </a:solidFill>
            <a:headEnd type="triangle" w="med" len="med"/>
            <a:tailEnd type="triangle" w="med" len="med"/>
          </a:ln>
        </p:spPr>
      </p:cxnSp>
      <p:cxnSp>
        <p:nvCxnSpPr>
          <p:cNvPr id="62" name="Connector 61"/>
          <p:cNvCxnSpPr/>
          <p:nvPr/>
        </p:nvCxnSpPr>
        <p:spPr>
          <a:xfrm>
            <a:off x="4636008" y="4544568"/>
            <a:ext cx="237744" cy="0"/>
          </a:xfrm>
          <a:prstGeom prst="line">
            <a:avLst/>
          </a:prstGeom>
          <a:ln w="12700">
            <a:solidFill>
              <a:srgbClr val="1F497D"/>
            </a:solidFill>
            <a:headEnd type="triangle" w="med" len="med"/>
            <a:tailEnd type="triangle" w="med" len="med"/>
          </a:ln>
        </p:spPr>
      </p:cxnSp>
      <p:cxnSp>
        <p:nvCxnSpPr>
          <p:cNvPr id="63" name="Connector 62"/>
          <p:cNvCxnSpPr/>
          <p:nvPr/>
        </p:nvCxnSpPr>
        <p:spPr>
          <a:xfrm>
            <a:off x="8430768" y="2560320"/>
            <a:ext cx="237744" cy="0"/>
          </a:xfrm>
          <a:prstGeom prst="line">
            <a:avLst/>
          </a:prstGeom>
          <a:ln w="12700">
            <a:solidFill>
              <a:srgbClr val="1F497D"/>
            </a:solidFill>
            <a:headEnd type="triangle" w="med" len="med"/>
            <a:tailEnd type="triangle" w="med" len="med"/>
          </a:ln>
        </p:spPr>
      </p:cxnSp>
      <p:cxnSp>
        <p:nvCxnSpPr>
          <p:cNvPr id="64" name="Connector 63"/>
          <p:cNvCxnSpPr/>
          <p:nvPr/>
        </p:nvCxnSpPr>
        <p:spPr>
          <a:xfrm>
            <a:off x="8430768" y="3200400"/>
            <a:ext cx="237744" cy="0"/>
          </a:xfrm>
          <a:prstGeom prst="line">
            <a:avLst/>
          </a:prstGeom>
          <a:ln w="12700">
            <a:solidFill>
              <a:srgbClr val="1F497D"/>
            </a:solidFill>
            <a:headEnd type="triangle" w="med" len="med"/>
            <a:tailEnd type="triangle" w="med" len="med"/>
          </a:ln>
        </p:spPr>
      </p:cxnSp>
      <p:cxnSp>
        <p:nvCxnSpPr>
          <p:cNvPr id="65" name="Connector 64"/>
          <p:cNvCxnSpPr/>
          <p:nvPr/>
        </p:nvCxnSpPr>
        <p:spPr>
          <a:xfrm>
            <a:off x="8430768" y="3840480"/>
            <a:ext cx="237744" cy="0"/>
          </a:xfrm>
          <a:prstGeom prst="line">
            <a:avLst/>
          </a:prstGeom>
          <a:ln w="12700">
            <a:solidFill>
              <a:srgbClr val="1F497D"/>
            </a:solidFill>
            <a:headEnd type="triangle" w="med" len="med"/>
            <a:tailEnd type="triangle" w="med" len="med"/>
          </a:ln>
        </p:spPr>
      </p:cxnSp>
      <p:cxnSp>
        <p:nvCxnSpPr>
          <p:cNvPr id="66" name="Connector 65"/>
          <p:cNvCxnSpPr/>
          <p:nvPr/>
        </p:nvCxnSpPr>
        <p:spPr>
          <a:xfrm>
            <a:off x="8430768" y="4480560"/>
            <a:ext cx="237744" cy="0"/>
          </a:xfrm>
          <a:prstGeom prst="line">
            <a:avLst/>
          </a:prstGeom>
          <a:ln w="12700">
            <a:solidFill>
              <a:srgbClr val="1F497D"/>
            </a:solidFill>
            <a:headEnd type="triangle" w="med" len="med"/>
            <a:tailEnd type="triangle" w="med" len="med"/>
          </a:ln>
        </p:spPr>
      </p:cxnSp>
      <p:sp>
        <p:nvSpPr>
          <p:cNvPr id="67" name="Rounded Rectangle 66"/>
          <p:cNvSpPr/>
          <p:nvPr/>
        </p:nvSpPr>
        <p:spPr>
          <a:xfrm>
            <a:off x="411480" y="5010912"/>
            <a:ext cx="7635240" cy="1344168"/>
          </a:xfrm>
          <a:prstGeom prst="roundRect">
            <a:avLst>
              <a:gd name="adj" fmla="val 8163"/>
            </a:avLst>
          </a:prstGeom>
          <a:solidFill>
            <a:srgbClr val="EAF2FA"/>
          </a:solidFill>
          <a:ln w="12700">
            <a:solidFill>
              <a:srgbClr val="1F497D"/>
            </a:solidFill>
          </a:ln>
          <a:effectLst/>
        </p:spPr>
        <p:txBody>
          <a:bodyPr rtlCol="0" anchor="ctr"/>
          <a:lstStyle/>
          <a:p>
            <a:pPr algn="ctr"/>
          </a:p>
        </p:txBody>
      </p:sp>
      <p:sp>
        <p:nvSpPr>
          <p:cNvPr id="68" name="Rounded Rectangle 67"/>
          <p:cNvSpPr/>
          <p:nvPr/>
        </p:nvSpPr>
        <p:spPr>
          <a:xfrm>
            <a:off x="411480" y="5010912"/>
            <a:ext cx="7635240" cy="347472"/>
          </a:xfrm>
          <a:prstGeom prst="roundRect">
            <a:avLst>
              <a:gd name="adj" fmla="val 31578"/>
            </a:avLst>
          </a:prstGeom>
          <a:solidFill>
            <a:srgbClr val="1F497D"/>
          </a:solidFill>
          <a:ln>
            <a:noFill/>
          </a:ln>
          <a:effectLst/>
        </p:spPr>
        <p:txBody>
          <a:bodyPr rtlCol="0" anchor="ctr"/>
          <a:lstStyle/>
          <a:p>
            <a:pPr algn="ctr"/>
          </a:p>
        </p:txBody>
      </p:sp>
      <p:sp>
        <p:nvSpPr>
          <p:cNvPr id="69" name="Rectangle 68"/>
          <p:cNvSpPr/>
          <p:nvPr/>
        </p:nvSpPr>
        <p:spPr>
          <a:xfrm>
            <a:off x="411480" y="5184648"/>
            <a:ext cx="7635240" cy="173736"/>
          </a:xfrm>
          <a:prstGeom prst="rect">
            <a:avLst/>
          </a:prstGeom>
          <a:solidFill>
            <a:srgbClr val="1F497D"/>
          </a:solidFill>
          <a:ln>
            <a:noFill/>
          </a:ln>
          <a:effectLst/>
        </p:spPr>
        <p:txBody>
          <a:bodyPr rtlCol="0" anchor="ctr"/>
          <a:lstStyle/>
          <a:p>
            <a:pPr algn="ctr"/>
          </a:p>
        </p:txBody>
      </p:sp>
      <p:pic>
        <p:nvPicPr>
          <p:cNvPr id="70" name="Picture 69" descr="image27.png"/>
          <p:cNvPicPr>
            <a:picLocks noChangeAspect="1"/>
          </p:cNvPicPr>
          <p:nvPr/>
        </p:nvPicPr>
        <p:blipFill>
          <a:blip r:embed="rId9"/>
          <a:stretch>
            <a:fillRect/>
          </a:stretch>
        </p:blipFill>
        <p:spPr>
          <a:xfrm>
            <a:off x="539496" y="5086921"/>
            <a:ext cx="219456" cy="195453"/>
          </a:xfrm>
          <a:prstGeom prst="rect">
            <a:avLst/>
          </a:prstGeom>
        </p:spPr>
      </p:pic>
      <p:sp>
        <p:nvSpPr>
          <p:cNvPr id="71" name="TextBox 70"/>
          <p:cNvSpPr txBox="1"/>
          <p:nvPr/>
        </p:nvSpPr>
        <p:spPr>
          <a:xfrm>
            <a:off x="868680" y="5010912"/>
            <a:ext cx="7086600" cy="347472"/>
          </a:xfrm>
          <a:prstGeom prst="rect">
            <a:avLst/>
          </a:prstGeom>
          <a:noFill/>
        </p:spPr>
        <p:txBody>
          <a:bodyPr wrap="square" lIns="18288" tIns="0" rIns="18288" bIns="0" anchor="ctr">
            <a:noAutofit/>
          </a:bodyPr>
          <a:lstStyle/>
          <a:p>
            <a:pPr algn="l"/>
            <a:r>
              <a:rPr sz="1050" b="1" i="0">
                <a:solidFill>
                  <a:srgbClr val="FFFFFF"/>
                </a:solidFill>
                <a:latin typeface="Aptos"/>
              </a:rPr>
              <a:t>Data flow</a:t>
            </a:r>
          </a:p>
        </p:txBody>
      </p:sp>
      <p:sp>
        <p:nvSpPr>
          <p:cNvPr id="72" name="TextBox 71"/>
          <p:cNvSpPr txBox="1"/>
          <p:nvPr/>
        </p:nvSpPr>
        <p:spPr>
          <a:xfrm>
            <a:off x="502920" y="5413248"/>
            <a:ext cx="7452360" cy="905255"/>
          </a:xfrm>
          <a:prstGeom prst="rect">
            <a:avLst/>
          </a:prstGeom>
          <a:noFill/>
        </p:spPr>
        <p:txBody>
          <a:bodyPr wrap="square" lIns="54864" tIns="27432" rIns="54864" bIns="27432" anchor="t">
            <a:noAutofit/>
          </a:bodyPr>
          <a:lstStyle/>
          <a:p>
            <a:pPr algn="l">
              <a:spcAft>
                <a:spcPts val="200"/>
              </a:spcAft>
            </a:pPr>
            <a:r>
              <a:rPr sz="850" b="1" i="0">
                <a:solidFill>
                  <a:srgbClr val="1F497D"/>
                </a:solidFill>
                <a:latin typeface="Aptos"/>
              </a:rPr>
              <a:t>Intake: </a:t>
            </a:r>
            <a:r>
              <a:rPr sz="850" b="0" i="0">
                <a:solidFill>
                  <a:srgbClr val="140C12"/>
                </a:solidFill>
                <a:latin typeface="Aptos"/>
              </a:rPr>
              <a:t>the React app calls the FastAPI API with a JWT; raw text, media and location are stored, an acknowledgement email goes out and the job is queued, all in under 1 s.</a:t>
            </a:r>
          </a:p>
          <a:p>
            <a:pPr algn="l">
              <a:spcAft>
                <a:spcPts val="200"/>
              </a:spcAft>
            </a:pPr>
            <a:r>
              <a:rPr sz="850" b="1" i="0">
                <a:solidFill>
                  <a:srgbClr val="1F497D"/>
                </a:solidFill>
                <a:latin typeface="Aptos"/>
              </a:rPr>
              <a:t>Worker: </a:t>
            </a:r>
            <a:r>
              <a:rPr sz="850" b="0" i="0">
                <a:solidFill>
                  <a:srgbClr val="140C12"/>
                </a:solidFill>
                <a:latin typeface="Aptos"/>
              </a:rPr>
              <a:t>language hint → PII mask → offline geocode → Gemma 3 (text + photo, JSON schema) → bge-m3 embedding → pgvector duplicate search → second opinion → rules → decision; writes analysis, decision and status event, then emails the citizen.</a:t>
            </a:r>
          </a:p>
          <a:p>
            <a:pPr algn="l"/>
            <a:r>
              <a:rPr sz="850" b="1" i="0">
                <a:solidFill>
                  <a:srgbClr val="1F497D"/>
                </a:solidFill>
                <a:latin typeface="Aptos"/>
              </a:rPr>
              <a:t>Review: </a:t>
            </a:r>
            <a:r>
              <a:rPr sz="850" b="0" i="0">
                <a:solidFill>
                  <a:srgbClr val="140C12"/>
                </a:solidFill>
                <a:latin typeface="Aptos"/>
              </a:rPr>
              <a:t>the officer accepts, reassigns, merges or asks for info; every action is a status event the citizen can follow on the tracking page.</a:t>
            </a:r>
          </a:p>
        </p:txBody>
      </p:sp>
      <p:sp>
        <p:nvSpPr>
          <p:cNvPr id="73" name="Rounded Rectangle 72"/>
          <p:cNvSpPr/>
          <p:nvPr/>
        </p:nvSpPr>
        <p:spPr>
          <a:xfrm>
            <a:off x="8229600" y="5010912"/>
            <a:ext cx="3520440" cy="1344168"/>
          </a:xfrm>
          <a:prstGeom prst="roundRect">
            <a:avLst>
              <a:gd name="adj" fmla="val 8163"/>
            </a:avLst>
          </a:prstGeom>
          <a:solidFill>
            <a:srgbClr val="FFF2CC"/>
          </a:solidFill>
          <a:ln w="12700">
            <a:solidFill>
              <a:srgbClr val="C55A11"/>
            </a:solidFill>
          </a:ln>
          <a:effectLst/>
        </p:spPr>
        <p:txBody>
          <a:bodyPr rtlCol="0" anchor="ctr"/>
          <a:lstStyle/>
          <a:p>
            <a:pPr algn="ctr"/>
          </a:p>
        </p:txBody>
      </p:sp>
      <p:sp>
        <p:nvSpPr>
          <p:cNvPr id="74" name="Rounded Rectangle 73"/>
          <p:cNvSpPr/>
          <p:nvPr/>
        </p:nvSpPr>
        <p:spPr>
          <a:xfrm>
            <a:off x="8229600" y="5010912"/>
            <a:ext cx="3520440" cy="347472"/>
          </a:xfrm>
          <a:prstGeom prst="roundRect">
            <a:avLst>
              <a:gd name="adj" fmla="val 31578"/>
            </a:avLst>
          </a:prstGeom>
          <a:solidFill>
            <a:srgbClr val="C55A11"/>
          </a:solidFill>
          <a:ln>
            <a:noFill/>
          </a:ln>
          <a:effectLst/>
        </p:spPr>
        <p:txBody>
          <a:bodyPr rtlCol="0" anchor="ctr"/>
          <a:lstStyle/>
          <a:p>
            <a:pPr algn="ctr"/>
          </a:p>
        </p:txBody>
      </p:sp>
      <p:sp>
        <p:nvSpPr>
          <p:cNvPr id="75" name="Rectangle 74"/>
          <p:cNvSpPr/>
          <p:nvPr/>
        </p:nvSpPr>
        <p:spPr>
          <a:xfrm>
            <a:off x="8229600" y="5184648"/>
            <a:ext cx="3520440" cy="173736"/>
          </a:xfrm>
          <a:prstGeom prst="rect">
            <a:avLst/>
          </a:prstGeom>
          <a:solidFill>
            <a:srgbClr val="C55A11"/>
          </a:solidFill>
          <a:ln>
            <a:noFill/>
          </a:ln>
          <a:effectLst/>
        </p:spPr>
        <p:txBody>
          <a:bodyPr rtlCol="0" anchor="ctr"/>
          <a:lstStyle/>
          <a:p>
            <a:pPr algn="ctr"/>
          </a:p>
        </p:txBody>
      </p:sp>
      <p:pic>
        <p:nvPicPr>
          <p:cNvPr id="76" name="Picture 75" descr="image26.png"/>
          <p:cNvPicPr>
            <a:picLocks noChangeAspect="1"/>
          </p:cNvPicPr>
          <p:nvPr/>
        </p:nvPicPr>
        <p:blipFill>
          <a:blip r:embed="rId10"/>
          <a:stretch>
            <a:fillRect/>
          </a:stretch>
        </p:blipFill>
        <p:spPr>
          <a:xfrm>
            <a:off x="8357616" y="5074920"/>
            <a:ext cx="219456" cy="219456"/>
          </a:xfrm>
          <a:prstGeom prst="rect">
            <a:avLst/>
          </a:prstGeom>
        </p:spPr>
      </p:pic>
      <p:sp>
        <p:nvSpPr>
          <p:cNvPr id="77" name="TextBox 76"/>
          <p:cNvSpPr txBox="1"/>
          <p:nvPr/>
        </p:nvSpPr>
        <p:spPr>
          <a:xfrm>
            <a:off x="8686800" y="5010912"/>
            <a:ext cx="2971800" cy="347472"/>
          </a:xfrm>
          <a:prstGeom prst="rect">
            <a:avLst/>
          </a:prstGeom>
          <a:noFill/>
        </p:spPr>
        <p:txBody>
          <a:bodyPr wrap="square" lIns="18288" tIns="0" rIns="18288" bIns="0" anchor="ctr">
            <a:noAutofit/>
          </a:bodyPr>
          <a:lstStyle/>
          <a:p>
            <a:pPr algn="l"/>
            <a:r>
              <a:rPr sz="1050" b="1" i="0">
                <a:solidFill>
                  <a:srgbClr val="FFFFFF"/>
                </a:solidFill>
                <a:latin typeface="Aptos"/>
              </a:rPr>
              <a:t>Failure handling</a:t>
            </a:r>
          </a:p>
        </p:txBody>
      </p:sp>
      <p:sp>
        <p:nvSpPr>
          <p:cNvPr id="78" name="TextBox 77"/>
          <p:cNvSpPr txBox="1"/>
          <p:nvPr/>
        </p:nvSpPr>
        <p:spPr>
          <a:xfrm>
            <a:off x="8321040" y="5413248"/>
            <a:ext cx="3337560" cy="905255"/>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Ollama timeout or error: </a:t>
            </a:r>
            <a:r>
              <a:rPr sz="850" b="0" i="0">
                <a:solidFill>
                  <a:srgbClr val="140C12"/>
                </a:solidFill>
                <a:latin typeface="Aptos"/>
              </a:rPr>
              <a:t>complaint goes to the review queue as 'awaiting analysis'</a:t>
            </a:r>
          </a:p>
          <a:p>
            <a:pPr algn="l" marL="146304" indent="-146304">
              <a:spcAft>
                <a:spcPts val="300"/>
              </a:spcAft>
              <a:buFont typeface="Arial"/>
              <a:buChar char="•"/>
            </a:pPr>
            <a:r>
              <a:rPr sz="850" b="1" i="0">
                <a:solidFill>
                  <a:srgbClr val="140C12"/>
                </a:solidFill>
                <a:latin typeface="Aptos"/>
              </a:rPr>
              <a:t>Email: </a:t>
            </a:r>
            <a:r>
              <a:rPr sz="850" b="0" i="0">
                <a:solidFill>
                  <a:srgbClr val="140C12"/>
                </a:solidFill>
                <a:latin typeface="Aptos"/>
              </a:rPr>
              <a:t>outbox thread, retries, never blocks a request; overdue cases escalate to the district admin</a:t>
            </a:r>
          </a:p>
          <a:p>
            <a:pPr algn="l" marL="146304" indent="-146304">
              <a:spcAft>
                <a:spcPts val="300"/>
              </a:spcAft>
              <a:buFont typeface="Arial"/>
              <a:buChar char="•"/>
            </a:pPr>
            <a:r>
              <a:rPr sz="850" b="1" i="0">
                <a:solidFill>
                  <a:srgbClr val="140C12"/>
                </a:solidFill>
                <a:latin typeface="Aptos"/>
              </a:rPr>
              <a:t>Full diagrams: </a:t>
            </a:r>
            <a:r>
              <a:rPr sz="850" b="0" i="0">
                <a:solidFill>
                  <a:srgbClr val="140C12"/>
                </a:solidFill>
                <a:latin typeface="Aptos"/>
              </a:rPr>
              <a:t>docs/03-system-architecture.md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Rounded Rectangle 6"/>
          <p:cNvSpPr/>
          <p:nvPr/>
        </p:nvSpPr>
        <p:spPr>
          <a:xfrm>
            <a:off x="411480" y="1371600"/>
            <a:ext cx="3657600" cy="1920240"/>
          </a:xfrm>
          <a:prstGeom prst="roundRect">
            <a:avLst>
              <a:gd name="adj" fmla="val 5714"/>
            </a:avLst>
          </a:prstGeom>
          <a:solidFill>
            <a:srgbClr val="EFF6FF"/>
          </a:solidFill>
          <a:ln w="12700">
            <a:solidFill>
              <a:srgbClr val="2563EB"/>
            </a:solidFill>
          </a:ln>
          <a:effectLst/>
        </p:spPr>
        <p:txBody>
          <a:bodyPr rtlCol="0" anchor="ctr"/>
          <a:lstStyle/>
          <a:p>
            <a:pPr algn="ctr"/>
          </a:p>
        </p:txBody>
      </p:sp>
      <p:sp>
        <p:nvSpPr>
          <p:cNvPr id="8" name="Rounded Rectangle 7"/>
          <p:cNvSpPr/>
          <p:nvPr/>
        </p:nvSpPr>
        <p:spPr>
          <a:xfrm>
            <a:off x="411480" y="1371600"/>
            <a:ext cx="3657600" cy="347472"/>
          </a:xfrm>
          <a:prstGeom prst="roundRect">
            <a:avLst>
              <a:gd name="adj" fmla="val 31578"/>
            </a:avLst>
          </a:prstGeom>
          <a:solidFill>
            <a:srgbClr val="2563EB"/>
          </a:solidFill>
          <a:ln>
            <a:noFill/>
          </a:ln>
          <a:effectLst/>
        </p:spPr>
        <p:txBody>
          <a:bodyPr rtlCol="0" anchor="ctr"/>
          <a:lstStyle/>
          <a:p>
            <a:pPr algn="ctr"/>
          </a:p>
        </p:txBody>
      </p:sp>
      <p:sp>
        <p:nvSpPr>
          <p:cNvPr id="9" name="Rectangle 8"/>
          <p:cNvSpPr/>
          <p:nvPr/>
        </p:nvSpPr>
        <p:spPr>
          <a:xfrm>
            <a:off x="411480" y="1545336"/>
            <a:ext cx="3657600" cy="173736"/>
          </a:xfrm>
          <a:prstGeom prst="rect">
            <a:avLst/>
          </a:prstGeom>
          <a:solidFill>
            <a:srgbClr val="2563EB"/>
          </a:solidFill>
          <a:ln>
            <a:noFill/>
          </a:ln>
          <a:effectLst/>
        </p:spPr>
        <p:txBody>
          <a:bodyPr rtlCol="0" anchor="ctr"/>
          <a:lstStyle/>
          <a:p>
            <a:pPr algn="ctr"/>
          </a:p>
        </p:txBody>
      </p:sp>
      <p:pic>
        <p:nvPicPr>
          <p:cNvPr id="10" name="Picture 9" descr="image14.png"/>
          <p:cNvPicPr>
            <a:picLocks noChangeAspect="1"/>
          </p:cNvPicPr>
          <p:nvPr/>
        </p:nvPicPr>
        <p:blipFill>
          <a:blip r:embed="rId2"/>
          <a:stretch>
            <a:fillRect/>
          </a:stretch>
        </p:blipFill>
        <p:spPr>
          <a:xfrm>
            <a:off x="539496" y="1447609"/>
            <a:ext cx="219456" cy="195453"/>
          </a:xfrm>
          <a:prstGeom prst="rect">
            <a:avLst/>
          </a:prstGeom>
        </p:spPr>
      </p:pic>
      <p:sp>
        <p:nvSpPr>
          <p:cNvPr id="11" name="TextBox 10"/>
          <p:cNvSpPr txBox="1"/>
          <p:nvPr/>
        </p:nvSpPr>
        <p:spPr>
          <a:xfrm>
            <a:off x="86868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Frontend</a:t>
            </a:r>
          </a:p>
        </p:txBody>
      </p:sp>
      <p:sp>
        <p:nvSpPr>
          <p:cNvPr id="12" name="TextBox 11"/>
          <p:cNvSpPr txBox="1"/>
          <p:nvPr/>
        </p:nvSpPr>
        <p:spPr>
          <a:xfrm>
            <a:off x="52120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React 18 + Vite, TypeScript, Tailwind v4, shadcn/ui, lucide icons; </a:t>
            </a:r>
            <a:r>
              <a:rPr sz="950" b="0" i="0">
                <a:solidFill>
                  <a:srgbClr val="140C12"/>
                </a:solidFill>
                <a:latin typeface="Aptos"/>
              </a:rPr>
              <a:t>react-hook-form + zod, i18next (en / ta / hi), react-leaflet</a:t>
            </a:r>
          </a:p>
          <a:p>
            <a:pPr algn="l" marL="146304" indent="-146304">
              <a:spcAft>
                <a:spcPts val="300"/>
              </a:spcAft>
              <a:buFont typeface="Arial"/>
              <a:buChar char="•"/>
            </a:pPr>
            <a:r>
              <a:rPr sz="950" b="1" i="0">
                <a:solidFill>
                  <a:srgbClr val="2563EB"/>
                </a:solidFill>
                <a:latin typeface="Aptos"/>
              </a:rPr>
              <a:t>Camera and GPS </a:t>
            </a:r>
            <a:r>
              <a:rPr sz="950" b="0" i="0">
                <a:solidFill>
                  <a:srgbClr val="140C12"/>
                </a:solidFill>
                <a:latin typeface="Aptos"/>
              </a:rPr>
              <a:t>through browser APIs; phone-first layouts</a:t>
            </a:r>
          </a:p>
          <a:p>
            <a:pPr algn="l" marL="146304" indent="-146304">
              <a:spcAft>
                <a:spcPts val="300"/>
              </a:spcAft>
              <a:buFont typeface="Arial"/>
              <a:buChar char="•"/>
            </a:pPr>
            <a:r>
              <a:rPr sz="950" b="1" i="0">
                <a:solidFill>
                  <a:srgbClr val="2563EB"/>
                </a:solidFill>
                <a:latin typeface="Aptos"/>
              </a:rPr>
              <a:t>Why: </a:t>
            </a:r>
            <a:r>
              <a:rPr sz="950" b="0" i="0">
                <a:solidFill>
                  <a:srgbClr val="140C12"/>
                </a:solidFill>
                <a:latin typeface="Aptos"/>
              </a:rPr>
              <a:t>accessible, consistent components out of the box; one codebase for citizens, officers and admins</a:t>
            </a:r>
          </a:p>
        </p:txBody>
      </p:sp>
      <p:sp>
        <p:nvSpPr>
          <p:cNvPr id="13" name="Rounded Rectangle 12"/>
          <p:cNvSpPr/>
          <p:nvPr/>
        </p:nvSpPr>
        <p:spPr>
          <a:xfrm>
            <a:off x="4251960" y="1371600"/>
            <a:ext cx="3657600" cy="1920240"/>
          </a:xfrm>
          <a:prstGeom prst="roundRect">
            <a:avLst>
              <a:gd name="adj" fmla="val 5714"/>
            </a:avLst>
          </a:prstGeom>
          <a:solidFill>
            <a:srgbClr val="F3E8FF"/>
          </a:solidFill>
          <a:ln w="12700">
            <a:solidFill>
              <a:srgbClr val="7E22CE"/>
            </a:solidFill>
          </a:ln>
          <a:effectLst/>
        </p:spPr>
        <p:txBody>
          <a:bodyPr rtlCol="0" anchor="ctr"/>
          <a:lstStyle/>
          <a:p>
            <a:pPr algn="ctr"/>
          </a:p>
        </p:txBody>
      </p:sp>
      <p:sp>
        <p:nvSpPr>
          <p:cNvPr id="14" name="Rounded Rectangle 13"/>
          <p:cNvSpPr/>
          <p:nvPr/>
        </p:nvSpPr>
        <p:spPr>
          <a:xfrm>
            <a:off x="4251960" y="1371600"/>
            <a:ext cx="3657600" cy="347472"/>
          </a:xfrm>
          <a:prstGeom prst="roundRect">
            <a:avLst>
              <a:gd name="adj" fmla="val 31578"/>
            </a:avLst>
          </a:prstGeom>
          <a:solidFill>
            <a:srgbClr val="7E22CE"/>
          </a:solidFill>
          <a:ln>
            <a:noFill/>
          </a:ln>
          <a:effectLst/>
        </p:spPr>
        <p:txBody>
          <a:bodyPr rtlCol="0" anchor="ctr"/>
          <a:lstStyle/>
          <a:p>
            <a:pPr algn="ctr"/>
          </a:p>
        </p:txBody>
      </p:sp>
      <p:sp>
        <p:nvSpPr>
          <p:cNvPr id="15" name="Rectangle 14"/>
          <p:cNvSpPr/>
          <p:nvPr/>
        </p:nvSpPr>
        <p:spPr>
          <a:xfrm>
            <a:off x="4251960" y="1545336"/>
            <a:ext cx="3657600" cy="173736"/>
          </a:xfrm>
          <a:prstGeom prst="rect">
            <a:avLst/>
          </a:prstGeom>
          <a:solidFill>
            <a:srgbClr val="7E22CE"/>
          </a:solidFill>
          <a:ln>
            <a:noFill/>
          </a:ln>
          <a:effectLst/>
        </p:spPr>
        <p:txBody>
          <a:bodyPr rtlCol="0" anchor="ctr"/>
          <a:lstStyle/>
          <a:p>
            <a:pPr algn="ctr"/>
          </a:p>
        </p:txBody>
      </p:sp>
      <p:pic>
        <p:nvPicPr>
          <p:cNvPr id="16" name="Picture 15" descr="image15.png"/>
          <p:cNvPicPr>
            <a:picLocks noChangeAspect="1"/>
          </p:cNvPicPr>
          <p:nvPr/>
        </p:nvPicPr>
        <p:blipFill>
          <a:blip r:embed="rId3"/>
          <a:stretch>
            <a:fillRect/>
          </a:stretch>
        </p:blipFill>
        <p:spPr>
          <a:xfrm>
            <a:off x="4379976" y="1457467"/>
            <a:ext cx="219456" cy="175736"/>
          </a:xfrm>
          <a:prstGeom prst="rect">
            <a:avLst/>
          </a:prstGeom>
        </p:spPr>
      </p:pic>
      <p:sp>
        <p:nvSpPr>
          <p:cNvPr id="17" name="TextBox 16"/>
          <p:cNvSpPr txBox="1"/>
          <p:nvPr/>
        </p:nvSpPr>
        <p:spPr>
          <a:xfrm>
            <a:off x="470916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Backend / APIs</a:t>
            </a:r>
          </a:p>
        </p:txBody>
      </p:sp>
      <p:sp>
        <p:nvSpPr>
          <p:cNvPr id="18" name="TextBox 17"/>
          <p:cNvSpPr txBox="1"/>
          <p:nvPr/>
        </p:nvSpPr>
        <p:spPr>
          <a:xfrm>
            <a:off x="4361688"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Python 3.12, FastAPI + Uvicorn, SQLAlchemy 2; </a:t>
            </a:r>
            <a:r>
              <a:rPr sz="950" b="0" i="0">
                <a:solidFill>
                  <a:srgbClr val="140C12"/>
                </a:solidFill>
                <a:latin typeface="Aptos"/>
              </a:rPr>
              <a:t>30 routes with OpenAPI docs at /docs</a:t>
            </a:r>
          </a:p>
          <a:p>
            <a:pPr algn="l" marL="146304" indent="-146304">
              <a:spcAft>
                <a:spcPts val="300"/>
              </a:spcAft>
              <a:buFont typeface="Arial"/>
              <a:buChar char="•"/>
            </a:pPr>
            <a:r>
              <a:rPr sz="950" b="1" i="0">
                <a:solidFill>
                  <a:srgbClr val="7E22CE"/>
                </a:solidFill>
                <a:latin typeface="Aptos"/>
              </a:rPr>
              <a:t>In-process worker thread </a:t>
            </a:r>
            <a:r>
              <a:rPr sz="950" b="0" i="0">
                <a:solidFill>
                  <a:srgbClr val="140C12"/>
                </a:solidFill>
                <a:latin typeface="Aptos"/>
              </a:rPr>
              <a:t>runs the analysis pipeline asynchronously</a:t>
            </a:r>
          </a:p>
          <a:p>
            <a:pPr algn="l" marL="146304" indent="-146304">
              <a:spcAft>
                <a:spcPts val="300"/>
              </a:spcAft>
              <a:buFont typeface="Arial"/>
              <a:buChar char="•"/>
            </a:pPr>
            <a:r>
              <a:rPr sz="950" b="1" i="0">
                <a:solidFill>
                  <a:srgbClr val="7E22CE"/>
                </a:solidFill>
                <a:latin typeface="Aptos"/>
              </a:rPr>
              <a:t>Why: </a:t>
            </a:r>
            <a:r>
              <a:rPr sz="950" b="0" i="0">
                <a:solidFill>
                  <a:srgbClr val="140C12"/>
                </a:solidFill>
                <a:latin typeface="Aptos"/>
              </a:rPr>
              <a:t>same language as the AI pipeline; typed schemas; argon2 + JWT + email OTP built in</a:t>
            </a:r>
          </a:p>
        </p:txBody>
      </p:sp>
      <p:sp>
        <p:nvSpPr>
          <p:cNvPr id="19" name="Rounded Rectangle 18"/>
          <p:cNvSpPr/>
          <p:nvPr/>
        </p:nvSpPr>
        <p:spPr>
          <a:xfrm>
            <a:off x="8092440" y="1371600"/>
            <a:ext cx="3657600" cy="1920240"/>
          </a:xfrm>
          <a:prstGeom prst="roundRect">
            <a:avLst>
              <a:gd name="adj" fmla="val 5714"/>
            </a:avLst>
          </a:prstGeom>
          <a:solidFill>
            <a:srgbClr val="ECFDF5"/>
          </a:solidFill>
          <a:ln w="12700">
            <a:solidFill>
              <a:srgbClr val="0D9488"/>
            </a:solidFill>
          </a:ln>
          <a:effectLst/>
        </p:spPr>
        <p:txBody>
          <a:bodyPr rtlCol="0" anchor="ctr"/>
          <a:lstStyle/>
          <a:p>
            <a:pPr algn="ctr"/>
          </a:p>
        </p:txBody>
      </p:sp>
      <p:sp>
        <p:nvSpPr>
          <p:cNvPr id="20" name="Rounded Rectangle 19"/>
          <p:cNvSpPr/>
          <p:nvPr/>
        </p:nvSpPr>
        <p:spPr>
          <a:xfrm>
            <a:off x="8092440" y="1371600"/>
            <a:ext cx="3657600" cy="347472"/>
          </a:xfrm>
          <a:prstGeom prst="roundRect">
            <a:avLst>
              <a:gd name="adj" fmla="val 31578"/>
            </a:avLst>
          </a:prstGeom>
          <a:solidFill>
            <a:srgbClr val="0D9488"/>
          </a:solidFill>
          <a:ln>
            <a:noFill/>
          </a:ln>
          <a:effectLst/>
        </p:spPr>
        <p:txBody>
          <a:bodyPr rtlCol="0" anchor="ctr"/>
          <a:lstStyle/>
          <a:p>
            <a:pPr algn="ctr"/>
          </a:p>
        </p:txBody>
      </p:sp>
      <p:sp>
        <p:nvSpPr>
          <p:cNvPr id="21" name="Rectangle 20"/>
          <p:cNvSpPr/>
          <p:nvPr/>
        </p:nvSpPr>
        <p:spPr>
          <a:xfrm>
            <a:off x="8092440" y="1545336"/>
            <a:ext cx="3657600" cy="173736"/>
          </a:xfrm>
          <a:prstGeom prst="rect">
            <a:avLst/>
          </a:prstGeom>
          <a:solidFill>
            <a:srgbClr val="0D9488"/>
          </a:solidFill>
          <a:ln>
            <a:noFill/>
          </a:ln>
          <a:effectLst/>
        </p:spPr>
        <p:txBody>
          <a:bodyPr rtlCol="0" anchor="ctr"/>
          <a:lstStyle/>
          <a:p>
            <a:pPr algn="ctr"/>
          </a:p>
        </p:txBody>
      </p:sp>
      <p:pic>
        <p:nvPicPr>
          <p:cNvPr id="22" name="Picture 21" descr="image16.png"/>
          <p:cNvPicPr>
            <a:picLocks noChangeAspect="1"/>
          </p:cNvPicPr>
          <p:nvPr/>
        </p:nvPicPr>
        <p:blipFill>
          <a:blip r:embed="rId4"/>
          <a:stretch>
            <a:fillRect/>
          </a:stretch>
        </p:blipFill>
        <p:spPr>
          <a:xfrm>
            <a:off x="8234172" y="1435608"/>
            <a:ext cx="192024" cy="219456"/>
          </a:xfrm>
          <a:prstGeom prst="rect">
            <a:avLst/>
          </a:prstGeom>
        </p:spPr>
      </p:pic>
      <p:sp>
        <p:nvSpPr>
          <p:cNvPr id="23" name="TextBox 22"/>
          <p:cNvSpPr txBox="1"/>
          <p:nvPr/>
        </p:nvSpPr>
        <p:spPr>
          <a:xfrm>
            <a:off x="8549640" y="1371600"/>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Database / storage</a:t>
            </a:r>
          </a:p>
        </p:txBody>
      </p:sp>
      <p:sp>
        <p:nvSpPr>
          <p:cNvPr id="24" name="TextBox 23"/>
          <p:cNvSpPr txBox="1"/>
          <p:nvPr/>
        </p:nvSpPr>
        <p:spPr>
          <a:xfrm>
            <a:off x="8202167" y="1773936"/>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PostgreSQL 17 + pgvector </a:t>
            </a:r>
            <a:r>
              <a:rPr sz="950" b="0" i="0">
                <a:solidFill>
                  <a:srgbClr val="140C12"/>
                </a:solidFill>
                <a:latin typeface="Aptos"/>
              </a:rPr>
              <a:t>in Docker Compose: complaints, analyses (JSONB), decisions, status events</a:t>
            </a:r>
          </a:p>
          <a:p>
            <a:pPr algn="l" marL="146304" indent="-146304">
              <a:spcAft>
                <a:spcPts val="300"/>
              </a:spcAft>
              <a:buFont typeface="Arial"/>
              <a:buChar char="•"/>
            </a:pPr>
            <a:r>
              <a:rPr sz="950" b="1" i="0">
                <a:solidFill>
                  <a:srgbClr val="0D9488"/>
                </a:solidFill>
                <a:latin typeface="Aptos"/>
              </a:rPr>
              <a:t>HNSW cosine index </a:t>
            </a:r>
            <a:r>
              <a:rPr sz="950" b="0" i="0">
                <a:solidFill>
                  <a:srgbClr val="140C12"/>
                </a:solidFill>
                <a:latin typeface="Aptos"/>
              </a:rPr>
              <a:t>for duplicate search; media on disk; YAML / JSON config hot-reloaded</a:t>
            </a:r>
          </a:p>
          <a:p>
            <a:pPr algn="l" marL="146304" indent="-146304">
              <a:spcAft>
                <a:spcPts val="300"/>
              </a:spcAft>
              <a:buFont typeface="Arial"/>
              <a:buChar char="•"/>
            </a:pPr>
            <a:r>
              <a:rPr sz="950" b="1" i="0">
                <a:solidFill>
                  <a:srgbClr val="0D9488"/>
                </a:solidFill>
                <a:latin typeface="Aptos"/>
              </a:rPr>
              <a:t>Why: </a:t>
            </a:r>
            <a:r>
              <a:rPr sz="950" b="0" i="0">
                <a:solidFill>
                  <a:srgbClr val="140C12"/>
                </a:solidFill>
                <a:latin typeface="Aptos"/>
              </a:rPr>
              <a:t>integrity, vectors and the audit trail in one place, no second datastore</a:t>
            </a:r>
          </a:p>
        </p:txBody>
      </p:sp>
      <p:sp>
        <p:nvSpPr>
          <p:cNvPr id="25" name="Rounded Rectangle 24"/>
          <p:cNvSpPr/>
          <p:nvPr/>
        </p:nvSpPr>
        <p:spPr>
          <a:xfrm>
            <a:off x="411480" y="3401568"/>
            <a:ext cx="3657600" cy="1920240"/>
          </a:xfrm>
          <a:prstGeom prst="roundRect">
            <a:avLst>
              <a:gd name="adj" fmla="val 5714"/>
            </a:avLst>
          </a:prstGeom>
          <a:solidFill>
            <a:srgbClr val="FFF2CC"/>
          </a:solidFill>
          <a:ln w="12700">
            <a:solidFill>
              <a:srgbClr val="C55A11"/>
            </a:solidFill>
          </a:ln>
          <a:effectLst/>
        </p:spPr>
        <p:txBody>
          <a:bodyPr rtlCol="0" anchor="ctr"/>
          <a:lstStyle/>
          <a:p>
            <a:pPr algn="ctr"/>
          </a:p>
        </p:txBody>
      </p:sp>
      <p:sp>
        <p:nvSpPr>
          <p:cNvPr id="26" name="Rounded Rectangle 25"/>
          <p:cNvSpPr/>
          <p:nvPr/>
        </p:nvSpPr>
        <p:spPr>
          <a:xfrm>
            <a:off x="411480" y="3401568"/>
            <a:ext cx="3657600" cy="347472"/>
          </a:xfrm>
          <a:prstGeom prst="roundRect">
            <a:avLst>
              <a:gd name="adj" fmla="val 31578"/>
            </a:avLst>
          </a:prstGeom>
          <a:solidFill>
            <a:srgbClr val="C55A11"/>
          </a:solidFill>
          <a:ln>
            <a:noFill/>
          </a:ln>
          <a:effectLst/>
        </p:spPr>
        <p:txBody>
          <a:bodyPr rtlCol="0" anchor="ctr"/>
          <a:lstStyle/>
          <a:p>
            <a:pPr algn="ctr"/>
          </a:p>
        </p:txBody>
      </p:sp>
      <p:sp>
        <p:nvSpPr>
          <p:cNvPr id="27" name="Rectangle 26"/>
          <p:cNvSpPr/>
          <p:nvPr/>
        </p:nvSpPr>
        <p:spPr>
          <a:xfrm>
            <a:off x="411480" y="3575304"/>
            <a:ext cx="3657600" cy="173736"/>
          </a:xfrm>
          <a:prstGeom prst="rect">
            <a:avLst/>
          </a:prstGeom>
          <a:solidFill>
            <a:srgbClr val="C55A11"/>
          </a:solidFill>
          <a:ln>
            <a:noFill/>
          </a:ln>
          <a:effectLst/>
        </p:spPr>
        <p:txBody>
          <a:bodyPr rtlCol="0" anchor="ctr"/>
          <a:lstStyle/>
          <a:p>
            <a:pPr algn="ctr"/>
          </a:p>
        </p:txBody>
      </p:sp>
      <p:pic>
        <p:nvPicPr>
          <p:cNvPr id="28" name="Picture 27" descr="image26.png"/>
          <p:cNvPicPr>
            <a:picLocks noChangeAspect="1"/>
          </p:cNvPicPr>
          <p:nvPr/>
        </p:nvPicPr>
        <p:blipFill>
          <a:blip r:embed="rId5"/>
          <a:stretch>
            <a:fillRect/>
          </a:stretch>
        </p:blipFill>
        <p:spPr>
          <a:xfrm>
            <a:off x="539496" y="3465576"/>
            <a:ext cx="219456" cy="219456"/>
          </a:xfrm>
          <a:prstGeom prst="rect">
            <a:avLst/>
          </a:prstGeom>
        </p:spPr>
      </p:pic>
      <p:sp>
        <p:nvSpPr>
          <p:cNvPr id="29" name="TextBox 28"/>
          <p:cNvSpPr txBox="1"/>
          <p:nvPr/>
        </p:nvSpPr>
        <p:spPr>
          <a:xfrm>
            <a:off x="86868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AI / ML / algorithms</a:t>
            </a:r>
          </a:p>
        </p:txBody>
      </p:sp>
      <p:sp>
        <p:nvSpPr>
          <p:cNvPr id="30" name="TextBox 29"/>
          <p:cNvSpPr txBox="1"/>
          <p:nvPr/>
        </p:nvSpPr>
        <p:spPr>
          <a:xfrm>
            <a:off x="52120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C55A11"/>
                </a:solidFill>
                <a:latin typeface="Aptos"/>
              </a:rPr>
              <a:t>Ollama serving Gemma 3 4B </a:t>
            </a:r>
            <a:r>
              <a:rPr sz="950" b="0" i="0">
                <a:solidFill>
                  <a:srgbClr val="140C12"/>
                </a:solidFill>
                <a:latin typeface="Aptos"/>
              </a:rPr>
              <a:t>(text + vision, 140+ languages, JSON-schema output) and bge-m3 embeddings</a:t>
            </a:r>
          </a:p>
          <a:p>
            <a:pPr algn="l" marL="146304" indent="-146304">
              <a:spcAft>
                <a:spcPts val="300"/>
              </a:spcAft>
              <a:buFont typeface="Arial"/>
              <a:buChar char="•"/>
            </a:pPr>
            <a:r>
              <a:rPr sz="950" b="1" i="0">
                <a:solidFill>
                  <a:srgbClr val="C55A11"/>
                </a:solidFill>
                <a:latin typeface="Aptos"/>
              </a:rPr>
              <a:t>NumPy softmax second opinion </a:t>
            </a:r>
            <a:r>
              <a:rPr sz="950" b="0" i="0">
                <a:solidFill>
                  <a:srgbClr val="140C12"/>
                </a:solidFill>
                <a:latin typeface="Aptos"/>
              </a:rPr>
              <a:t>trained on 1,169 locally generated complaints (88% department held-out); YAML rules; language hints</a:t>
            </a:r>
          </a:p>
          <a:p>
            <a:pPr algn="l" marL="146304" indent="-146304">
              <a:spcAft>
                <a:spcPts val="300"/>
              </a:spcAft>
              <a:buFont typeface="Arial"/>
              <a:buChar char="•"/>
            </a:pPr>
            <a:r>
              <a:rPr sz="950" b="1" i="0">
                <a:solidFill>
                  <a:srgbClr val="C55A11"/>
                </a:solidFill>
                <a:latin typeface="Aptos"/>
              </a:rPr>
              <a:t>Why: </a:t>
            </a:r>
            <a:r>
              <a:rPr sz="950" b="0" i="0">
                <a:solidFill>
                  <a:srgbClr val="140C12"/>
                </a:solidFill>
                <a:latin typeface="Aptos"/>
              </a:rPr>
              <a:t>the largest model a 4 GB GPU serves; everything local, no cloud AI APIs</a:t>
            </a:r>
          </a:p>
        </p:txBody>
      </p:sp>
      <p:sp>
        <p:nvSpPr>
          <p:cNvPr id="31" name="Rounded Rectangle 30"/>
          <p:cNvSpPr/>
          <p:nvPr/>
        </p:nvSpPr>
        <p:spPr>
          <a:xfrm>
            <a:off x="4251960" y="3401568"/>
            <a:ext cx="3657600" cy="1920240"/>
          </a:xfrm>
          <a:prstGeom prst="roundRect">
            <a:avLst>
              <a:gd name="adj" fmla="val 5714"/>
            </a:avLst>
          </a:prstGeom>
          <a:solidFill>
            <a:srgbClr val="E8F5E9"/>
          </a:solidFill>
          <a:ln w="12700">
            <a:solidFill>
              <a:srgbClr val="2E7D32"/>
            </a:solidFill>
          </a:ln>
          <a:effectLst/>
        </p:spPr>
        <p:txBody>
          <a:bodyPr rtlCol="0" anchor="ctr"/>
          <a:lstStyle/>
          <a:p>
            <a:pPr algn="ctr"/>
          </a:p>
        </p:txBody>
      </p:sp>
      <p:sp>
        <p:nvSpPr>
          <p:cNvPr id="32" name="Rounded Rectangle 31"/>
          <p:cNvSpPr/>
          <p:nvPr/>
        </p:nvSpPr>
        <p:spPr>
          <a:xfrm>
            <a:off x="4251960" y="3401568"/>
            <a:ext cx="3657600" cy="347472"/>
          </a:xfrm>
          <a:prstGeom prst="roundRect">
            <a:avLst>
              <a:gd name="adj" fmla="val 31578"/>
            </a:avLst>
          </a:prstGeom>
          <a:solidFill>
            <a:srgbClr val="2E7D32"/>
          </a:solidFill>
          <a:ln>
            <a:noFill/>
          </a:ln>
          <a:effectLst/>
        </p:spPr>
        <p:txBody>
          <a:bodyPr rtlCol="0" anchor="ctr"/>
          <a:lstStyle/>
          <a:p>
            <a:pPr algn="ctr"/>
          </a:p>
        </p:txBody>
      </p:sp>
      <p:sp>
        <p:nvSpPr>
          <p:cNvPr id="33" name="Rectangle 32"/>
          <p:cNvSpPr/>
          <p:nvPr/>
        </p:nvSpPr>
        <p:spPr>
          <a:xfrm>
            <a:off x="4251960" y="3575304"/>
            <a:ext cx="3657600" cy="173736"/>
          </a:xfrm>
          <a:prstGeom prst="rect">
            <a:avLst/>
          </a:prstGeom>
          <a:solidFill>
            <a:srgbClr val="2E7D32"/>
          </a:solidFill>
          <a:ln>
            <a:noFill/>
          </a:ln>
          <a:effectLst/>
        </p:spPr>
        <p:txBody>
          <a:bodyPr rtlCol="0" anchor="ctr"/>
          <a:lstStyle/>
          <a:p>
            <a:pPr algn="ctr"/>
          </a:p>
        </p:txBody>
      </p:sp>
      <p:pic>
        <p:nvPicPr>
          <p:cNvPr id="34" name="Picture 33" descr="image21.png"/>
          <p:cNvPicPr>
            <a:picLocks noChangeAspect="1"/>
          </p:cNvPicPr>
          <p:nvPr/>
        </p:nvPicPr>
        <p:blipFill>
          <a:blip r:embed="rId6"/>
          <a:stretch>
            <a:fillRect/>
          </a:stretch>
        </p:blipFill>
        <p:spPr>
          <a:xfrm>
            <a:off x="4379976" y="3465576"/>
            <a:ext cx="219456" cy="219456"/>
          </a:xfrm>
          <a:prstGeom prst="rect">
            <a:avLst/>
          </a:prstGeom>
        </p:spPr>
      </p:pic>
      <p:sp>
        <p:nvSpPr>
          <p:cNvPr id="35" name="TextBox 34"/>
          <p:cNvSpPr txBox="1"/>
          <p:nvPr/>
        </p:nvSpPr>
        <p:spPr>
          <a:xfrm>
            <a:off x="470916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Deployment / hosting</a:t>
            </a:r>
          </a:p>
        </p:txBody>
      </p:sp>
      <p:sp>
        <p:nvSpPr>
          <p:cNvPr id="36" name="TextBox 35"/>
          <p:cNvSpPr txBox="1"/>
          <p:nvPr/>
        </p:nvSpPr>
        <p:spPr>
          <a:xfrm>
            <a:off x="4361688"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E7D32"/>
                </a:solidFill>
                <a:latin typeface="Aptos"/>
              </a:rPr>
              <a:t>One laptop </a:t>
            </a:r>
            <a:r>
              <a:rPr sz="950" b="0" i="0">
                <a:solidFill>
                  <a:srgbClr val="140C12"/>
                </a:solidFill>
                <a:latin typeface="Aptos"/>
              </a:rPr>
              <a:t>(RTX 3050 4 GB, 15 GB RAM) runs Ollama, Docker (Postgres + Mailpit), uvicorn and Vite</a:t>
            </a:r>
          </a:p>
          <a:p>
            <a:pPr algn="l" marL="146304" indent="-146304">
              <a:spcAft>
                <a:spcPts val="300"/>
              </a:spcAft>
              <a:buFont typeface="Arial"/>
              <a:buChar char="•"/>
            </a:pPr>
            <a:r>
              <a:rPr sz="950" b="1" i="0">
                <a:solidFill>
                  <a:srgbClr val="2E7D32"/>
                </a:solidFill>
                <a:latin typeface="Aptos"/>
              </a:rPr>
              <a:t>scripts/start.ps1 </a:t>
            </a:r>
            <a:r>
              <a:rPr sz="950" b="0" i="0">
                <a:solidFill>
                  <a:srgbClr val="140C12"/>
                </a:solidFill>
                <a:latin typeface="Aptos"/>
              </a:rPr>
              <a:t>starts Postgres, Mailpit, API and app; -Https serves phones on the LAN; 12-20 s per complaint</a:t>
            </a:r>
          </a:p>
          <a:p>
            <a:pPr algn="l" marL="146304" indent="-146304">
              <a:spcAft>
                <a:spcPts val="300"/>
              </a:spcAft>
              <a:buFont typeface="Arial"/>
              <a:buChar char="•"/>
            </a:pPr>
            <a:r>
              <a:rPr sz="950" b="1" i="0">
                <a:solidFill>
                  <a:srgbClr val="2E7D32"/>
                </a:solidFill>
                <a:latin typeface="Aptos"/>
              </a:rPr>
              <a:t>Why: </a:t>
            </a:r>
            <a:r>
              <a:rPr sz="950" b="0" i="0">
                <a:solidFill>
                  <a:srgbClr val="140C12"/>
                </a:solidFill>
                <a:latin typeface="Aptos"/>
              </a:rPr>
              <a:t>zero hosting cost today; the same compose file moves to an on-prem server</a:t>
            </a:r>
          </a:p>
        </p:txBody>
      </p:sp>
      <p:sp>
        <p:nvSpPr>
          <p:cNvPr id="37" name="Rounded Rectangle 36"/>
          <p:cNvSpPr/>
          <p:nvPr/>
        </p:nvSpPr>
        <p:spPr>
          <a:xfrm>
            <a:off x="8092440" y="3401568"/>
            <a:ext cx="3657600" cy="1920240"/>
          </a:xfrm>
          <a:prstGeom prst="roundRect">
            <a:avLst>
              <a:gd name="adj" fmla="val 5714"/>
            </a:avLst>
          </a:prstGeom>
          <a:solidFill>
            <a:srgbClr val="EAF2FA"/>
          </a:solidFill>
          <a:ln w="12700">
            <a:solidFill>
              <a:srgbClr val="1F497D"/>
            </a:solidFill>
          </a:ln>
          <a:effectLst/>
        </p:spPr>
        <p:txBody>
          <a:bodyPr rtlCol="0" anchor="ctr"/>
          <a:lstStyle/>
          <a:p>
            <a:pPr algn="ctr"/>
          </a:p>
        </p:txBody>
      </p:sp>
      <p:sp>
        <p:nvSpPr>
          <p:cNvPr id="38" name="Rounded Rectangle 37"/>
          <p:cNvSpPr/>
          <p:nvPr/>
        </p:nvSpPr>
        <p:spPr>
          <a:xfrm>
            <a:off x="8092440" y="3401568"/>
            <a:ext cx="3657600" cy="347472"/>
          </a:xfrm>
          <a:prstGeom prst="roundRect">
            <a:avLst>
              <a:gd name="adj" fmla="val 31578"/>
            </a:avLst>
          </a:prstGeom>
          <a:solidFill>
            <a:srgbClr val="1F497D"/>
          </a:solidFill>
          <a:ln>
            <a:noFill/>
          </a:ln>
          <a:effectLst/>
        </p:spPr>
        <p:txBody>
          <a:bodyPr rtlCol="0" anchor="ctr"/>
          <a:lstStyle/>
          <a:p>
            <a:pPr algn="ctr"/>
          </a:p>
        </p:txBody>
      </p:sp>
      <p:sp>
        <p:nvSpPr>
          <p:cNvPr id="39" name="Rectangle 38"/>
          <p:cNvSpPr/>
          <p:nvPr/>
        </p:nvSpPr>
        <p:spPr>
          <a:xfrm>
            <a:off x="8092440" y="3575304"/>
            <a:ext cx="3657600" cy="173736"/>
          </a:xfrm>
          <a:prstGeom prst="rect">
            <a:avLst/>
          </a:prstGeom>
          <a:solidFill>
            <a:srgbClr val="1F497D"/>
          </a:solidFill>
          <a:ln>
            <a:noFill/>
          </a:ln>
          <a:effectLst/>
        </p:spPr>
        <p:txBody>
          <a:bodyPr rtlCol="0" anchor="ctr"/>
          <a:lstStyle/>
          <a:p>
            <a:pPr algn="ctr"/>
          </a:p>
        </p:txBody>
      </p:sp>
      <p:pic>
        <p:nvPicPr>
          <p:cNvPr id="40" name="Picture 39" descr="image24.png"/>
          <p:cNvPicPr>
            <a:picLocks noChangeAspect="1"/>
          </p:cNvPicPr>
          <p:nvPr/>
        </p:nvPicPr>
        <p:blipFill>
          <a:blip r:embed="rId7"/>
          <a:stretch>
            <a:fillRect/>
          </a:stretch>
        </p:blipFill>
        <p:spPr>
          <a:xfrm>
            <a:off x="8220456" y="3477577"/>
            <a:ext cx="219456" cy="195453"/>
          </a:xfrm>
          <a:prstGeom prst="rect">
            <a:avLst/>
          </a:prstGeom>
        </p:spPr>
      </p:pic>
      <p:sp>
        <p:nvSpPr>
          <p:cNvPr id="41" name="TextBox 40"/>
          <p:cNvSpPr txBox="1"/>
          <p:nvPr/>
        </p:nvSpPr>
        <p:spPr>
          <a:xfrm>
            <a:off x="8549640" y="3401568"/>
            <a:ext cx="3108960" cy="347472"/>
          </a:xfrm>
          <a:prstGeom prst="rect">
            <a:avLst/>
          </a:prstGeom>
          <a:noFill/>
        </p:spPr>
        <p:txBody>
          <a:bodyPr wrap="square" lIns="18288" tIns="0" rIns="18288" bIns="0" anchor="ctr">
            <a:noAutofit/>
          </a:bodyPr>
          <a:lstStyle/>
          <a:p>
            <a:pPr algn="l"/>
            <a:r>
              <a:rPr sz="1050" b="1" i="0">
                <a:solidFill>
                  <a:srgbClr val="FFFFFF"/>
                </a:solidFill>
                <a:latin typeface="Aptos"/>
              </a:rPr>
              <a:t>External APIs / datasets / tools</a:t>
            </a:r>
          </a:p>
        </p:txBody>
      </p:sp>
      <p:sp>
        <p:nvSpPr>
          <p:cNvPr id="42" name="TextBox 41"/>
          <p:cNvSpPr txBox="1"/>
          <p:nvPr/>
        </p:nvSpPr>
        <p:spPr>
          <a:xfrm>
            <a:off x="8202167" y="3803904"/>
            <a:ext cx="3438144" cy="14813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1F497D"/>
                </a:solidFill>
                <a:latin typeface="Aptos"/>
              </a:rPr>
              <a:t>No external API at runtime. </a:t>
            </a:r>
            <a:r>
              <a:rPr sz="950" b="0" i="0">
                <a:solidFill>
                  <a:srgbClr val="140C12"/>
                </a:solidFill>
                <a:latin typeface="Aptos"/>
              </a:rPr>
              <a:t>Reference data: Tamil Nadu district-office mapping (38 districts, 760 offices)</a:t>
            </a:r>
          </a:p>
          <a:p>
            <a:pPr algn="l" marL="146304" indent="-146304">
              <a:spcAft>
                <a:spcPts val="300"/>
              </a:spcAft>
              <a:buFont typeface="Arial"/>
              <a:buChar char="•"/>
            </a:pPr>
            <a:r>
              <a:rPr sz="950" b="1" i="0">
                <a:solidFill>
                  <a:srgbClr val="1F497D"/>
                </a:solidFill>
                <a:latin typeface="Aptos"/>
              </a:rPr>
              <a:t>Datasets: </a:t>
            </a:r>
            <a:r>
              <a:rPr sz="950" b="0" i="0">
                <a:solidFill>
                  <a:srgbClr val="140C12"/>
                </a:solidFill>
                <a:latin typeface="Aptos"/>
              </a:rPr>
              <a:t>NYC 311 sample, COMI-LINGUA (Hinglish), DravidianCodeMix (Tanglish)</a:t>
            </a:r>
          </a:p>
          <a:p>
            <a:pPr algn="l" marL="146304" indent="-146304">
              <a:spcAft>
                <a:spcPts val="300"/>
              </a:spcAft>
              <a:buFont typeface="Arial"/>
              <a:buChar char="•"/>
            </a:pPr>
            <a:r>
              <a:rPr sz="950" b="1" i="0">
                <a:solidFill>
                  <a:srgbClr val="1F497D"/>
                </a:solidFill>
                <a:latin typeface="Aptos"/>
              </a:rPr>
              <a:t>Tools: </a:t>
            </a:r>
            <a:r>
              <a:rPr sz="950" b="0" i="0">
                <a:solidFill>
                  <a:srgbClr val="140C12"/>
                </a:solidFill>
                <a:latin typeface="Aptos"/>
              </a:rPr>
              <a:t>Mailpit for demo email, Gmail SMTP optional, 114-check end-to-end test suite</a:t>
            </a:r>
          </a:p>
        </p:txBody>
      </p:sp>
      <p:sp>
        <p:nvSpPr>
          <p:cNvPr id="43" name="Rounded Rectangle 42"/>
          <p:cNvSpPr/>
          <p:nvPr/>
        </p:nvSpPr>
        <p:spPr>
          <a:xfrm>
            <a:off x="411480" y="5440680"/>
            <a:ext cx="11338560" cy="914400"/>
          </a:xfrm>
          <a:prstGeom prst="roundRect">
            <a:avLst>
              <a:gd name="adj" fmla="val 12000"/>
            </a:avLst>
          </a:prstGeom>
          <a:solidFill>
            <a:srgbClr val="FFFFFF"/>
          </a:solidFill>
          <a:ln w="12700">
            <a:solidFill>
              <a:srgbClr val="1F497D"/>
            </a:solidFill>
          </a:ln>
          <a:effectLst/>
        </p:spPr>
        <p:txBody>
          <a:bodyPr rtlCol="0" anchor="ctr"/>
          <a:lstStyle/>
          <a:p>
            <a:pPr algn="ctr"/>
          </a:p>
        </p:txBody>
      </p:sp>
      <p:pic>
        <p:nvPicPr>
          <p:cNvPr id="44" name="Picture 43" descr="image17.png"/>
          <p:cNvPicPr>
            <a:picLocks noChangeAspect="1"/>
          </p:cNvPicPr>
          <p:nvPr/>
        </p:nvPicPr>
        <p:blipFill>
          <a:blip r:embed="rId8"/>
          <a:stretch>
            <a:fillRect/>
          </a:stretch>
        </p:blipFill>
        <p:spPr>
          <a:xfrm>
            <a:off x="868680" y="5535656"/>
            <a:ext cx="310896" cy="248959"/>
          </a:xfrm>
          <a:prstGeom prst="rect">
            <a:avLst/>
          </a:prstGeom>
        </p:spPr>
      </p:pic>
      <p:sp>
        <p:nvSpPr>
          <p:cNvPr id="45" name="TextBox 44"/>
          <p:cNvSpPr txBox="1"/>
          <p:nvPr/>
        </p:nvSpPr>
        <p:spPr>
          <a:xfrm>
            <a:off x="502920" y="5833872"/>
            <a:ext cx="1097280" cy="457200"/>
          </a:xfrm>
          <a:prstGeom prst="rect">
            <a:avLst/>
          </a:prstGeom>
          <a:noFill/>
        </p:spPr>
        <p:txBody>
          <a:bodyPr wrap="square" lIns="0" tIns="0" rIns="0" bIns="0" anchor="t">
            <a:noAutofit/>
          </a:bodyPr>
          <a:lstStyle/>
          <a:p>
            <a:pPr algn="ctr"/>
            <a:r>
              <a:rPr sz="950" b="1" i="0">
                <a:solidFill>
                  <a:srgbClr val="1F497D"/>
                </a:solidFill>
                <a:latin typeface="Aptos"/>
              </a:rPr>
              <a:t>Technologies used</a:t>
            </a:r>
          </a:p>
        </p:txBody>
      </p:sp>
      <p:pic>
        <p:nvPicPr>
          <p:cNvPr id="46" name="Picture 45" descr="image30.jpeg"/>
          <p:cNvPicPr>
            <a:picLocks noChangeAspect="1"/>
          </p:cNvPicPr>
          <p:nvPr/>
        </p:nvPicPr>
        <p:blipFill>
          <a:blip r:embed="rId9"/>
          <a:stretch>
            <a:fillRect/>
          </a:stretch>
        </p:blipFill>
        <p:spPr>
          <a:xfrm>
            <a:off x="2113788" y="5541054"/>
            <a:ext cx="420624" cy="366179"/>
          </a:xfrm>
          <a:prstGeom prst="rect">
            <a:avLst/>
          </a:prstGeom>
        </p:spPr>
      </p:pic>
      <p:sp>
        <p:nvSpPr>
          <p:cNvPr id="47" name="TextBox 46"/>
          <p:cNvSpPr txBox="1"/>
          <p:nvPr/>
        </p:nvSpPr>
        <p:spPr>
          <a:xfrm>
            <a:off x="192024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React</a:t>
            </a:r>
          </a:p>
        </p:txBody>
      </p:sp>
      <p:pic>
        <p:nvPicPr>
          <p:cNvPr id="48" name="Picture 47" descr="image18.png"/>
          <p:cNvPicPr>
            <a:picLocks noChangeAspect="1"/>
          </p:cNvPicPr>
          <p:nvPr/>
        </p:nvPicPr>
        <p:blipFill>
          <a:blip r:embed="rId10"/>
          <a:stretch>
            <a:fillRect/>
          </a:stretch>
        </p:blipFill>
        <p:spPr>
          <a:xfrm>
            <a:off x="2921508" y="5513832"/>
            <a:ext cx="420624" cy="420624"/>
          </a:xfrm>
          <a:prstGeom prst="rect">
            <a:avLst/>
          </a:prstGeom>
        </p:spPr>
      </p:pic>
      <p:sp>
        <p:nvSpPr>
          <p:cNvPr id="49" name="TextBox 48"/>
          <p:cNvSpPr txBox="1"/>
          <p:nvPr/>
        </p:nvSpPr>
        <p:spPr>
          <a:xfrm>
            <a:off x="27279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TypeScript</a:t>
            </a:r>
          </a:p>
        </p:txBody>
      </p:sp>
      <p:pic>
        <p:nvPicPr>
          <p:cNvPr id="50" name="Picture 49" descr="badge_tw.png"/>
          <p:cNvPicPr>
            <a:picLocks noChangeAspect="1"/>
          </p:cNvPicPr>
          <p:nvPr/>
        </p:nvPicPr>
        <p:blipFill>
          <a:blip r:embed="rId11"/>
          <a:stretch>
            <a:fillRect/>
          </a:stretch>
        </p:blipFill>
        <p:spPr>
          <a:xfrm>
            <a:off x="3729228" y="5513832"/>
            <a:ext cx="420624" cy="420624"/>
          </a:xfrm>
          <a:prstGeom prst="rect">
            <a:avLst/>
          </a:prstGeom>
        </p:spPr>
      </p:pic>
      <p:sp>
        <p:nvSpPr>
          <p:cNvPr id="51" name="TextBox 50"/>
          <p:cNvSpPr txBox="1"/>
          <p:nvPr/>
        </p:nvSpPr>
        <p:spPr>
          <a:xfrm>
            <a:off x="35356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Tailwind</a:t>
            </a:r>
          </a:p>
        </p:txBody>
      </p:sp>
      <p:pic>
        <p:nvPicPr>
          <p:cNvPr id="52" name="Picture 51" descr="badge_ui.png"/>
          <p:cNvPicPr>
            <a:picLocks noChangeAspect="1"/>
          </p:cNvPicPr>
          <p:nvPr/>
        </p:nvPicPr>
        <p:blipFill>
          <a:blip r:embed="rId12"/>
          <a:stretch>
            <a:fillRect/>
          </a:stretch>
        </p:blipFill>
        <p:spPr>
          <a:xfrm>
            <a:off x="4536947" y="5513832"/>
            <a:ext cx="420624" cy="420624"/>
          </a:xfrm>
          <a:prstGeom prst="rect">
            <a:avLst/>
          </a:prstGeom>
        </p:spPr>
      </p:pic>
      <p:sp>
        <p:nvSpPr>
          <p:cNvPr id="53" name="TextBox 52"/>
          <p:cNvSpPr txBox="1"/>
          <p:nvPr/>
        </p:nvSpPr>
        <p:spPr>
          <a:xfrm>
            <a:off x="434340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shadcn/ui</a:t>
            </a:r>
          </a:p>
        </p:txBody>
      </p:sp>
      <p:pic>
        <p:nvPicPr>
          <p:cNvPr id="54" name="Picture 53" descr="image31.png"/>
          <p:cNvPicPr>
            <a:picLocks noChangeAspect="1"/>
          </p:cNvPicPr>
          <p:nvPr/>
        </p:nvPicPr>
        <p:blipFill>
          <a:blip r:embed="rId13"/>
          <a:stretch>
            <a:fillRect/>
          </a:stretch>
        </p:blipFill>
        <p:spPr>
          <a:xfrm>
            <a:off x="5344667" y="5513832"/>
            <a:ext cx="420624" cy="420624"/>
          </a:xfrm>
          <a:prstGeom prst="rect">
            <a:avLst/>
          </a:prstGeom>
        </p:spPr>
      </p:pic>
      <p:sp>
        <p:nvSpPr>
          <p:cNvPr id="55" name="TextBox 54"/>
          <p:cNvSpPr txBox="1"/>
          <p:nvPr/>
        </p:nvSpPr>
        <p:spPr>
          <a:xfrm>
            <a:off x="515112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Python</a:t>
            </a:r>
          </a:p>
        </p:txBody>
      </p:sp>
      <p:pic>
        <p:nvPicPr>
          <p:cNvPr id="56" name="Picture 55" descr="image19.png"/>
          <p:cNvPicPr>
            <a:picLocks noChangeAspect="1"/>
          </p:cNvPicPr>
          <p:nvPr/>
        </p:nvPicPr>
        <p:blipFill>
          <a:blip r:embed="rId14"/>
          <a:stretch>
            <a:fillRect/>
          </a:stretch>
        </p:blipFill>
        <p:spPr>
          <a:xfrm>
            <a:off x="6152387" y="5513832"/>
            <a:ext cx="420624" cy="420624"/>
          </a:xfrm>
          <a:prstGeom prst="rect">
            <a:avLst/>
          </a:prstGeom>
        </p:spPr>
      </p:pic>
      <p:sp>
        <p:nvSpPr>
          <p:cNvPr id="57" name="TextBox 56"/>
          <p:cNvSpPr txBox="1"/>
          <p:nvPr/>
        </p:nvSpPr>
        <p:spPr>
          <a:xfrm>
            <a:off x="59588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FastAPI</a:t>
            </a:r>
          </a:p>
        </p:txBody>
      </p:sp>
      <p:pic>
        <p:nvPicPr>
          <p:cNvPr id="58" name="Picture 57" descr="image32.png"/>
          <p:cNvPicPr>
            <a:picLocks noChangeAspect="1"/>
          </p:cNvPicPr>
          <p:nvPr/>
        </p:nvPicPr>
        <p:blipFill>
          <a:blip r:embed="rId15"/>
          <a:stretch>
            <a:fillRect/>
          </a:stretch>
        </p:blipFill>
        <p:spPr>
          <a:xfrm>
            <a:off x="6966330" y="5513832"/>
            <a:ext cx="408179" cy="420624"/>
          </a:xfrm>
          <a:prstGeom prst="rect">
            <a:avLst/>
          </a:prstGeom>
        </p:spPr>
      </p:pic>
      <p:sp>
        <p:nvSpPr>
          <p:cNvPr id="59" name="TextBox 58"/>
          <p:cNvSpPr txBox="1"/>
          <p:nvPr/>
        </p:nvSpPr>
        <p:spPr>
          <a:xfrm>
            <a:off x="67665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PostgreSQL</a:t>
            </a:r>
          </a:p>
        </p:txBody>
      </p:sp>
      <p:pic>
        <p:nvPicPr>
          <p:cNvPr id="60" name="Picture 59" descr="badge_pg.png"/>
          <p:cNvPicPr>
            <a:picLocks noChangeAspect="1"/>
          </p:cNvPicPr>
          <p:nvPr/>
        </p:nvPicPr>
        <p:blipFill>
          <a:blip r:embed="rId16"/>
          <a:stretch>
            <a:fillRect/>
          </a:stretch>
        </p:blipFill>
        <p:spPr>
          <a:xfrm>
            <a:off x="7767827" y="5513832"/>
            <a:ext cx="420624" cy="420624"/>
          </a:xfrm>
          <a:prstGeom prst="rect">
            <a:avLst/>
          </a:prstGeom>
        </p:spPr>
      </p:pic>
      <p:sp>
        <p:nvSpPr>
          <p:cNvPr id="61" name="TextBox 60"/>
          <p:cNvSpPr txBox="1"/>
          <p:nvPr/>
        </p:nvSpPr>
        <p:spPr>
          <a:xfrm>
            <a:off x="757428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pgvector</a:t>
            </a:r>
          </a:p>
        </p:txBody>
      </p:sp>
      <p:pic>
        <p:nvPicPr>
          <p:cNvPr id="62" name="Picture 61" descr="image21.png"/>
          <p:cNvPicPr>
            <a:picLocks noChangeAspect="1"/>
          </p:cNvPicPr>
          <p:nvPr/>
        </p:nvPicPr>
        <p:blipFill>
          <a:blip r:embed="rId6"/>
          <a:stretch>
            <a:fillRect/>
          </a:stretch>
        </p:blipFill>
        <p:spPr>
          <a:xfrm>
            <a:off x="8575547" y="5513832"/>
            <a:ext cx="420624" cy="420624"/>
          </a:xfrm>
          <a:prstGeom prst="rect">
            <a:avLst/>
          </a:prstGeom>
        </p:spPr>
      </p:pic>
      <p:sp>
        <p:nvSpPr>
          <p:cNvPr id="63" name="TextBox 62"/>
          <p:cNvSpPr txBox="1"/>
          <p:nvPr/>
        </p:nvSpPr>
        <p:spPr>
          <a:xfrm>
            <a:off x="838199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Docker</a:t>
            </a:r>
          </a:p>
        </p:txBody>
      </p:sp>
      <p:pic>
        <p:nvPicPr>
          <p:cNvPr id="64" name="Picture 63" descr="image22.png"/>
          <p:cNvPicPr>
            <a:picLocks noChangeAspect="1"/>
          </p:cNvPicPr>
          <p:nvPr/>
        </p:nvPicPr>
        <p:blipFill>
          <a:blip r:embed="rId17"/>
          <a:stretch>
            <a:fillRect/>
          </a:stretch>
        </p:blipFill>
        <p:spPr>
          <a:xfrm>
            <a:off x="9383267" y="5513832"/>
            <a:ext cx="420624" cy="420624"/>
          </a:xfrm>
          <a:prstGeom prst="rect">
            <a:avLst/>
          </a:prstGeom>
        </p:spPr>
      </p:pic>
      <p:sp>
        <p:nvSpPr>
          <p:cNvPr id="65" name="TextBox 64"/>
          <p:cNvSpPr txBox="1"/>
          <p:nvPr/>
        </p:nvSpPr>
        <p:spPr>
          <a:xfrm>
            <a:off x="918971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Ollama</a:t>
            </a:r>
          </a:p>
        </p:txBody>
      </p:sp>
      <p:pic>
        <p:nvPicPr>
          <p:cNvPr id="66" name="Picture 65" descr="badge_G3.png"/>
          <p:cNvPicPr>
            <a:picLocks noChangeAspect="1"/>
          </p:cNvPicPr>
          <p:nvPr/>
        </p:nvPicPr>
        <p:blipFill>
          <a:blip r:embed="rId18"/>
          <a:stretch>
            <a:fillRect/>
          </a:stretch>
        </p:blipFill>
        <p:spPr>
          <a:xfrm>
            <a:off x="10190987" y="5513832"/>
            <a:ext cx="420624" cy="420624"/>
          </a:xfrm>
          <a:prstGeom prst="rect">
            <a:avLst/>
          </a:prstGeom>
        </p:spPr>
      </p:pic>
      <p:sp>
        <p:nvSpPr>
          <p:cNvPr id="67" name="TextBox 66"/>
          <p:cNvSpPr txBox="1"/>
          <p:nvPr/>
        </p:nvSpPr>
        <p:spPr>
          <a:xfrm>
            <a:off x="9997439"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Gemma 3</a:t>
            </a:r>
          </a:p>
        </p:txBody>
      </p:sp>
      <p:pic>
        <p:nvPicPr>
          <p:cNvPr id="68" name="Picture 67" descr="badge_bge.png"/>
          <p:cNvPicPr>
            <a:picLocks noChangeAspect="1"/>
          </p:cNvPicPr>
          <p:nvPr/>
        </p:nvPicPr>
        <p:blipFill>
          <a:blip r:embed="rId19"/>
          <a:stretch>
            <a:fillRect/>
          </a:stretch>
        </p:blipFill>
        <p:spPr>
          <a:xfrm>
            <a:off x="10998708" y="5513832"/>
            <a:ext cx="420624" cy="420624"/>
          </a:xfrm>
          <a:prstGeom prst="rect">
            <a:avLst/>
          </a:prstGeom>
        </p:spPr>
      </p:pic>
      <p:sp>
        <p:nvSpPr>
          <p:cNvPr id="69" name="TextBox 68"/>
          <p:cNvSpPr txBox="1"/>
          <p:nvPr/>
        </p:nvSpPr>
        <p:spPr>
          <a:xfrm>
            <a:off x="10805160" y="5971032"/>
            <a:ext cx="807720" cy="274320"/>
          </a:xfrm>
          <a:prstGeom prst="rect">
            <a:avLst/>
          </a:prstGeom>
          <a:noFill/>
        </p:spPr>
        <p:txBody>
          <a:bodyPr wrap="square" lIns="0" tIns="0" rIns="0" bIns="0" anchor="t">
            <a:noAutofit/>
          </a:bodyPr>
          <a:lstStyle/>
          <a:p>
            <a:pPr algn="ctr"/>
            <a:r>
              <a:rPr sz="800" b="0" i="0">
                <a:solidFill>
                  <a:srgbClr val="140C12"/>
                </a:solidFill>
                <a:latin typeface="Aptos"/>
              </a:rPr>
              <a:t>bge-m3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411480" y="1353312"/>
            <a:ext cx="11338560" cy="292608"/>
          </a:xfrm>
          <a:prstGeom prst="rect">
            <a:avLst/>
          </a:prstGeom>
          <a:noFill/>
        </p:spPr>
        <p:txBody>
          <a:bodyPr wrap="square" lIns="18288" tIns="0" rIns="18288" bIns="0" anchor="ctr">
            <a:noAutofit/>
          </a:bodyPr>
          <a:lstStyle/>
          <a:p>
            <a:pPr algn="l"/>
            <a:r>
              <a:rPr sz="1050" b="1" i="0">
                <a:solidFill>
                  <a:srgbClr val="0070C0"/>
                </a:solidFill>
                <a:latin typeface="Aptos"/>
              </a:rPr>
              <a:t>ONE REAL COMPLAINT FROM THE TEST RUN  ·  </a:t>
            </a:r>
            <a:r>
              <a:rPr sz="1050" b="1" i="0">
                <a:solidFill>
                  <a:srgbClr val="0070C0"/>
                </a:solidFill>
                <a:latin typeface="Aptos"/>
              </a:rPr>
              <a:t>Tanglish text + GPS in; Water Supply, Critical, human review out, with office, due time and Tamil emails</a:t>
            </a:r>
          </a:p>
        </p:txBody>
      </p:sp>
      <p:sp>
        <p:nvSpPr>
          <p:cNvPr id="8" name="Rounded Rectangle 7"/>
          <p:cNvSpPr/>
          <p:nvPr/>
        </p:nvSpPr>
        <p:spPr>
          <a:xfrm>
            <a:off x="411480" y="1737360"/>
            <a:ext cx="3429000" cy="1691640"/>
          </a:xfrm>
          <a:prstGeom prst="roundRect">
            <a:avLst>
              <a:gd name="adj" fmla="val 6486"/>
            </a:avLst>
          </a:prstGeom>
          <a:solidFill>
            <a:srgbClr val="EAF2FA"/>
          </a:solidFill>
          <a:ln w="12700">
            <a:solidFill>
              <a:srgbClr val="0070C0"/>
            </a:solidFill>
          </a:ln>
          <a:effectLst/>
        </p:spPr>
        <p:txBody>
          <a:bodyPr rtlCol="0" anchor="ctr"/>
          <a:lstStyle/>
          <a:p>
            <a:pPr algn="ctr"/>
          </a:p>
        </p:txBody>
      </p:sp>
      <p:sp>
        <p:nvSpPr>
          <p:cNvPr id="9" name="Rounded Rectangle 8"/>
          <p:cNvSpPr/>
          <p:nvPr/>
        </p:nvSpPr>
        <p:spPr>
          <a:xfrm>
            <a:off x="411480" y="1737360"/>
            <a:ext cx="3429000" cy="347472"/>
          </a:xfrm>
          <a:prstGeom prst="roundRect">
            <a:avLst>
              <a:gd name="adj" fmla="val 31578"/>
            </a:avLst>
          </a:prstGeom>
          <a:solidFill>
            <a:srgbClr val="0070C0"/>
          </a:solidFill>
          <a:ln>
            <a:noFill/>
          </a:ln>
          <a:effectLst/>
        </p:spPr>
        <p:txBody>
          <a:bodyPr rtlCol="0" anchor="ctr"/>
          <a:lstStyle/>
          <a:p>
            <a:pPr algn="ctr"/>
          </a:p>
        </p:txBody>
      </p:sp>
      <p:sp>
        <p:nvSpPr>
          <p:cNvPr id="10" name="Rectangle 9"/>
          <p:cNvSpPr/>
          <p:nvPr/>
        </p:nvSpPr>
        <p:spPr>
          <a:xfrm>
            <a:off x="411480" y="1911095"/>
            <a:ext cx="3429000" cy="173736"/>
          </a:xfrm>
          <a:prstGeom prst="rect">
            <a:avLst/>
          </a:prstGeom>
          <a:solidFill>
            <a:srgbClr val="0070C0"/>
          </a:solidFill>
          <a:ln>
            <a:noFill/>
          </a:ln>
          <a:effectLst/>
        </p:spPr>
        <p:txBody>
          <a:bodyPr rtlCol="0" anchor="ctr"/>
          <a:lstStyle/>
          <a:p>
            <a:pPr algn="ctr"/>
          </a:p>
        </p:txBody>
      </p:sp>
      <p:pic>
        <p:nvPicPr>
          <p:cNvPr id="11" name="Picture 10" descr="image29.png"/>
          <p:cNvPicPr>
            <a:picLocks noChangeAspect="1"/>
          </p:cNvPicPr>
          <p:nvPr/>
        </p:nvPicPr>
        <p:blipFill>
          <a:blip r:embed="rId2"/>
          <a:stretch>
            <a:fillRect/>
          </a:stretch>
        </p:blipFill>
        <p:spPr>
          <a:xfrm>
            <a:off x="539496" y="1813369"/>
            <a:ext cx="219456" cy="195453"/>
          </a:xfrm>
          <a:prstGeom prst="rect">
            <a:avLst/>
          </a:prstGeom>
        </p:spPr>
      </p:pic>
      <p:sp>
        <p:nvSpPr>
          <p:cNvPr id="12" name="TextBox 11"/>
          <p:cNvSpPr txBox="1"/>
          <p:nvPr/>
        </p:nvSpPr>
        <p:spPr>
          <a:xfrm>
            <a:off x="86868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INPUT</a:t>
            </a:r>
          </a:p>
        </p:txBody>
      </p:sp>
      <p:sp>
        <p:nvSpPr>
          <p:cNvPr id="13" name="TextBox 12"/>
          <p:cNvSpPr txBox="1"/>
          <p:nvPr/>
        </p:nvSpPr>
        <p:spPr>
          <a:xfrm>
            <a:off x="50292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Verified citizen types in Tanglish: </a:t>
            </a:r>
            <a:r>
              <a:rPr sz="850" b="0" i="0">
                <a:solidFill>
                  <a:srgbClr val="140C12"/>
                </a:solidFill>
                <a:latin typeface="Aptos"/>
              </a:rPr>
              <a:t>"thanni 3 days ah varala, veetla 2 kids vomiting, call 98xxxxxx10"</a:t>
            </a:r>
          </a:p>
          <a:p>
            <a:pPr algn="l" marL="146304" indent="-146304">
              <a:spcAft>
                <a:spcPts val="300"/>
              </a:spcAft>
              <a:buFont typeface="Arial"/>
              <a:buChar char="•"/>
            </a:pPr>
            <a:r>
              <a:rPr sz="850" b="1" i="0">
                <a:solidFill>
                  <a:srgbClr val="140C12"/>
                </a:solidFill>
                <a:latin typeface="Aptos"/>
              </a:rPr>
              <a:t>Taps 'Use current location': </a:t>
            </a:r>
            <a:r>
              <a:rPr sz="850" b="0" i="0">
                <a:solidFill>
                  <a:srgbClr val="140C12"/>
                </a:solidFill>
                <a:latin typeface="Aptos"/>
              </a:rPr>
              <a:t>GPS 11.02, 76.97 resolves to Gandhipuram, Coimbatore</a:t>
            </a:r>
          </a:p>
          <a:p>
            <a:pPr algn="l" marL="146304" indent="-146304">
              <a:spcAft>
                <a:spcPts val="300"/>
              </a:spcAft>
              <a:buFont typeface="Arial"/>
              <a:buChar char="•"/>
            </a:pPr>
            <a:r>
              <a:rPr sz="850" b="1" i="0">
                <a:solidFill>
                  <a:srgbClr val="140C12"/>
                </a:solidFill>
                <a:latin typeface="Aptos"/>
              </a:rPr>
              <a:t>Gets a tracking ID in under 1 s </a:t>
            </a:r>
            <a:r>
              <a:rPr sz="850" b="0" i="0">
                <a:solidFill>
                  <a:srgbClr val="140C12"/>
                </a:solidFill>
                <a:latin typeface="Aptos"/>
              </a:rPr>
              <a:t>and a Tamil acknowledgement email</a:t>
            </a:r>
          </a:p>
        </p:txBody>
      </p:sp>
      <p:sp>
        <p:nvSpPr>
          <p:cNvPr id="14" name="Rounded Rectangle 13"/>
          <p:cNvSpPr/>
          <p:nvPr/>
        </p:nvSpPr>
        <p:spPr>
          <a:xfrm>
            <a:off x="4366260" y="1737360"/>
            <a:ext cx="3429000" cy="1691640"/>
          </a:xfrm>
          <a:prstGeom prst="roundRect">
            <a:avLst>
              <a:gd name="adj" fmla="val 6486"/>
            </a:avLst>
          </a:prstGeom>
          <a:solidFill>
            <a:srgbClr val="FFF2CC"/>
          </a:solidFill>
          <a:ln w="12700">
            <a:solidFill>
              <a:srgbClr val="C55A11"/>
            </a:solidFill>
          </a:ln>
          <a:effectLst/>
        </p:spPr>
        <p:txBody>
          <a:bodyPr rtlCol="0" anchor="ctr"/>
          <a:lstStyle/>
          <a:p>
            <a:pPr algn="ctr"/>
          </a:p>
        </p:txBody>
      </p:sp>
      <p:sp>
        <p:nvSpPr>
          <p:cNvPr id="15" name="Rounded Rectangle 14"/>
          <p:cNvSpPr/>
          <p:nvPr/>
        </p:nvSpPr>
        <p:spPr>
          <a:xfrm>
            <a:off x="4366260" y="1737360"/>
            <a:ext cx="3429000" cy="347472"/>
          </a:xfrm>
          <a:prstGeom prst="roundRect">
            <a:avLst>
              <a:gd name="adj" fmla="val 31578"/>
            </a:avLst>
          </a:prstGeom>
          <a:solidFill>
            <a:srgbClr val="C55A11"/>
          </a:solidFill>
          <a:ln>
            <a:noFill/>
          </a:ln>
          <a:effectLst/>
        </p:spPr>
        <p:txBody>
          <a:bodyPr rtlCol="0" anchor="ctr"/>
          <a:lstStyle/>
          <a:p>
            <a:pPr algn="ctr"/>
          </a:p>
        </p:txBody>
      </p:sp>
      <p:sp>
        <p:nvSpPr>
          <p:cNvPr id="16" name="Rectangle 15"/>
          <p:cNvSpPr/>
          <p:nvPr/>
        </p:nvSpPr>
        <p:spPr>
          <a:xfrm>
            <a:off x="4366260" y="1911095"/>
            <a:ext cx="3429000" cy="173736"/>
          </a:xfrm>
          <a:prstGeom prst="rect">
            <a:avLst/>
          </a:prstGeom>
          <a:solidFill>
            <a:srgbClr val="C55A11"/>
          </a:solidFill>
          <a:ln>
            <a:noFill/>
          </a:ln>
          <a:effectLst/>
        </p:spPr>
        <p:txBody>
          <a:bodyPr rtlCol="0" anchor="ctr"/>
          <a:lstStyle/>
          <a:p>
            <a:pPr algn="ctr"/>
          </a:p>
        </p:txBody>
      </p:sp>
      <p:pic>
        <p:nvPicPr>
          <p:cNvPr id="17" name="Picture 16" descr="image26.png"/>
          <p:cNvPicPr>
            <a:picLocks noChangeAspect="1"/>
          </p:cNvPicPr>
          <p:nvPr/>
        </p:nvPicPr>
        <p:blipFill>
          <a:blip r:embed="rId3"/>
          <a:stretch>
            <a:fillRect/>
          </a:stretch>
        </p:blipFill>
        <p:spPr>
          <a:xfrm>
            <a:off x="4494276" y="1801368"/>
            <a:ext cx="219456" cy="219456"/>
          </a:xfrm>
          <a:prstGeom prst="rect">
            <a:avLst/>
          </a:prstGeom>
        </p:spPr>
      </p:pic>
      <p:sp>
        <p:nvSpPr>
          <p:cNvPr id="18" name="TextBox 17"/>
          <p:cNvSpPr txBox="1"/>
          <p:nvPr/>
        </p:nvSpPr>
        <p:spPr>
          <a:xfrm>
            <a:off x="482346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PROCESS</a:t>
            </a:r>
          </a:p>
        </p:txBody>
      </p:sp>
      <p:sp>
        <p:nvSpPr>
          <p:cNvPr id="19" name="TextBox 18"/>
          <p:cNvSpPr txBox="1"/>
          <p:nvPr/>
        </p:nvSpPr>
        <p:spPr>
          <a:xfrm>
            <a:off x="445770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Script hint: </a:t>
            </a:r>
            <a:r>
              <a:rPr sz="850" b="0" i="0">
                <a:solidFill>
                  <a:srgbClr val="140C12"/>
                </a:solidFill>
                <a:latin typeface="Aptos"/>
              </a:rPr>
              <a:t>Latin-script Tamil (Tanglish) passed to the prompt; phone number masked</a:t>
            </a:r>
          </a:p>
          <a:p>
            <a:pPr algn="l" marL="146304" indent="-146304">
              <a:spcAft>
                <a:spcPts val="300"/>
              </a:spcAft>
              <a:buFont typeface="Arial"/>
              <a:buChar char="•"/>
            </a:pPr>
            <a:r>
              <a:rPr sz="850" b="1" i="0">
                <a:solidFill>
                  <a:srgbClr val="140C12"/>
                </a:solidFill>
                <a:latin typeface="Aptos"/>
              </a:rPr>
              <a:t>Gemma 3 4B (JSON schema): </a:t>
            </a:r>
            <a:r>
              <a:rPr sz="850" b="0" i="0">
                <a:solidFill>
                  <a:srgbClr val="140C12"/>
                </a:solidFill>
                <a:latin typeface="Aptos"/>
              </a:rPr>
              <a:t>health 0.95, Critical, evidence spans quoted verbatim</a:t>
            </a:r>
          </a:p>
          <a:p>
            <a:pPr algn="l" marL="146304" indent="-146304">
              <a:spcAft>
                <a:spcPts val="300"/>
              </a:spcAft>
              <a:buFont typeface="Arial"/>
              <a:buChar char="•"/>
            </a:pPr>
            <a:r>
              <a:rPr sz="850" b="1" i="0">
                <a:solidFill>
                  <a:srgbClr val="140C12"/>
                </a:solidFill>
                <a:latin typeface="Aptos"/>
              </a:rPr>
              <a:t>Rules: </a:t>
            </a:r>
            <a:r>
              <a:rPr sz="850" b="0" i="0">
                <a:solidFill>
                  <a:srgbClr val="140C12"/>
                </a:solidFill>
                <a:latin typeface="Aptos"/>
              </a:rPr>
              <a:t>R5 'thanni' → Water Supply; R10 children → Critical + forced review</a:t>
            </a:r>
          </a:p>
          <a:p>
            <a:pPr algn="l" marL="146304" indent="-146304">
              <a:spcAft>
                <a:spcPts val="300"/>
              </a:spcAft>
              <a:buFont typeface="Arial"/>
              <a:buChar char="•"/>
            </a:pPr>
            <a:r>
              <a:rPr sz="850" b="1" i="0">
                <a:solidFill>
                  <a:srgbClr val="140C12"/>
                </a:solidFill>
                <a:latin typeface="Aptos"/>
              </a:rPr>
              <a:t>bge-m3 + pgvector: </a:t>
            </a:r>
            <a:r>
              <a:rPr sz="850" b="0" i="0">
                <a:solidFill>
                  <a:srgbClr val="140C12"/>
                </a:solidFill>
                <a:latin typeface="Aptos"/>
              </a:rPr>
              <a:t>no duplicate; second opinion agrees on water</a:t>
            </a:r>
          </a:p>
        </p:txBody>
      </p:sp>
      <p:sp>
        <p:nvSpPr>
          <p:cNvPr id="20" name="Rounded Rectangle 19"/>
          <p:cNvSpPr/>
          <p:nvPr/>
        </p:nvSpPr>
        <p:spPr>
          <a:xfrm>
            <a:off x="8321040" y="1737360"/>
            <a:ext cx="3429000" cy="1691640"/>
          </a:xfrm>
          <a:prstGeom prst="roundRect">
            <a:avLst>
              <a:gd name="adj" fmla="val 6486"/>
            </a:avLst>
          </a:prstGeom>
          <a:solidFill>
            <a:srgbClr val="E8F5E9"/>
          </a:solidFill>
          <a:ln w="12700">
            <a:solidFill>
              <a:srgbClr val="2E7D32"/>
            </a:solidFill>
          </a:ln>
          <a:effectLst/>
        </p:spPr>
        <p:txBody>
          <a:bodyPr rtlCol="0" anchor="ctr"/>
          <a:lstStyle/>
          <a:p>
            <a:pPr algn="ctr"/>
          </a:p>
        </p:txBody>
      </p:sp>
      <p:sp>
        <p:nvSpPr>
          <p:cNvPr id="21" name="Rounded Rectangle 20"/>
          <p:cNvSpPr/>
          <p:nvPr/>
        </p:nvSpPr>
        <p:spPr>
          <a:xfrm>
            <a:off x="8321040" y="1737360"/>
            <a:ext cx="3429000" cy="347472"/>
          </a:xfrm>
          <a:prstGeom prst="roundRect">
            <a:avLst>
              <a:gd name="adj" fmla="val 31578"/>
            </a:avLst>
          </a:prstGeom>
          <a:solidFill>
            <a:srgbClr val="2E7D32"/>
          </a:solidFill>
          <a:ln>
            <a:noFill/>
          </a:ln>
          <a:effectLst/>
        </p:spPr>
        <p:txBody>
          <a:bodyPr rtlCol="0" anchor="ctr"/>
          <a:lstStyle/>
          <a:p>
            <a:pPr algn="ctr"/>
          </a:p>
        </p:txBody>
      </p:sp>
      <p:sp>
        <p:nvSpPr>
          <p:cNvPr id="22" name="Rectangle 21"/>
          <p:cNvSpPr/>
          <p:nvPr/>
        </p:nvSpPr>
        <p:spPr>
          <a:xfrm>
            <a:off x="8321040" y="1911095"/>
            <a:ext cx="3429000" cy="173736"/>
          </a:xfrm>
          <a:prstGeom prst="rect">
            <a:avLst/>
          </a:prstGeom>
          <a:solidFill>
            <a:srgbClr val="2E7D32"/>
          </a:solidFill>
          <a:ln>
            <a:noFill/>
          </a:ln>
          <a:effectLst/>
        </p:spPr>
        <p:txBody>
          <a:bodyPr rtlCol="0" anchor="ctr"/>
          <a:lstStyle/>
          <a:p>
            <a:pPr algn="ctr"/>
          </a:p>
        </p:txBody>
      </p:sp>
      <p:pic>
        <p:nvPicPr>
          <p:cNvPr id="23" name="Picture 22" descr="image28.png"/>
          <p:cNvPicPr>
            <a:picLocks noChangeAspect="1"/>
          </p:cNvPicPr>
          <p:nvPr/>
        </p:nvPicPr>
        <p:blipFill>
          <a:blip r:embed="rId4"/>
          <a:stretch>
            <a:fillRect/>
          </a:stretch>
        </p:blipFill>
        <p:spPr>
          <a:xfrm>
            <a:off x="8476488" y="1801368"/>
            <a:ext cx="164592" cy="219456"/>
          </a:xfrm>
          <a:prstGeom prst="rect">
            <a:avLst/>
          </a:prstGeom>
        </p:spPr>
      </p:pic>
      <p:sp>
        <p:nvSpPr>
          <p:cNvPr id="24" name="TextBox 23"/>
          <p:cNvSpPr txBox="1"/>
          <p:nvPr/>
        </p:nvSpPr>
        <p:spPr>
          <a:xfrm>
            <a:off x="8778240" y="1737360"/>
            <a:ext cx="2880360" cy="347472"/>
          </a:xfrm>
          <a:prstGeom prst="rect">
            <a:avLst/>
          </a:prstGeom>
          <a:noFill/>
        </p:spPr>
        <p:txBody>
          <a:bodyPr wrap="square" lIns="18288" tIns="0" rIns="18288" bIns="0" anchor="ctr">
            <a:noAutofit/>
          </a:bodyPr>
          <a:lstStyle/>
          <a:p>
            <a:pPr algn="l"/>
            <a:r>
              <a:rPr sz="1050" b="1" i="0">
                <a:solidFill>
                  <a:srgbClr val="FFFFFF"/>
                </a:solidFill>
                <a:latin typeface="Aptos"/>
              </a:rPr>
              <a:t>OUTPUT</a:t>
            </a:r>
          </a:p>
        </p:txBody>
      </p:sp>
      <p:sp>
        <p:nvSpPr>
          <p:cNvPr id="25" name="TextBox 24"/>
          <p:cNvSpPr txBox="1"/>
          <p:nvPr/>
        </p:nvSpPr>
        <p:spPr>
          <a:xfrm>
            <a:off x="8412480" y="2139696"/>
            <a:ext cx="3246120" cy="125272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850" b="1" i="0">
                <a:solidFill>
                  <a:srgbClr val="140C12"/>
                </a:solidFill>
                <a:latin typeface="Aptos"/>
              </a:rPr>
              <a:t>Water Supply · Critical · human review </a:t>
            </a:r>
            <a:r>
              <a:rPr sz="850" b="0" i="0">
                <a:solidFill>
                  <a:srgbClr val="140C12"/>
                </a:solidFill>
                <a:latin typeface="Aptos"/>
              </a:rPr>
              <a:t>(rule disagreement + Critical)</a:t>
            </a:r>
          </a:p>
          <a:p>
            <a:pPr algn="l" marL="146304" indent="-146304">
              <a:spcAft>
                <a:spcPts val="300"/>
              </a:spcAft>
              <a:buFont typeface="Arial"/>
              <a:buChar char="•"/>
            </a:pPr>
            <a:r>
              <a:rPr sz="850" b="1" i="0">
                <a:solidFill>
                  <a:srgbClr val="140C12"/>
                </a:solidFill>
                <a:latin typeface="Aptos"/>
              </a:rPr>
              <a:t>Coimbatore Water Supply office, </a:t>
            </a:r>
            <a:r>
              <a:rPr sz="850" b="0" i="0">
                <a:solidFill>
                  <a:srgbClr val="140C12"/>
                </a:solidFill>
                <a:latin typeface="Aptos"/>
              </a:rPr>
              <a:t>due in 6 h (SLA × 0.25 for Critical)</a:t>
            </a:r>
          </a:p>
          <a:p>
            <a:pPr algn="l" marL="146304" indent="-146304">
              <a:spcAft>
                <a:spcPts val="300"/>
              </a:spcAft>
              <a:buFont typeface="Arial"/>
              <a:buChar char="•"/>
            </a:pPr>
            <a:r>
              <a:rPr sz="850" b="1" i="0">
                <a:solidFill>
                  <a:srgbClr val="140C12"/>
                </a:solidFill>
                <a:latin typeface="Aptos"/>
              </a:rPr>
              <a:t>Evidence: </a:t>
            </a:r>
            <a:r>
              <a:rPr sz="850" b="0" i="0">
                <a:solidFill>
                  <a:srgbClr val="140C12"/>
                </a:solidFill>
                <a:latin typeface="Aptos"/>
              </a:rPr>
              <a:t>"thanni 3 days ah varala", "2 kids vomiting"</a:t>
            </a:r>
          </a:p>
          <a:p>
            <a:pPr algn="l" marL="146304" indent="-146304">
              <a:spcAft>
                <a:spcPts val="300"/>
              </a:spcAft>
              <a:buFont typeface="Arial"/>
              <a:buChar char="•"/>
            </a:pPr>
            <a:r>
              <a:rPr sz="850" b="1" i="0">
                <a:solidFill>
                  <a:srgbClr val="140C12"/>
                </a:solidFill>
                <a:latin typeface="Aptos"/>
              </a:rPr>
              <a:t>4 Tamil emails; </a:t>
            </a:r>
            <a:r>
              <a:rPr sz="850" b="0" i="0">
                <a:solidFill>
                  <a:srgbClr val="140C12"/>
                </a:solidFill>
                <a:latin typeface="Aptos"/>
              </a:rPr>
              <a:t>officer sees the phone, citizen sees it masked; 28 s end to end</a:t>
            </a:r>
          </a:p>
        </p:txBody>
      </p:sp>
      <p:cxnSp>
        <p:nvCxnSpPr>
          <p:cNvPr id="26" name="Connector 25"/>
          <p:cNvCxnSpPr/>
          <p:nvPr/>
        </p:nvCxnSpPr>
        <p:spPr>
          <a:xfrm>
            <a:off x="3913632" y="2583180"/>
            <a:ext cx="379476" cy="0"/>
          </a:xfrm>
          <a:prstGeom prst="line">
            <a:avLst/>
          </a:prstGeom>
          <a:ln w="25400">
            <a:solidFill>
              <a:srgbClr val="1F497D"/>
            </a:solidFill>
            <a:tailEnd type="triangle" w="med" len="med"/>
          </a:ln>
        </p:spPr>
      </p:cxnSp>
      <p:cxnSp>
        <p:nvCxnSpPr>
          <p:cNvPr id="27" name="Connector 26"/>
          <p:cNvCxnSpPr/>
          <p:nvPr/>
        </p:nvCxnSpPr>
        <p:spPr>
          <a:xfrm>
            <a:off x="7868412" y="2583180"/>
            <a:ext cx="379476" cy="0"/>
          </a:xfrm>
          <a:prstGeom prst="line">
            <a:avLst/>
          </a:prstGeom>
          <a:ln w="25400">
            <a:solidFill>
              <a:srgbClr val="1F497D"/>
            </a:solidFill>
            <a:tailEnd type="triangle" w="med" len="med"/>
          </a:ln>
        </p:spPr>
      </p:cxnSp>
      <p:sp>
        <p:nvSpPr>
          <p:cNvPr id="28" name="Rounded Rectangle 27"/>
          <p:cNvSpPr/>
          <p:nvPr/>
        </p:nvSpPr>
        <p:spPr>
          <a:xfrm>
            <a:off x="411480" y="3566160"/>
            <a:ext cx="11338560" cy="502920"/>
          </a:xfrm>
          <a:prstGeom prst="roundRect">
            <a:avLst>
              <a:gd name="adj" fmla="val 14545"/>
            </a:avLst>
          </a:prstGeom>
          <a:solidFill>
            <a:srgbClr val="F4F8FC"/>
          </a:solidFill>
          <a:ln w="9525">
            <a:solidFill>
              <a:srgbClr val="BDD7EE"/>
            </a:solidFill>
          </a:ln>
          <a:effectLst/>
        </p:spPr>
        <p:txBody>
          <a:bodyPr rtlCol="0" anchor="ctr"/>
          <a:lstStyle/>
          <a:p>
            <a:pPr algn="ctr"/>
          </a:p>
        </p:txBody>
      </p:sp>
      <p:sp>
        <p:nvSpPr>
          <p:cNvPr id="29" name="Oval 28"/>
          <p:cNvSpPr/>
          <p:nvPr/>
        </p:nvSpPr>
        <p:spPr>
          <a:xfrm>
            <a:off x="502920" y="3698748"/>
            <a:ext cx="237744" cy="237744"/>
          </a:xfrm>
          <a:prstGeom prst="ellipse">
            <a:avLst/>
          </a:prstGeom>
          <a:solidFill>
            <a:srgbClr val="0070C0"/>
          </a:solidFill>
          <a:ln>
            <a:noFill/>
          </a:ln>
          <a:effectLst/>
        </p:spPr>
        <p:txBody>
          <a:bodyPr rtlCol="0" anchor="ctr"/>
          <a:lstStyle/>
          <a:p>
            <a:pPr algn="ctr"/>
          </a:p>
        </p:txBody>
      </p:sp>
      <p:sp>
        <p:nvSpPr>
          <p:cNvPr id="30" name="TextBox 29"/>
          <p:cNvSpPr txBox="1"/>
          <p:nvPr/>
        </p:nvSpPr>
        <p:spPr>
          <a:xfrm>
            <a:off x="502920" y="3698748"/>
            <a:ext cx="237744" cy="237744"/>
          </a:xfrm>
          <a:prstGeom prst="rect">
            <a:avLst/>
          </a:prstGeom>
          <a:noFill/>
        </p:spPr>
        <p:txBody>
          <a:bodyPr wrap="square" lIns="0" tIns="0" rIns="0" bIns="0" anchor="ctr">
            <a:noAutofit/>
          </a:bodyPr>
          <a:lstStyle/>
          <a:p>
            <a:pPr algn="ctr"/>
            <a:r>
              <a:rPr sz="750" b="1" i="0">
                <a:solidFill>
                  <a:srgbClr val="FFFFFF"/>
                </a:solidFill>
                <a:latin typeface="Aptos"/>
              </a:rPr>
              <a:t>01</a:t>
            </a:r>
          </a:p>
        </p:txBody>
      </p:sp>
      <p:sp>
        <p:nvSpPr>
          <p:cNvPr id="31" name="TextBox 30"/>
          <p:cNvSpPr txBox="1"/>
          <p:nvPr/>
        </p:nvSpPr>
        <p:spPr>
          <a:xfrm>
            <a:off x="813816" y="3566160"/>
            <a:ext cx="10844784" cy="502920"/>
          </a:xfrm>
          <a:prstGeom prst="rect">
            <a:avLst/>
          </a:prstGeom>
          <a:noFill/>
        </p:spPr>
        <p:txBody>
          <a:bodyPr wrap="square" lIns="18288" tIns="9144" rIns="36576" bIns="9144" anchor="ctr">
            <a:noAutofit/>
          </a:bodyPr>
          <a:lstStyle/>
          <a:p>
            <a:pPr algn="l"/>
            <a:r>
              <a:rPr sz="950" b="1" i="0">
                <a:solidFill>
                  <a:srgbClr val="1E3A8A"/>
                </a:solidFill>
                <a:latin typeface="Aptos"/>
              </a:rPr>
              <a:t>Test scenario: </a:t>
            </a:r>
            <a:r>
              <a:rPr sz="950" b="0" i="0">
                <a:solidFill>
                  <a:srgbClr val="140C12"/>
                </a:solidFill>
                <a:latin typeface="Aptos"/>
              </a:rPr>
              <a:t>a Tanglish water-outage complaint mentioning sick children, GPS location, no photo, filed from the Vindex web app by a verified citizen (case 5 of the 61-check end-to-end suite).</a:t>
            </a:r>
          </a:p>
        </p:txBody>
      </p:sp>
      <p:sp>
        <p:nvSpPr>
          <p:cNvPr id="32" name="Rounded Rectangle 31"/>
          <p:cNvSpPr/>
          <p:nvPr/>
        </p:nvSpPr>
        <p:spPr>
          <a:xfrm>
            <a:off x="411480" y="4178808"/>
            <a:ext cx="11338560" cy="502920"/>
          </a:xfrm>
          <a:prstGeom prst="roundRect">
            <a:avLst>
              <a:gd name="adj" fmla="val 14545"/>
            </a:avLst>
          </a:prstGeom>
          <a:solidFill>
            <a:srgbClr val="F3E8FF"/>
          </a:solidFill>
          <a:ln w="9525">
            <a:solidFill>
              <a:srgbClr val="D8B4FE"/>
            </a:solidFill>
          </a:ln>
          <a:effectLst/>
        </p:spPr>
        <p:txBody>
          <a:bodyPr rtlCol="0" anchor="ctr"/>
          <a:lstStyle/>
          <a:p>
            <a:pPr algn="ctr"/>
          </a:p>
        </p:txBody>
      </p:sp>
      <p:sp>
        <p:nvSpPr>
          <p:cNvPr id="33" name="Oval 32"/>
          <p:cNvSpPr/>
          <p:nvPr/>
        </p:nvSpPr>
        <p:spPr>
          <a:xfrm>
            <a:off x="502920" y="4311396"/>
            <a:ext cx="237744" cy="237744"/>
          </a:xfrm>
          <a:prstGeom prst="ellipse">
            <a:avLst/>
          </a:prstGeom>
          <a:solidFill>
            <a:srgbClr val="7E22CE"/>
          </a:solidFill>
          <a:ln>
            <a:noFill/>
          </a:ln>
          <a:effectLst/>
        </p:spPr>
        <p:txBody>
          <a:bodyPr rtlCol="0" anchor="ctr"/>
          <a:lstStyle/>
          <a:p>
            <a:pPr algn="ctr"/>
          </a:p>
        </p:txBody>
      </p:sp>
      <p:sp>
        <p:nvSpPr>
          <p:cNvPr id="34" name="TextBox 33"/>
          <p:cNvSpPr txBox="1"/>
          <p:nvPr/>
        </p:nvSpPr>
        <p:spPr>
          <a:xfrm>
            <a:off x="502920" y="4311396"/>
            <a:ext cx="237744" cy="237744"/>
          </a:xfrm>
          <a:prstGeom prst="rect">
            <a:avLst/>
          </a:prstGeom>
          <a:noFill/>
        </p:spPr>
        <p:txBody>
          <a:bodyPr wrap="square" lIns="0" tIns="0" rIns="0" bIns="0" anchor="ctr">
            <a:noAutofit/>
          </a:bodyPr>
          <a:lstStyle/>
          <a:p>
            <a:pPr algn="ctr"/>
            <a:r>
              <a:rPr sz="750" b="1" i="0">
                <a:solidFill>
                  <a:srgbClr val="FFFFFF"/>
                </a:solidFill>
                <a:latin typeface="Aptos"/>
              </a:rPr>
              <a:t>02</a:t>
            </a:r>
          </a:p>
        </p:txBody>
      </p:sp>
      <p:sp>
        <p:nvSpPr>
          <p:cNvPr id="35" name="TextBox 34"/>
          <p:cNvSpPr txBox="1"/>
          <p:nvPr/>
        </p:nvSpPr>
        <p:spPr>
          <a:xfrm>
            <a:off x="813816" y="4178808"/>
            <a:ext cx="10844784" cy="502920"/>
          </a:xfrm>
          <a:prstGeom prst="rect">
            <a:avLst/>
          </a:prstGeom>
          <a:noFill/>
        </p:spPr>
        <p:txBody>
          <a:bodyPr wrap="square" lIns="18288" tIns="9144" rIns="36576" bIns="9144" anchor="ctr">
            <a:noAutofit/>
          </a:bodyPr>
          <a:lstStyle/>
          <a:p>
            <a:pPr algn="l"/>
            <a:r>
              <a:rPr sz="950" b="1" i="0">
                <a:solidFill>
                  <a:srgbClr val="6B21A8"/>
                </a:solidFill>
                <a:latin typeface="Aptos"/>
              </a:rPr>
              <a:t>Expected output: </a:t>
            </a:r>
            <a:r>
              <a:rPr sz="950" b="0" i="0">
                <a:solidFill>
                  <a:srgbClr val="140C12"/>
                </a:solidFill>
                <a:latin typeface="Aptos"/>
              </a:rPr>
              <a:t>language ta+en, Water Supply, Critical, evidence quoted from the original text, human review, district office with due time, Tamil status emails.</a:t>
            </a:r>
          </a:p>
        </p:txBody>
      </p:sp>
      <p:sp>
        <p:nvSpPr>
          <p:cNvPr id="36" name="Rounded Rectangle 35"/>
          <p:cNvSpPr/>
          <p:nvPr/>
        </p:nvSpPr>
        <p:spPr>
          <a:xfrm>
            <a:off x="411480" y="4791456"/>
            <a:ext cx="11338560" cy="777240"/>
          </a:xfrm>
          <a:prstGeom prst="roundRect">
            <a:avLst>
              <a:gd name="adj" fmla="val 9411"/>
            </a:avLst>
          </a:prstGeom>
          <a:solidFill>
            <a:srgbClr val="F0FDF4"/>
          </a:solidFill>
          <a:ln w="9525">
            <a:solidFill>
              <a:srgbClr val="86EFAC"/>
            </a:solidFill>
          </a:ln>
          <a:effectLst/>
        </p:spPr>
        <p:txBody>
          <a:bodyPr rtlCol="0" anchor="ctr"/>
          <a:lstStyle/>
          <a:p>
            <a:pPr algn="ctr"/>
          </a:p>
        </p:txBody>
      </p:sp>
      <p:sp>
        <p:nvSpPr>
          <p:cNvPr id="37" name="Oval 36"/>
          <p:cNvSpPr/>
          <p:nvPr/>
        </p:nvSpPr>
        <p:spPr>
          <a:xfrm>
            <a:off x="502920" y="5061204"/>
            <a:ext cx="237744" cy="237744"/>
          </a:xfrm>
          <a:prstGeom prst="ellipse">
            <a:avLst/>
          </a:prstGeom>
          <a:solidFill>
            <a:srgbClr val="16A34A"/>
          </a:solidFill>
          <a:ln>
            <a:noFill/>
          </a:ln>
          <a:effectLst/>
        </p:spPr>
        <p:txBody>
          <a:bodyPr rtlCol="0" anchor="ctr"/>
          <a:lstStyle/>
          <a:p>
            <a:pPr algn="ctr"/>
          </a:p>
        </p:txBody>
      </p:sp>
      <p:sp>
        <p:nvSpPr>
          <p:cNvPr id="38" name="TextBox 37"/>
          <p:cNvSpPr txBox="1"/>
          <p:nvPr/>
        </p:nvSpPr>
        <p:spPr>
          <a:xfrm>
            <a:off x="502920" y="5061204"/>
            <a:ext cx="237744" cy="237744"/>
          </a:xfrm>
          <a:prstGeom prst="rect">
            <a:avLst/>
          </a:prstGeom>
          <a:noFill/>
        </p:spPr>
        <p:txBody>
          <a:bodyPr wrap="square" lIns="0" tIns="0" rIns="0" bIns="0" anchor="ctr">
            <a:noAutofit/>
          </a:bodyPr>
          <a:lstStyle/>
          <a:p>
            <a:pPr algn="ctr"/>
            <a:r>
              <a:rPr sz="750" b="1" i="0">
                <a:solidFill>
                  <a:srgbClr val="FFFFFF"/>
                </a:solidFill>
                <a:latin typeface="Aptos"/>
              </a:rPr>
              <a:t>03</a:t>
            </a:r>
          </a:p>
        </p:txBody>
      </p:sp>
      <p:sp>
        <p:nvSpPr>
          <p:cNvPr id="39" name="TextBox 38"/>
          <p:cNvSpPr txBox="1"/>
          <p:nvPr/>
        </p:nvSpPr>
        <p:spPr>
          <a:xfrm>
            <a:off x="813816" y="4791456"/>
            <a:ext cx="10844784" cy="777240"/>
          </a:xfrm>
          <a:prstGeom prst="rect">
            <a:avLst/>
          </a:prstGeom>
          <a:noFill/>
        </p:spPr>
        <p:txBody>
          <a:bodyPr wrap="square" lIns="18288" tIns="9144" rIns="36576" bIns="9144" anchor="ctr">
            <a:noAutofit/>
          </a:bodyPr>
          <a:lstStyle/>
          <a:p>
            <a:pPr algn="l"/>
            <a:r>
              <a:rPr sz="950" b="1" i="0">
                <a:solidFill>
                  <a:srgbClr val="166534"/>
                </a:solidFill>
                <a:latin typeface="Aptos"/>
              </a:rPr>
              <a:t>Actual output / evidence: </a:t>
            </a:r>
            <a:r>
              <a:rPr sz="950" b="0" i="0">
                <a:solidFill>
                  <a:srgbClr val="140C12"/>
                </a:solidFill>
                <a:latin typeface="Aptos"/>
              </a:rPr>
              <a:t>model said health 0.95; rule R5 (thanni) overrode to Water Supply; R10 (children) + Critical forced review; office Coimbatore Water Supply, SLA 6 h; phone masked for the citizen, visible to the officer; 4 Tamil emails in Mailpit; 28 s end to end. Whole suite: 61 of 61 checks pass; gold set with rules: department 100%, Critical recall 100%, language ID 92%.</a:t>
            </a:r>
          </a:p>
        </p:txBody>
      </p:sp>
      <p:sp>
        <p:nvSpPr>
          <p:cNvPr id="40" name="TextBox 39"/>
          <p:cNvSpPr txBox="1"/>
          <p:nvPr/>
        </p:nvSpPr>
        <p:spPr>
          <a:xfrm>
            <a:off x="411480" y="5760720"/>
            <a:ext cx="1005840" cy="365760"/>
          </a:xfrm>
          <a:prstGeom prst="rect">
            <a:avLst/>
          </a:prstGeom>
          <a:noFill/>
        </p:spPr>
        <p:txBody>
          <a:bodyPr wrap="square" lIns="18288" tIns="0" rIns="18288" bIns="0" anchor="ctr">
            <a:noAutofit/>
          </a:bodyPr>
          <a:lstStyle/>
          <a:p>
            <a:pPr algn="l"/>
            <a:r>
              <a:rPr sz="950" b="1" i="0">
                <a:solidFill>
                  <a:srgbClr val="1F497D"/>
                </a:solidFill>
                <a:latin typeface="Aptos"/>
              </a:rPr>
              <a:t>Demo links</a:t>
            </a:r>
          </a:p>
        </p:txBody>
      </p:sp>
      <p:sp>
        <p:nvSpPr>
          <p:cNvPr id="41" name="Rounded Rectangle 40"/>
          <p:cNvSpPr/>
          <p:nvPr/>
        </p:nvSpPr>
        <p:spPr>
          <a:xfrm>
            <a:off x="1417320" y="5779008"/>
            <a:ext cx="1600200" cy="329184"/>
          </a:xfrm>
          <a:prstGeom prst="roundRect">
            <a:avLst>
              <a:gd name="adj" fmla="val 50000"/>
            </a:avLst>
          </a:prstGeom>
          <a:solidFill>
            <a:srgbClr val="1F497D"/>
          </a:solidFill>
          <a:ln>
            <a:noFill/>
          </a:ln>
          <a:effectLst/>
        </p:spPr>
        <p:txBody>
          <a:bodyPr rtlCol="0" anchor="ctr"/>
          <a:lstStyle/>
          <a:p>
            <a:pPr algn="ctr"/>
          </a:p>
        </p:txBody>
      </p:sp>
      <p:sp>
        <p:nvSpPr>
          <p:cNvPr id="42" name="TextBox 41"/>
          <p:cNvSpPr txBox="1"/>
          <p:nvPr/>
        </p:nvSpPr>
        <p:spPr>
          <a:xfrm>
            <a:off x="1417320"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App  ·  localhost:5173</a:t>
            </a:r>
          </a:p>
        </p:txBody>
      </p:sp>
      <p:sp>
        <p:nvSpPr>
          <p:cNvPr id="43" name="Rounded Rectangle 42"/>
          <p:cNvSpPr/>
          <p:nvPr/>
        </p:nvSpPr>
        <p:spPr>
          <a:xfrm>
            <a:off x="3127248" y="5779008"/>
            <a:ext cx="2103120" cy="329184"/>
          </a:xfrm>
          <a:prstGeom prst="roundRect">
            <a:avLst>
              <a:gd name="adj" fmla="val 50000"/>
            </a:avLst>
          </a:prstGeom>
          <a:solidFill>
            <a:srgbClr val="0070C0"/>
          </a:solidFill>
          <a:ln>
            <a:noFill/>
          </a:ln>
          <a:effectLst/>
        </p:spPr>
        <p:txBody>
          <a:bodyPr rtlCol="0" anchor="ctr"/>
          <a:lstStyle/>
          <a:p>
            <a:pPr algn="ctr"/>
          </a:p>
        </p:txBody>
      </p:sp>
      <p:sp>
        <p:nvSpPr>
          <p:cNvPr id="44" name="TextBox 43"/>
          <p:cNvSpPr txBox="1"/>
          <p:nvPr/>
        </p:nvSpPr>
        <p:spPr>
          <a:xfrm>
            <a:off x="3127248" y="5779008"/>
            <a:ext cx="2103120" cy="329184"/>
          </a:xfrm>
          <a:prstGeom prst="rect">
            <a:avLst/>
          </a:prstGeom>
          <a:noFill/>
        </p:spPr>
        <p:txBody>
          <a:bodyPr wrap="square" lIns="18288" tIns="0" rIns="18288" bIns="0" anchor="ctr">
            <a:noAutofit/>
          </a:bodyPr>
          <a:lstStyle/>
          <a:p>
            <a:pPr algn="ctr"/>
            <a:r>
              <a:rPr sz="850" b="1" i="0">
                <a:solidFill>
                  <a:srgbClr val="FFFFFF"/>
                </a:solidFill>
                <a:latin typeface="Aptos"/>
              </a:rPr>
              <a:t>API docs  ·  localhost:8000/docs</a:t>
            </a:r>
          </a:p>
        </p:txBody>
      </p:sp>
      <p:sp>
        <p:nvSpPr>
          <p:cNvPr id="45" name="Rounded Rectangle 44"/>
          <p:cNvSpPr/>
          <p:nvPr/>
        </p:nvSpPr>
        <p:spPr>
          <a:xfrm>
            <a:off x="5340096" y="5779008"/>
            <a:ext cx="1600200" cy="329184"/>
          </a:xfrm>
          <a:prstGeom prst="roundRect">
            <a:avLst>
              <a:gd name="adj" fmla="val 50000"/>
            </a:avLst>
          </a:prstGeom>
          <a:solidFill>
            <a:srgbClr val="00796B"/>
          </a:solidFill>
          <a:ln>
            <a:noFill/>
          </a:ln>
          <a:effectLst/>
        </p:spPr>
        <p:txBody>
          <a:bodyPr rtlCol="0" anchor="ctr"/>
          <a:lstStyle/>
          <a:p>
            <a:pPr algn="ctr"/>
          </a:p>
        </p:txBody>
      </p:sp>
      <p:sp>
        <p:nvSpPr>
          <p:cNvPr id="46" name="TextBox 45"/>
          <p:cNvSpPr txBox="1"/>
          <p:nvPr/>
        </p:nvSpPr>
        <p:spPr>
          <a:xfrm>
            <a:off x="5340096" y="5779008"/>
            <a:ext cx="1600200" cy="329184"/>
          </a:xfrm>
          <a:prstGeom prst="rect">
            <a:avLst/>
          </a:prstGeom>
          <a:noFill/>
        </p:spPr>
        <p:txBody>
          <a:bodyPr wrap="square" lIns="18288" tIns="0" rIns="18288" bIns="0" anchor="ctr">
            <a:noAutofit/>
          </a:bodyPr>
          <a:lstStyle/>
          <a:p>
            <a:pPr algn="ctr"/>
            <a:r>
              <a:rPr sz="850" b="1" i="0">
                <a:solidFill>
                  <a:srgbClr val="FFFFFF"/>
                </a:solidFill>
                <a:latin typeface="Aptos"/>
              </a:rPr>
              <a:t>Mail  ·  localhost:8025</a:t>
            </a:r>
          </a:p>
        </p:txBody>
      </p:sp>
      <p:sp>
        <p:nvSpPr>
          <p:cNvPr id="47" name="Rounded Rectangle 46"/>
          <p:cNvSpPr/>
          <p:nvPr/>
        </p:nvSpPr>
        <p:spPr>
          <a:xfrm>
            <a:off x="7050024" y="5779008"/>
            <a:ext cx="4700016" cy="329184"/>
          </a:xfrm>
          <a:prstGeom prst="roundRect">
            <a:avLst>
              <a:gd name="adj" fmla="val 50000"/>
            </a:avLst>
          </a:prstGeom>
          <a:solidFill>
            <a:srgbClr val="0F172A"/>
          </a:solidFill>
          <a:ln>
            <a:noFill/>
          </a:ln>
          <a:effectLst/>
        </p:spPr>
        <p:txBody>
          <a:bodyPr rtlCol="0" anchor="ctr"/>
          <a:lstStyle/>
          <a:p>
            <a:pPr algn="ctr"/>
          </a:p>
        </p:txBody>
      </p:sp>
      <p:pic>
        <p:nvPicPr>
          <p:cNvPr id="48" name="Picture 47" descr="image40.png"/>
          <p:cNvPicPr>
            <a:picLocks noChangeAspect="1"/>
          </p:cNvPicPr>
          <p:nvPr/>
        </p:nvPicPr>
        <p:blipFill>
          <a:blip r:embed="rId5"/>
          <a:stretch>
            <a:fillRect/>
          </a:stretch>
        </p:blipFill>
        <p:spPr>
          <a:xfrm>
            <a:off x="7159752" y="5843016"/>
            <a:ext cx="201168" cy="201168"/>
          </a:xfrm>
          <a:prstGeom prst="rect">
            <a:avLst/>
          </a:prstGeom>
        </p:spPr>
      </p:pic>
      <p:sp>
        <p:nvSpPr>
          <p:cNvPr id="49" name="TextBox 48"/>
          <p:cNvSpPr txBox="1"/>
          <p:nvPr/>
        </p:nvSpPr>
        <p:spPr>
          <a:xfrm>
            <a:off x="7397496" y="5779008"/>
            <a:ext cx="4315968" cy="329184"/>
          </a:xfrm>
          <a:prstGeom prst="rect">
            <a:avLst/>
          </a:prstGeom>
          <a:noFill/>
        </p:spPr>
        <p:txBody>
          <a:bodyPr wrap="square" lIns="18288" tIns="0" rIns="18288" bIns="0" anchor="ctr">
            <a:noAutofit/>
          </a:bodyPr>
          <a:lstStyle/>
          <a:p>
            <a:pPr algn="l"/>
            <a:r>
              <a:rPr sz="750" b="1" i="0">
                <a:solidFill>
                  <a:srgbClr val="FFFFFF"/>
                </a:solidFill>
                <a:latin typeface="Aptos"/>
              </a:rPr>
              <a:t>GitHub  ·  </a:t>
            </a:r>
            <a:r>
              <a:rPr sz="750" b="1" i="0">
                <a:solidFill>
                  <a:srgbClr val="FFFFFF"/>
                </a:solidFill>
                <a:latin typeface="Aptos"/>
              </a:rPr>
              <a:t>github.com/Balavigneshcse/AI_Grievance_Redressal_Prioritization_System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Rounded Rectangle 6"/>
          <p:cNvSpPr/>
          <p:nvPr/>
        </p:nvSpPr>
        <p:spPr>
          <a:xfrm>
            <a:off x="411480" y="1371600"/>
            <a:ext cx="1417320" cy="1234440"/>
          </a:xfrm>
          <a:prstGeom prst="roundRect">
            <a:avLst>
              <a:gd name="adj" fmla="val 8888"/>
            </a:avLst>
          </a:prstGeom>
          <a:solidFill>
            <a:srgbClr val="1F497D"/>
          </a:solidFill>
          <a:ln>
            <a:noFill/>
          </a:ln>
          <a:effectLst/>
        </p:spPr>
        <p:txBody>
          <a:bodyPr rtlCol="0" anchor="ctr"/>
          <a:lstStyle/>
          <a:p>
            <a:pPr algn="ctr"/>
          </a:p>
        </p:txBody>
      </p:sp>
      <p:pic>
        <p:nvPicPr>
          <p:cNvPr id="8" name="Picture 7" descr="image9.png"/>
          <p:cNvPicPr>
            <a:picLocks noChangeAspect="1"/>
          </p:cNvPicPr>
          <p:nvPr/>
        </p:nvPicPr>
        <p:blipFill>
          <a:blip r:embed="rId2"/>
          <a:stretch>
            <a:fillRect/>
          </a:stretch>
        </p:blipFill>
        <p:spPr>
          <a:xfrm>
            <a:off x="868680" y="1444752"/>
            <a:ext cx="502920" cy="502920"/>
          </a:xfrm>
          <a:prstGeom prst="rect">
            <a:avLst/>
          </a:prstGeom>
        </p:spPr>
      </p:pic>
      <p:sp>
        <p:nvSpPr>
          <p:cNvPr id="9" name="TextBox 8"/>
          <p:cNvSpPr txBox="1"/>
          <p:nvPr/>
        </p:nvSpPr>
        <p:spPr>
          <a:xfrm>
            <a:off x="411480" y="1965960"/>
            <a:ext cx="1417320" cy="594360"/>
          </a:xfrm>
          <a:prstGeom prst="rect">
            <a:avLst/>
          </a:prstGeom>
          <a:noFill/>
        </p:spPr>
        <p:txBody>
          <a:bodyPr wrap="square" lIns="18288" tIns="0" rIns="18288" bIns="0" anchor="t">
            <a:noAutofit/>
          </a:bodyPr>
          <a:lstStyle/>
          <a:p>
            <a:pPr algn="ctr"/>
            <a:r>
              <a:rPr sz="1000" b="1" i="0">
                <a:solidFill>
                  <a:srgbClr val="FFFFFF"/>
                </a:solidFill>
                <a:latin typeface="Aptos"/>
              </a:rPr>
              <a:t>Innovation and</a:t>
            </a:r>
          </a:p>
          <a:p>
            <a:pPr algn="ctr"/>
            <a:r>
              <a:rPr sz="1000" b="1" i="0">
                <a:solidFill>
                  <a:srgbClr val="FFFFFF"/>
                </a:solidFill>
                <a:latin typeface="Aptos"/>
              </a:rPr>
              <a:t>uniqueness</a:t>
            </a:r>
          </a:p>
        </p:txBody>
      </p:sp>
      <p:sp>
        <p:nvSpPr>
          <p:cNvPr id="10" name="Rounded Rectangle 9"/>
          <p:cNvSpPr/>
          <p:nvPr/>
        </p:nvSpPr>
        <p:spPr>
          <a:xfrm>
            <a:off x="1920240" y="1371600"/>
            <a:ext cx="1892807" cy="1234440"/>
          </a:xfrm>
          <a:prstGeom prst="roundRect">
            <a:avLst>
              <a:gd name="adj" fmla="val 8888"/>
            </a:avLst>
          </a:prstGeom>
          <a:solidFill>
            <a:srgbClr val="0070C0"/>
          </a:solidFill>
          <a:ln>
            <a:noFill/>
          </a:ln>
          <a:effectLst/>
        </p:spPr>
        <p:txBody>
          <a:bodyPr rtlCol="0" anchor="ctr"/>
          <a:lstStyle/>
          <a:p>
            <a:pPr algn="ctr"/>
          </a:p>
        </p:txBody>
      </p:sp>
      <p:sp>
        <p:nvSpPr>
          <p:cNvPr id="11" name="Oval 10"/>
          <p:cNvSpPr/>
          <p:nvPr/>
        </p:nvSpPr>
        <p:spPr>
          <a:xfrm>
            <a:off x="2029967" y="1389888"/>
            <a:ext cx="365760" cy="365760"/>
          </a:xfrm>
          <a:prstGeom prst="ellipse">
            <a:avLst/>
          </a:prstGeom>
          <a:solidFill>
            <a:srgbClr val="FFFFFF"/>
          </a:solidFill>
          <a:ln>
            <a:noFill/>
          </a:ln>
          <a:effectLst/>
        </p:spPr>
        <p:txBody>
          <a:bodyPr rtlCol="0" anchor="ctr"/>
          <a:lstStyle/>
          <a:p>
            <a:pPr algn="ctr"/>
          </a:p>
        </p:txBody>
      </p:sp>
      <p:pic>
        <p:nvPicPr>
          <p:cNvPr id="12" name="Picture 11" descr="image4.png"/>
          <p:cNvPicPr>
            <a:picLocks noChangeAspect="1"/>
          </p:cNvPicPr>
          <p:nvPr/>
        </p:nvPicPr>
        <p:blipFill>
          <a:blip r:embed="rId3"/>
          <a:stretch>
            <a:fillRect/>
          </a:stretch>
        </p:blipFill>
        <p:spPr>
          <a:xfrm>
            <a:off x="2112264" y="1472184"/>
            <a:ext cx="201168" cy="201168"/>
          </a:xfrm>
          <a:prstGeom prst="rect">
            <a:avLst/>
          </a:prstGeom>
        </p:spPr>
      </p:pic>
      <p:sp>
        <p:nvSpPr>
          <p:cNvPr id="13" name="TextBox 12"/>
          <p:cNvSpPr txBox="1"/>
          <p:nvPr/>
        </p:nvSpPr>
        <p:spPr>
          <a:xfrm>
            <a:off x="2450592"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Fully local AI</a:t>
            </a:r>
          </a:p>
        </p:txBody>
      </p:sp>
      <p:sp>
        <p:nvSpPr>
          <p:cNvPr id="14" name="TextBox 13"/>
          <p:cNvSpPr txBox="1"/>
          <p:nvPr/>
        </p:nvSpPr>
        <p:spPr>
          <a:xfrm>
            <a:off x="2011680"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No cloud AI calls: complaint text, photos and location never leave the server</a:t>
            </a:r>
          </a:p>
        </p:txBody>
      </p:sp>
      <p:sp>
        <p:nvSpPr>
          <p:cNvPr id="15" name="Rounded Rectangle 14"/>
          <p:cNvSpPr/>
          <p:nvPr/>
        </p:nvSpPr>
        <p:spPr>
          <a:xfrm>
            <a:off x="3904487" y="1371600"/>
            <a:ext cx="1892807" cy="1234440"/>
          </a:xfrm>
          <a:prstGeom prst="roundRect">
            <a:avLst>
              <a:gd name="adj" fmla="val 8888"/>
            </a:avLst>
          </a:prstGeom>
          <a:solidFill>
            <a:srgbClr val="00796B"/>
          </a:solidFill>
          <a:ln>
            <a:noFill/>
          </a:ln>
          <a:effectLst/>
        </p:spPr>
        <p:txBody>
          <a:bodyPr rtlCol="0" anchor="ctr"/>
          <a:lstStyle/>
          <a:p>
            <a:pPr algn="ctr"/>
          </a:p>
        </p:txBody>
      </p:sp>
      <p:sp>
        <p:nvSpPr>
          <p:cNvPr id="16" name="Oval 15"/>
          <p:cNvSpPr/>
          <p:nvPr/>
        </p:nvSpPr>
        <p:spPr>
          <a:xfrm>
            <a:off x="4014215" y="1389888"/>
            <a:ext cx="365760" cy="365760"/>
          </a:xfrm>
          <a:prstGeom prst="ellipse">
            <a:avLst/>
          </a:prstGeom>
          <a:solidFill>
            <a:srgbClr val="FFFFFF"/>
          </a:solidFill>
          <a:ln>
            <a:noFill/>
          </a:ln>
          <a:effectLst/>
        </p:spPr>
        <p:txBody>
          <a:bodyPr rtlCol="0" anchor="ctr"/>
          <a:lstStyle/>
          <a:p>
            <a:pPr algn="ctr"/>
          </a:p>
        </p:txBody>
      </p:sp>
      <p:pic>
        <p:nvPicPr>
          <p:cNvPr id="17" name="Picture 16" descr="image5.png"/>
          <p:cNvPicPr>
            <a:picLocks noChangeAspect="1"/>
          </p:cNvPicPr>
          <p:nvPr/>
        </p:nvPicPr>
        <p:blipFill>
          <a:blip r:embed="rId4"/>
          <a:stretch>
            <a:fillRect/>
          </a:stretch>
        </p:blipFill>
        <p:spPr>
          <a:xfrm>
            <a:off x="4096511" y="1492222"/>
            <a:ext cx="201168" cy="161091"/>
          </a:xfrm>
          <a:prstGeom prst="rect">
            <a:avLst/>
          </a:prstGeom>
        </p:spPr>
      </p:pic>
      <p:sp>
        <p:nvSpPr>
          <p:cNvPr id="18" name="TextBox 17"/>
          <p:cNvSpPr txBox="1"/>
          <p:nvPr/>
        </p:nvSpPr>
        <p:spPr>
          <a:xfrm>
            <a:off x="4434840"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Evidence you can read</a:t>
            </a:r>
          </a:p>
        </p:txBody>
      </p:sp>
      <p:sp>
        <p:nvSpPr>
          <p:cNvPr id="19" name="TextBox 18"/>
          <p:cNvSpPr txBox="1"/>
          <p:nvPr/>
        </p:nvSpPr>
        <p:spPr>
          <a:xfrm>
            <a:off x="3995927"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Spans quoted verbatim from Tamil, Hindi or mixed text explain every decision</a:t>
            </a:r>
          </a:p>
        </p:txBody>
      </p:sp>
      <p:sp>
        <p:nvSpPr>
          <p:cNvPr id="20" name="Rounded Rectangle 19"/>
          <p:cNvSpPr/>
          <p:nvPr/>
        </p:nvSpPr>
        <p:spPr>
          <a:xfrm>
            <a:off x="5888736" y="1371600"/>
            <a:ext cx="1892807" cy="1234440"/>
          </a:xfrm>
          <a:prstGeom prst="roundRect">
            <a:avLst>
              <a:gd name="adj" fmla="val 8888"/>
            </a:avLst>
          </a:prstGeom>
          <a:solidFill>
            <a:srgbClr val="2E7D32"/>
          </a:solidFill>
          <a:ln>
            <a:noFill/>
          </a:ln>
          <a:effectLst/>
        </p:spPr>
        <p:txBody>
          <a:bodyPr rtlCol="0" anchor="ctr"/>
          <a:lstStyle/>
          <a:p>
            <a:pPr algn="ctr"/>
          </a:p>
        </p:txBody>
      </p:sp>
      <p:sp>
        <p:nvSpPr>
          <p:cNvPr id="21" name="Oval 20"/>
          <p:cNvSpPr/>
          <p:nvPr/>
        </p:nvSpPr>
        <p:spPr>
          <a:xfrm>
            <a:off x="5998464" y="1389888"/>
            <a:ext cx="365760" cy="365760"/>
          </a:xfrm>
          <a:prstGeom prst="ellipse">
            <a:avLst/>
          </a:prstGeom>
          <a:solidFill>
            <a:srgbClr val="FFFFFF"/>
          </a:solidFill>
          <a:ln>
            <a:noFill/>
          </a:ln>
          <a:effectLst/>
        </p:spPr>
        <p:txBody>
          <a:bodyPr rtlCol="0" anchor="ctr"/>
          <a:lstStyle/>
          <a:p>
            <a:pPr algn="ctr"/>
          </a:p>
        </p:txBody>
      </p:sp>
      <p:pic>
        <p:nvPicPr>
          <p:cNvPr id="22" name="Picture 21" descr="image6.png"/>
          <p:cNvPicPr>
            <a:picLocks noChangeAspect="1"/>
          </p:cNvPicPr>
          <p:nvPr/>
        </p:nvPicPr>
        <p:blipFill>
          <a:blip r:embed="rId5"/>
          <a:stretch>
            <a:fillRect/>
          </a:stretch>
        </p:blipFill>
        <p:spPr>
          <a:xfrm>
            <a:off x="6093332" y="1472184"/>
            <a:ext cx="176022" cy="201168"/>
          </a:xfrm>
          <a:prstGeom prst="rect">
            <a:avLst/>
          </a:prstGeom>
        </p:spPr>
      </p:pic>
      <p:sp>
        <p:nvSpPr>
          <p:cNvPr id="23" name="TextBox 22"/>
          <p:cNvSpPr txBox="1"/>
          <p:nvPr/>
        </p:nvSpPr>
        <p:spPr>
          <a:xfrm>
            <a:off x="6419088"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Three opinions, one human</a:t>
            </a:r>
          </a:p>
        </p:txBody>
      </p:sp>
      <p:sp>
        <p:nvSpPr>
          <p:cNvPr id="24" name="TextBox 23"/>
          <p:cNvSpPr txBox="1"/>
          <p:nvPr/>
        </p:nvSpPr>
        <p:spPr>
          <a:xfrm>
            <a:off x="5980175"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Model, rules and a second classifier; any disagreement goes to the review queue</a:t>
            </a:r>
          </a:p>
        </p:txBody>
      </p:sp>
      <p:sp>
        <p:nvSpPr>
          <p:cNvPr id="25" name="Rounded Rectangle 24"/>
          <p:cNvSpPr/>
          <p:nvPr/>
        </p:nvSpPr>
        <p:spPr>
          <a:xfrm>
            <a:off x="7872983" y="1371600"/>
            <a:ext cx="1892807" cy="1234440"/>
          </a:xfrm>
          <a:prstGeom prst="roundRect">
            <a:avLst>
              <a:gd name="adj" fmla="val 8888"/>
            </a:avLst>
          </a:prstGeom>
          <a:solidFill>
            <a:srgbClr val="C55A11"/>
          </a:solidFill>
          <a:ln>
            <a:noFill/>
          </a:ln>
          <a:effectLst/>
        </p:spPr>
        <p:txBody>
          <a:bodyPr rtlCol="0" anchor="ctr"/>
          <a:lstStyle/>
          <a:p>
            <a:pPr algn="ctr"/>
          </a:p>
        </p:txBody>
      </p:sp>
      <p:sp>
        <p:nvSpPr>
          <p:cNvPr id="26" name="Oval 25"/>
          <p:cNvSpPr/>
          <p:nvPr/>
        </p:nvSpPr>
        <p:spPr>
          <a:xfrm>
            <a:off x="7982712" y="1389888"/>
            <a:ext cx="365760" cy="365760"/>
          </a:xfrm>
          <a:prstGeom prst="ellipse">
            <a:avLst/>
          </a:prstGeom>
          <a:solidFill>
            <a:srgbClr val="FFFFFF"/>
          </a:solidFill>
          <a:ln>
            <a:noFill/>
          </a:ln>
          <a:effectLst/>
        </p:spPr>
        <p:txBody>
          <a:bodyPr rtlCol="0" anchor="ctr"/>
          <a:lstStyle/>
          <a:p>
            <a:pPr algn="ctr"/>
          </a:p>
        </p:txBody>
      </p:sp>
      <p:pic>
        <p:nvPicPr>
          <p:cNvPr id="27" name="Picture 26" descr="image7.png"/>
          <p:cNvPicPr>
            <a:picLocks noChangeAspect="1"/>
          </p:cNvPicPr>
          <p:nvPr/>
        </p:nvPicPr>
        <p:blipFill>
          <a:blip r:embed="rId6"/>
          <a:stretch>
            <a:fillRect/>
          </a:stretch>
        </p:blipFill>
        <p:spPr>
          <a:xfrm>
            <a:off x="8065008" y="1472184"/>
            <a:ext cx="201168" cy="201168"/>
          </a:xfrm>
          <a:prstGeom prst="rect">
            <a:avLst/>
          </a:prstGeom>
        </p:spPr>
      </p:pic>
      <p:sp>
        <p:nvSpPr>
          <p:cNvPr id="28" name="TextBox 27"/>
          <p:cNvSpPr txBox="1"/>
          <p:nvPr/>
        </p:nvSpPr>
        <p:spPr>
          <a:xfrm>
            <a:off x="8403336"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Right office, on time</a:t>
            </a:r>
          </a:p>
        </p:txBody>
      </p:sp>
      <p:sp>
        <p:nvSpPr>
          <p:cNvPr id="29" name="TextBox 28"/>
          <p:cNvSpPr txBox="1"/>
          <p:nvPr/>
        </p:nvSpPr>
        <p:spPr>
          <a:xfrm>
            <a:off x="7964423"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760 Tamil Nadu offices with SLA due times; overdue cases escalate to the district admin</a:t>
            </a:r>
          </a:p>
        </p:txBody>
      </p:sp>
      <p:sp>
        <p:nvSpPr>
          <p:cNvPr id="30" name="Rounded Rectangle 29"/>
          <p:cNvSpPr/>
          <p:nvPr/>
        </p:nvSpPr>
        <p:spPr>
          <a:xfrm>
            <a:off x="9857232" y="1371600"/>
            <a:ext cx="1892807" cy="1234440"/>
          </a:xfrm>
          <a:prstGeom prst="roundRect">
            <a:avLst>
              <a:gd name="adj" fmla="val 8888"/>
            </a:avLst>
          </a:prstGeom>
          <a:solidFill>
            <a:srgbClr val="6B4C9A"/>
          </a:solidFill>
          <a:ln>
            <a:noFill/>
          </a:ln>
          <a:effectLst/>
        </p:spPr>
        <p:txBody>
          <a:bodyPr rtlCol="0" anchor="ctr"/>
          <a:lstStyle/>
          <a:p>
            <a:pPr algn="ctr"/>
          </a:p>
        </p:txBody>
      </p:sp>
      <p:sp>
        <p:nvSpPr>
          <p:cNvPr id="31" name="Oval 30"/>
          <p:cNvSpPr/>
          <p:nvPr/>
        </p:nvSpPr>
        <p:spPr>
          <a:xfrm>
            <a:off x="9966960" y="1389888"/>
            <a:ext cx="365760" cy="365760"/>
          </a:xfrm>
          <a:prstGeom prst="ellipse">
            <a:avLst/>
          </a:prstGeom>
          <a:solidFill>
            <a:srgbClr val="FFFFFF"/>
          </a:solidFill>
          <a:ln>
            <a:noFill/>
          </a:ln>
          <a:effectLst/>
        </p:spPr>
        <p:txBody>
          <a:bodyPr rtlCol="0" anchor="ctr"/>
          <a:lstStyle/>
          <a:p>
            <a:pPr algn="ctr"/>
          </a:p>
        </p:txBody>
      </p:sp>
      <p:pic>
        <p:nvPicPr>
          <p:cNvPr id="32" name="Picture 31" descr="image8.png"/>
          <p:cNvPicPr>
            <a:picLocks noChangeAspect="1"/>
          </p:cNvPicPr>
          <p:nvPr/>
        </p:nvPicPr>
        <p:blipFill>
          <a:blip r:embed="rId7"/>
          <a:stretch>
            <a:fillRect/>
          </a:stretch>
        </p:blipFill>
        <p:spPr>
          <a:xfrm>
            <a:off x="10049256" y="1483185"/>
            <a:ext cx="201168" cy="179165"/>
          </a:xfrm>
          <a:prstGeom prst="rect">
            <a:avLst/>
          </a:prstGeom>
        </p:spPr>
      </p:pic>
      <p:sp>
        <p:nvSpPr>
          <p:cNvPr id="33" name="TextBox 32"/>
          <p:cNvSpPr txBox="1"/>
          <p:nvPr/>
        </p:nvSpPr>
        <p:spPr>
          <a:xfrm>
            <a:off x="10387584" y="1389888"/>
            <a:ext cx="1307591" cy="384048"/>
          </a:xfrm>
          <a:prstGeom prst="rect">
            <a:avLst/>
          </a:prstGeom>
          <a:noFill/>
        </p:spPr>
        <p:txBody>
          <a:bodyPr wrap="square" lIns="18288" tIns="0" rIns="18288" bIns="0" anchor="ctr">
            <a:noAutofit/>
          </a:bodyPr>
          <a:lstStyle/>
          <a:p>
            <a:pPr algn="l"/>
            <a:r>
              <a:rPr sz="950" b="1" i="0">
                <a:solidFill>
                  <a:srgbClr val="FFFFFF"/>
                </a:solidFill>
                <a:latin typeface="Aptos"/>
              </a:rPr>
              <a:t>Fairness measured</a:t>
            </a:r>
          </a:p>
        </p:txBody>
      </p:sp>
      <p:sp>
        <p:nvSpPr>
          <p:cNvPr id="34" name="TextBox 33"/>
          <p:cNvSpPr txBox="1"/>
          <p:nvPr/>
        </p:nvSpPr>
        <p:spPr>
          <a:xfrm>
            <a:off x="9948672" y="1801368"/>
            <a:ext cx="1709928" cy="777240"/>
          </a:xfrm>
          <a:prstGeom prst="rect">
            <a:avLst/>
          </a:prstGeom>
          <a:noFill/>
        </p:spPr>
        <p:txBody>
          <a:bodyPr wrap="square" lIns="18288" tIns="0" rIns="18288" bIns="0" anchor="t">
            <a:noAutofit/>
          </a:bodyPr>
          <a:lstStyle/>
          <a:p>
            <a:pPr algn="l"/>
            <a:r>
              <a:rPr sz="850" b="0" i="0">
                <a:solidFill>
                  <a:srgbClr val="FFFFFF"/>
                </a:solidFill>
                <a:latin typeface="Aptos"/>
              </a:rPr>
              <a:t>Accuracy per language and formality on the dashboard; nothing auto-closed</a:t>
            </a:r>
          </a:p>
        </p:txBody>
      </p:sp>
      <p:sp>
        <p:nvSpPr>
          <p:cNvPr id="35" name="Rounded Rectangle 34"/>
          <p:cNvSpPr/>
          <p:nvPr/>
        </p:nvSpPr>
        <p:spPr>
          <a:xfrm>
            <a:off x="411480" y="2743200"/>
            <a:ext cx="5532120" cy="274320"/>
          </a:xfrm>
          <a:prstGeom prst="roundRect">
            <a:avLst>
              <a:gd name="adj" fmla="val 20000"/>
            </a:avLst>
          </a:prstGeom>
          <a:solidFill>
            <a:srgbClr val="1E3A8A"/>
          </a:solidFill>
          <a:ln>
            <a:noFill/>
          </a:ln>
          <a:effectLst/>
        </p:spPr>
        <p:txBody>
          <a:bodyPr rtlCol="0" anchor="ctr"/>
          <a:lstStyle/>
          <a:p>
            <a:pPr algn="ctr"/>
          </a:p>
        </p:txBody>
      </p:sp>
      <p:sp>
        <p:nvSpPr>
          <p:cNvPr id="36" name="TextBox 35"/>
          <p:cNvSpPr txBox="1"/>
          <p:nvPr/>
        </p:nvSpPr>
        <p:spPr>
          <a:xfrm>
            <a:off x="521208" y="2743200"/>
            <a:ext cx="5330952" cy="274320"/>
          </a:xfrm>
          <a:prstGeom prst="rect">
            <a:avLst/>
          </a:prstGeom>
          <a:noFill/>
        </p:spPr>
        <p:txBody>
          <a:bodyPr wrap="square" lIns="18288" tIns="0" rIns="18288" bIns="0" anchor="ctr">
            <a:noAutofit/>
          </a:bodyPr>
          <a:lstStyle/>
          <a:p>
            <a:pPr algn="l"/>
            <a:r>
              <a:rPr sz="900" b="1" i="0">
                <a:solidFill>
                  <a:srgbClr val="FFFFFF"/>
                </a:solidFill>
                <a:latin typeface="Aptos"/>
              </a:rPr>
              <a:t>WHO BENEFITS</a:t>
            </a:r>
          </a:p>
        </p:txBody>
      </p:sp>
      <p:sp>
        <p:nvSpPr>
          <p:cNvPr id="37" name="Rounded Rectangle 36"/>
          <p:cNvSpPr/>
          <p:nvPr/>
        </p:nvSpPr>
        <p:spPr>
          <a:xfrm>
            <a:off x="41148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38" name="Rounded Rectangle 37"/>
          <p:cNvSpPr/>
          <p:nvPr/>
        </p:nvSpPr>
        <p:spPr>
          <a:xfrm>
            <a:off x="41148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39" name="Picture 38" descr="image38.png"/>
          <p:cNvPicPr>
            <a:picLocks noChangeAspect="1"/>
          </p:cNvPicPr>
          <p:nvPr/>
        </p:nvPicPr>
        <p:blipFill>
          <a:blip r:embed="rId8"/>
          <a:stretch>
            <a:fillRect/>
          </a:stretch>
        </p:blipFill>
        <p:spPr>
          <a:xfrm>
            <a:off x="539496" y="3227832"/>
            <a:ext cx="256032" cy="256032"/>
          </a:xfrm>
          <a:prstGeom prst="rect">
            <a:avLst/>
          </a:prstGeom>
        </p:spPr>
      </p:pic>
      <p:sp>
        <p:nvSpPr>
          <p:cNvPr id="40" name="TextBox 39"/>
          <p:cNvSpPr txBox="1"/>
          <p:nvPr/>
        </p:nvSpPr>
        <p:spPr>
          <a:xfrm>
            <a:off x="86868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Citizens</a:t>
            </a:r>
          </a:p>
          <a:p>
            <a:pPr algn="l"/>
            <a:r>
              <a:rPr sz="800" b="0" i="0">
                <a:solidFill>
                  <a:srgbClr val="475569"/>
                </a:solidFill>
                <a:latin typeface="Aptos"/>
              </a:rPr>
              <a:t>file in any language; track, reply, rate or reopen; support a neighbour's complaint instead of duplicating it</a:t>
            </a:r>
          </a:p>
        </p:txBody>
      </p:sp>
      <p:sp>
        <p:nvSpPr>
          <p:cNvPr id="41" name="Rounded Rectangle 40"/>
          <p:cNvSpPr/>
          <p:nvPr/>
        </p:nvSpPr>
        <p:spPr>
          <a:xfrm>
            <a:off x="3223260" y="3090672"/>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2" name="Rounded Rectangle 41"/>
          <p:cNvSpPr/>
          <p:nvPr/>
        </p:nvSpPr>
        <p:spPr>
          <a:xfrm>
            <a:off x="3223260" y="3090672"/>
            <a:ext cx="54864" cy="530352"/>
          </a:xfrm>
          <a:prstGeom prst="roundRect">
            <a:avLst>
              <a:gd name="adj" fmla="val 50000"/>
            </a:avLst>
          </a:prstGeom>
          <a:solidFill>
            <a:srgbClr val="0284C7"/>
          </a:solidFill>
          <a:ln>
            <a:noFill/>
          </a:ln>
          <a:effectLst/>
        </p:spPr>
        <p:txBody>
          <a:bodyPr rtlCol="0" anchor="ctr"/>
          <a:lstStyle/>
          <a:p>
            <a:pPr algn="ctr"/>
          </a:p>
        </p:txBody>
      </p:sp>
      <p:pic>
        <p:nvPicPr>
          <p:cNvPr id="43" name="Picture 42" descr="image36.png"/>
          <p:cNvPicPr>
            <a:picLocks noChangeAspect="1"/>
          </p:cNvPicPr>
          <p:nvPr/>
        </p:nvPicPr>
        <p:blipFill>
          <a:blip r:embed="rId9"/>
          <a:stretch>
            <a:fillRect/>
          </a:stretch>
        </p:blipFill>
        <p:spPr>
          <a:xfrm>
            <a:off x="3351276" y="3227832"/>
            <a:ext cx="256032" cy="256032"/>
          </a:xfrm>
          <a:prstGeom prst="rect">
            <a:avLst/>
          </a:prstGeom>
        </p:spPr>
      </p:pic>
      <p:sp>
        <p:nvSpPr>
          <p:cNvPr id="44" name="TextBox 43"/>
          <p:cNvSpPr txBox="1"/>
          <p:nvPr/>
        </p:nvSpPr>
        <p:spPr>
          <a:xfrm>
            <a:off x="3680460" y="3090672"/>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Grievance officers</a:t>
            </a:r>
          </a:p>
          <a:p>
            <a:pPr algn="l"/>
            <a:r>
              <a:rPr sz="800" b="0" i="0">
                <a:solidFill>
                  <a:srgbClr val="475569"/>
                </a:solidFill>
                <a:latin typeface="Aptos"/>
              </a:rPr>
              <a:t>prioritised queue with evidence, flags and office; reassign in one click with a reason</a:t>
            </a:r>
          </a:p>
        </p:txBody>
      </p:sp>
      <p:sp>
        <p:nvSpPr>
          <p:cNvPr id="45" name="Rounded Rectangle 44"/>
          <p:cNvSpPr/>
          <p:nvPr/>
        </p:nvSpPr>
        <p:spPr>
          <a:xfrm>
            <a:off x="41148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46" name="Rounded Rectangle 45"/>
          <p:cNvSpPr/>
          <p:nvPr/>
        </p:nvSpPr>
        <p:spPr>
          <a:xfrm>
            <a:off x="41148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47" name="Picture 46" descr="image12.png"/>
          <p:cNvPicPr>
            <a:picLocks noChangeAspect="1"/>
          </p:cNvPicPr>
          <p:nvPr/>
        </p:nvPicPr>
        <p:blipFill>
          <a:blip r:embed="rId10"/>
          <a:stretch>
            <a:fillRect/>
          </a:stretch>
        </p:blipFill>
        <p:spPr>
          <a:xfrm>
            <a:off x="555498" y="3813048"/>
            <a:ext cx="224028" cy="256032"/>
          </a:xfrm>
          <a:prstGeom prst="rect">
            <a:avLst/>
          </a:prstGeom>
        </p:spPr>
      </p:pic>
      <p:sp>
        <p:nvSpPr>
          <p:cNvPr id="48" name="TextBox 47"/>
          <p:cNvSpPr txBox="1"/>
          <p:nvPr/>
        </p:nvSpPr>
        <p:spPr>
          <a:xfrm>
            <a:off x="86868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Department admins</a:t>
            </a:r>
          </a:p>
          <a:p>
            <a:pPr algn="l"/>
            <a:r>
              <a:rPr sz="800" b="0" i="0">
                <a:solidFill>
                  <a:srgbClr val="475569"/>
                </a:solidFill>
                <a:latin typeface="Aptos"/>
              </a:rPr>
              <a:t>only their own, de-duplicated complaints with due times; citizen replies reach them directly</a:t>
            </a:r>
          </a:p>
        </p:txBody>
      </p:sp>
      <p:sp>
        <p:nvSpPr>
          <p:cNvPr id="49" name="Rounded Rectangle 48"/>
          <p:cNvSpPr/>
          <p:nvPr/>
        </p:nvSpPr>
        <p:spPr>
          <a:xfrm>
            <a:off x="3223260" y="3675887"/>
            <a:ext cx="2720340" cy="530352"/>
          </a:xfrm>
          <a:prstGeom prst="roundRect">
            <a:avLst>
              <a:gd name="adj" fmla="val 13793"/>
            </a:avLst>
          </a:prstGeom>
          <a:solidFill>
            <a:srgbClr val="FFFFFF"/>
          </a:solidFill>
          <a:ln w="9525">
            <a:solidFill>
              <a:srgbClr val="E2E8F0"/>
            </a:solidFill>
          </a:ln>
          <a:effectLst/>
        </p:spPr>
        <p:txBody>
          <a:bodyPr rtlCol="0" anchor="ctr"/>
          <a:lstStyle/>
          <a:p>
            <a:pPr algn="ctr"/>
          </a:p>
        </p:txBody>
      </p:sp>
      <p:sp>
        <p:nvSpPr>
          <p:cNvPr id="50" name="Rounded Rectangle 49"/>
          <p:cNvSpPr/>
          <p:nvPr/>
        </p:nvSpPr>
        <p:spPr>
          <a:xfrm>
            <a:off x="3223260" y="3675887"/>
            <a:ext cx="54864" cy="530352"/>
          </a:xfrm>
          <a:prstGeom prst="roundRect">
            <a:avLst>
              <a:gd name="adj" fmla="val 50000"/>
            </a:avLst>
          </a:prstGeom>
          <a:solidFill>
            <a:srgbClr val="0284C7"/>
          </a:solidFill>
          <a:ln>
            <a:noFill/>
          </a:ln>
          <a:effectLst/>
        </p:spPr>
        <p:txBody>
          <a:bodyPr rtlCol="0" anchor="ctr"/>
          <a:lstStyle/>
          <a:p>
            <a:pPr algn="ctr"/>
          </a:p>
        </p:txBody>
      </p:sp>
      <p:pic>
        <p:nvPicPr>
          <p:cNvPr id="51" name="Picture 50" descr="image39.png"/>
          <p:cNvPicPr>
            <a:picLocks noChangeAspect="1"/>
          </p:cNvPicPr>
          <p:nvPr/>
        </p:nvPicPr>
        <p:blipFill>
          <a:blip r:embed="rId11"/>
          <a:stretch>
            <a:fillRect/>
          </a:stretch>
        </p:blipFill>
        <p:spPr>
          <a:xfrm>
            <a:off x="3351276" y="3813048"/>
            <a:ext cx="256032" cy="256032"/>
          </a:xfrm>
          <a:prstGeom prst="rect">
            <a:avLst/>
          </a:prstGeom>
        </p:spPr>
      </p:pic>
      <p:sp>
        <p:nvSpPr>
          <p:cNvPr id="52" name="TextBox 51"/>
          <p:cNvSpPr txBox="1"/>
          <p:nvPr/>
        </p:nvSpPr>
        <p:spPr>
          <a:xfrm>
            <a:off x="3680460" y="3675887"/>
            <a:ext cx="2189988" cy="530352"/>
          </a:xfrm>
          <a:prstGeom prst="rect">
            <a:avLst/>
          </a:prstGeom>
          <a:noFill/>
        </p:spPr>
        <p:txBody>
          <a:bodyPr wrap="square" lIns="18288" tIns="9144" rIns="36576" bIns="9144" anchor="ctr">
            <a:noAutofit/>
          </a:bodyPr>
          <a:lstStyle/>
          <a:p>
            <a:pPr algn="l"/>
            <a:r>
              <a:rPr sz="900" b="1" i="0">
                <a:solidFill>
                  <a:srgbClr val="1E3A8A"/>
                </a:solidFill>
                <a:latin typeface="Aptos"/>
              </a:rPr>
              <a:t>District and super admins</a:t>
            </a:r>
          </a:p>
          <a:p>
            <a:pPr algn="l"/>
            <a:r>
              <a:rPr sz="800" b="0" i="0">
                <a:solidFill>
                  <a:srgbClr val="475569"/>
                </a:solidFill>
                <a:latin typeface="Aptos"/>
              </a:rPr>
              <a:t>review queue, district map, staff accounts, rules, metrics; full audit trail, nothing auto-closed</a:t>
            </a:r>
          </a:p>
        </p:txBody>
      </p:sp>
      <p:sp>
        <p:nvSpPr>
          <p:cNvPr id="53" name="Rounded Rectangle 52"/>
          <p:cNvSpPr/>
          <p:nvPr/>
        </p:nvSpPr>
        <p:spPr>
          <a:xfrm>
            <a:off x="6080760" y="2743200"/>
            <a:ext cx="5669280" cy="274320"/>
          </a:xfrm>
          <a:prstGeom prst="roundRect">
            <a:avLst>
              <a:gd name="adj" fmla="val 20000"/>
            </a:avLst>
          </a:prstGeom>
          <a:solidFill>
            <a:srgbClr val="0284C7"/>
          </a:solidFill>
          <a:ln>
            <a:noFill/>
          </a:ln>
          <a:effectLst/>
        </p:spPr>
        <p:txBody>
          <a:bodyPr rtlCol="0" anchor="ctr"/>
          <a:lstStyle/>
          <a:p>
            <a:pPr algn="ctr"/>
          </a:p>
        </p:txBody>
      </p:sp>
      <p:sp>
        <p:nvSpPr>
          <p:cNvPr id="54" name="TextBox 53"/>
          <p:cNvSpPr txBox="1"/>
          <p:nvPr/>
        </p:nvSpPr>
        <p:spPr>
          <a:xfrm>
            <a:off x="6190488" y="2743200"/>
            <a:ext cx="5468112" cy="274320"/>
          </a:xfrm>
          <a:prstGeom prst="rect">
            <a:avLst/>
          </a:prstGeom>
          <a:noFill/>
        </p:spPr>
        <p:txBody>
          <a:bodyPr wrap="square" lIns="18288" tIns="0" rIns="18288" bIns="0" anchor="ctr">
            <a:noAutofit/>
          </a:bodyPr>
          <a:lstStyle/>
          <a:p>
            <a:pPr algn="l"/>
            <a:r>
              <a:rPr sz="900" b="1" i="0">
                <a:solidFill>
                  <a:srgbClr val="FFFFFF"/>
                </a:solidFill>
                <a:latin typeface="Aptos"/>
              </a:rPr>
              <a:t>EXPECTED IMPACT  ·  today versus Vindex</a:t>
            </a:r>
          </a:p>
        </p:txBody>
      </p:sp>
      <p:sp>
        <p:nvSpPr>
          <p:cNvPr id="55" name="Rectangle 54"/>
          <p:cNvSpPr/>
          <p:nvPr/>
        </p:nvSpPr>
        <p:spPr>
          <a:xfrm>
            <a:off x="6080760" y="3090672"/>
            <a:ext cx="5669280" cy="274320"/>
          </a:xfrm>
          <a:prstGeom prst="rect">
            <a:avLst/>
          </a:prstGeom>
          <a:solidFill>
            <a:srgbClr val="1E3A8A"/>
          </a:solidFill>
          <a:ln>
            <a:noFill/>
          </a:ln>
          <a:effectLst/>
        </p:spPr>
        <p:txBody>
          <a:bodyPr rtlCol="0" anchor="ctr"/>
          <a:lstStyle/>
          <a:p>
            <a:pPr algn="ctr"/>
          </a:p>
        </p:txBody>
      </p:sp>
      <p:sp>
        <p:nvSpPr>
          <p:cNvPr id="56" name="Rectangle 55"/>
          <p:cNvSpPr/>
          <p:nvPr/>
        </p:nvSpPr>
        <p:spPr>
          <a:xfrm>
            <a:off x="6080760" y="3364992"/>
            <a:ext cx="5669280" cy="402336"/>
          </a:xfrm>
          <a:prstGeom prst="rect">
            <a:avLst/>
          </a:prstGeom>
          <a:solidFill>
            <a:srgbClr val="FEF2F2"/>
          </a:solidFill>
          <a:ln>
            <a:noFill/>
          </a:ln>
          <a:effectLst/>
        </p:spPr>
        <p:txBody>
          <a:bodyPr rtlCol="0" anchor="ctr"/>
          <a:lstStyle/>
          <a:p>
            <a:pPr algn="ctr"/>
          </a:p>
        </p:txBody>
      </p:sp>
      <p:sp>
        <p:nvSpPr>
          <p:cNvPr id="57" name="Rectangle 56"/>
          <p:cNvSpPr/>
          <p:nvPr/>
        </p:nvSpPr>
        <p:spPr>
          <a:xfrm>
            <a:off x="6080760" y="3767328"/>
            <a:ext cx="5669280" cy="438912"/>
          </a:xfrm>
          <a:prstGeom prst="rect">
            <a:avLst/>
          </a:prstGeom>
          <a:solidFill>
            <a:srgbClr val="F0FDF4"/>
          </a:solidFill>
          <a:ln>
            <a:noFill/>
          </a:ln>
          <a:effectLst/>
        </p:spPr>
        <p:txBody>
          <a:bodyPr rtlCol="0" anchor="ctr"/>
          <a:lstStyle/>
          <a:p>
            <a:pPr algn="ctr"/>
          </a:p>
        </p:txBody>
      </p:sp>
      <p:sp>
        <p:nvSpPr>
          <p:cNvPr id="58" name="TextBox 57"/>
          <p:cNvSpPr txBox="1"/>
          <p:nvPr/>
        </p:nvSpPr>
        <p:spPr>
          <a:xfrm>
            <a:off x="6080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
            </a:r>
          </a:p>
        </p:txBody>
      </p:sp>
      <p:sp>
        <p:nvSpPr>
          <p:cNvPr id="59" name="TextBox 58"/>
          <p:cNvSpPr txBox="1"/>
          <p:nvPr/>
        </p:nvSpPr>
        <p:spPr>
          <a:xfrm>
            <a:off x="7223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Acknowledgement</a:t>
            </a:r>
          </a:p>
        </p:txBody>
      </p:sp>
      <p:sp>
        <p:nvSpPr>
          <p:cNvPr id="60" name="TextBox 59"/>
          <p:cNvSpPr txBox="1"/>
          <p:nvPr/>
        </p:nvSpPr>
        <p:spPr>
          <a:xfrm>
            <a:off x="8321040" y="3090672"/>
            <a:ext cx="1188720" cy="274320"/>
          </a:xfrm>
          <a:prstGeom prst="rect">
            <a:avLst/>
          </a:prstGeom>
          <a:noFill/>
        </p:spPr>
        <p:txBody>
          <a:bodyPr wrap="square" lIns="18288" tIns="0" rIns="18288" bIns="0" anchor="ctr">
            <a:noAutofit/>
          </a:bodyPr>
          <a:lstStyle/>
          <a:p>
            <a:pPr algn="ctr"/>
            <a:r>
              <a:rPr sz="850" b="1" i="0">
                <a:solidFill>
                  <a:srgbClr val="FFFFFF"/>
                </a:solidFill>
                <a:latin typeface="Aptos"/>
              </a:rPr>
              <a:t>Routing</a:t>
            </a:r>
          </a:p>
        </p:txBody>
      </p:sp>
      <p:sp>
        <p:nvSpPr>
          <p:cNvPr id="61" name="TextBox 60"/>
          <p:cNvSpPr txBox="1"/>
          <p:nvPr/>
        </p:nvSpPr>
        <p:spPr>
          <a:xfrm>
            <a:off x="9509760" y="3090672"/>
            <a:ext cx="1143000" cy="274320"/>
          </a:xfrm>
          <a:prstGeom prst="rect">
            <a:avLst/>
          </a:prstGeom>
          <a:noFill/>
        </p:spPr>
        <p:txBody>
          <a:bodyPr wrap="square" lIns="18288" tIns="0" rIns="18288" bIns="0" anchor="ctr">
            <a:noAutofit/>
          </a:bodyPr>
          <a:lstStyle/>
          <a:p>
            <a:pPr algn="ctr"/>
            <a:r>
              <a:rPr sz="850" b="1" i="0">
                <a:solidFill>
                  <a:srgbClr val="FFFFFF"/>
                </a:solidFill>
                <a:latin typeface="Aptos"/>
              </a:rPr>
              <a:t>Urgency</a:t>
            </a:r>
          </a:p>
        </p:txBody>
      </p:sp>
      <p:sp>
        <p:nvSpPr>
          <p:cNvPr id="62" name="TextBox 61"/>
          <p:cNvSpPr txBox="1"/>
          <p:nvPr/>
        </p:nvSpPr>
        <p:spPr>
          <a:xfrm>
            <a:off x="10652760" y="3090672"/>
            <a:ext cx="1097280" cy="274320"/>
          </a:xfrm>
          <a:prstGeom prst="rect">
            <a:avLst/>
          </a:prstGeom>
          <a:noFill/>
        </p:spPr>
        <p:txBody>
          <a:bodyPr wrap="square" lIns="18288" tIns="0" rIns="18288" bIns="0" anchor="ctr">
            <a:noAutofit/>
          </a:bodyPr>
          <a:lstStyle/>
          <a:p>
            <a:pPr algn="ctr"/>
            <a:r>
              <a:rPr sz="850" b="1" i="0">
                <a:solidFill>
                  <a:srgbClr val="FFFFFF"/>
                </a:solidFill>
                <a:latin typeface="Aptos"/>
              </a:rPr>
              <a:t>Status updates</a:t>
            </a:r>
          </a:p>
        </p:txBody>
      </p:sp>
      <p:sp>
        <p:nvSpPr>
          <p:cNvPr id="63" name="TextBox 62"/>
          <p:cNvSpPr txBox="1"/>
          <p:nvPr/>
        </p:nvSpPr>
        <p:spPr>
          <a:xfrm>
            <a:off x="6080760" y="3364992"/>
            <a:ext cx="1143000" cy="402336"/>
          </a:xfrm>
          <a:prstGeom prst="rect">
            <a:avLst/>
          </a:prstGeom>
          <a:noFill/>
        </p:spPr>
        <p:txBody>
          <a:bodyPr wrap="square" lIns="18288" tIns="0" rIns="18288" bIns="0" anchor="ctr">
            <a:noAutofit/>
          </a:bodyPr>
          <a:lstStyle/>
          <a:p>
            <a:pPr algn="ctr"/>
            <a:r>
              <a:rPr sz="850" b="1" i="0">
                <a:solidFill>
                  <a:srgbClr val="DC2626"/>
                </a:solidFill>
                <a:latin typeface="Aptos"/>
              </a:rPr>
              <a:t>TODAY</a:t>
            </a:r>
          </a:p>
        </p:txBody>
      </p:sp>
      <p:sp>
        <p:nvSpPr>
          <p:cNvPr id="64" name="TextBox 63"/>
          <p:cNvSpPr txBox="1"/>
          <p:nvPr/>
        </p:nvSpPr>
        <p:spPr>
          <a:xfrm>
            <a:off x="7223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Days</a:t>
            </a:r>
          </a:p>
        </p:txBody>
      </p:sp>
      <p:sp>
        <p:nvSpPr>
          <p:cNvPr id="65" name="TextBox 64"/>
          <p:cNvSpPr txBox="1"/>
          <p:nvPr/>
        </p:nvSpPr>
        <p:spPr>
          <a:xfrm>
            <a:off x="8321040" y="3364992"/>
            <a:ext cx="1188720" cy="402336"/>
          </a:xfrm>
          <a:prstGeom prst="rect">
            <a:avLst/>
          </a:prstGeom>
          <a:noFill/>
        </p:spPr>
        <p:txBody>
          <a:bodyPr wrap="square" lIns="18288" tIns="0" rIns="18288" bIns="0" anchor="ctr">
            <a:noAutofit/>
          </a:bodyPr>
          <a:lstStyle/>
          <a:p>
            <a:pPr algn="ctr"/>
            <a:r>
              <a:rPr sz="850" b="1" i="1">
                <a:solidFill>
                  <a:srgbClr val="991B1B"/>
                </a:solidFill>
                <a:latin typeface="Aptos"/>
              </a:rPr>
              <a:t>Guesswork, bounces</a:t>
            </a:r>
          </a:p>
        </p:txBody>
      </p:sp>
      <p:sp>
        <p:nvSpPr>
          <p:cNvPr id="66" name="TextBox 65"/>
          <p:cNvSpPr txBox="1"/>
          <p:nvPr/>
        </p:nvSpPr>
        <p:spPr>
          <a:xfrm>
            <a:off x="9509760" y="3364992"/>
            <a:ext cx="1143000" cy="402336"/>
          </a:xfrm>
          <a:prstGeom prst="rect">
            <a:avLst/>
          </a:prstGeom>
          <a:noFill/>
        </p:spPr>
        <p:txBody>
          <a:bodyPr wrap="square" lIns="18288" tIns="0" rIns="18288" bIns="0" anchor="ctr">
            <a:noAutofit/>
          </a:bodyPr>
          <a:lstStyle/>
          <a:p>
            <a:pPr algn="ctr"/>
            <a:r>
              <a:rPr sz="850" b="1" i="1">
                <a:solidFill>
                  <a:srgbClr val="991B1B"/>
                </a:solidFill>
                <a:latin typeface="Aptos"/>
              </a:rPr>
              <a:t>First-in-first-out</a:t>
            </a:r>
          </a:p>
        </p:txBody>
      </p:sp>
      <p:sp>
        <p:nvSpPr>
          <p:cNvPr id="67" name="TextBox 66"/>
          <p:cNvSpPr txBox="1"/>
          <p:nvPr/>
        </p:nvSpPr>
        <p:spPr>
          <a:xfrm>
            <a:off x="10652760" y="3364992"/>
            <a:ext cx="1097280" cy="402336"/>
          </a:xfrm>
          <a:prstGeom prst="rect">
            <a:avLst/>
          </a:prstGeom>
          <a:noFill/>
        </p:spPr>
        <p:txBody>
          <a:bodyPr wrap="square" lIns="18288" tIns="0" rIns="18288" bIns="0" anchor="ctr">
            <a:noAutofit/>
          </a:bodyPr>
          <a:lstStyle/>
          <a:p>
            <a:pPr algn="ctr"/>
            <a:r>
              <a:rPr sz="850" b="1" i="1">
                <a:solidFill>
                  <a:srgbClr val="991B1B"/>
                </a:solidFill>
                <a:latin typeface="Aptos"/>
              </a:rPr>
              <a:t>Unknown to the citizen</a:t>
            </a:r>
          </a:p>
        </p:txBody>
      </p:sp>
      <p:sp>
        <p:nvSpPr>
          <p:cNvPr id="68" name="TextBox 67"/>
          <p:cNvSpPr txBox="1"/>
          <p:nvPr/>
        </p:nvSpPr>
        <p:spPr>
          <a:xfrm>
            <a:off x="6080760" y="3767328"/>
            <a:ext cx="1143000" cy="438912"/>
          </a:xfrm>
          <a:prstGeom prst="rect">
            <a:avLst/>
          </a:prstGeom>
          <a:noFill/>
        </p:spPr>
        <p:txBody>
          <a:bodyPr wrap="square" lIns="18288" tIns="0" rIns="18288" bIns="0" anchor="ctr">
            <a:noAutofit/>
          </a:bodyPr>
          <a:lstStyle/>
          <a:p>
            <a:pPr algn="ctr"/>
            <a:r>
              <a:rPr sz="850" b="1" i="0">
                <a:solidFill>
                  <a:srgbClr val="149C21"/>
                </a:solidFill>
                <a:latin typeface="Aptos"/>
              </a:rPr>
              <a:t>VINDEX</a:t>
            </a:r>
          </a:p>
        </p:txBody>
      </p:sp>
      <p:sp>
        <p:nvSpPr>
          <p:cNvPr id="69" name="TextBox 68"/>
          <p:cNvSpPr txBox="1"/>
          <p:nvPr/>
        </p:nvSpPr>
        <p:spPr>
          <a:xfrm>
            <a:off x="7223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Seconds, with ID</a:t>
            </a:r>
          </a:p>
        </p:txBody>
      </p:sp>
      <p:sp>
        <p:nvSpPr>
          <p:cNvPr id="70" name="TextBox 69"/>
          <p:cNvSpPr txBox="1"/>
          <p:nvPr/>
        </p:nvSpPr>
        <p:spPr>
          <a:xfrm>
            <a:off x="8321040" y="3767328"/>
            <a:ext cx="1188720" cy="438912"/>
          </a:xfrm>
          <a:prstGeom prst="rect">
            <a:avLst/>
          </a:prstGeom>
          <a:noFill/>
        </p:spPr>
        <p:txBody>
          <a:bodyPr wrap="square" lIns="18288" tIns="0" rIns="18288" bIns="0" anchor="ctr">
            <a:noAutofit/>
          </a:bodyPr>
          <a:lstStyle/>
          <a:p>
            <a:pPr algn="ctr"/>
            <a:r>
              <a:rPr sz="850" b="1" i="0">
                <a:solidFill>
                  <a:srgbClr val="166534"/>
                </a:solidFill>
                <a:latin typeface="Aptos"/>
              </a:rPr>
              <a:t>Office + SLA, explained</a:t>
            </a:r>
          </a:p>
        </p:txBody>
      </p:sp>
      <p:sp>
        <p:nvSpPr>
          <p:cNvPr id="71" name="TextBox 70"/>
          <p:cNvSpPr txBox="1"/>
          <p:nvPr/>
        </p:nvSpPr>
        <p:spPr>
          <a:xfrm>
            <a:off x="9509760" y="3767328"/>
            <a:ext cx="1143000" cy="438912"/>
          </a:xfrm>
          <a:prstGeom prst="rect">
            <a:avLst/>
          </a:prstGeom>
          <a:noFill/>
        </p:spPr>
        <p:txBody>
          <a:bodyPr wrap="square" lIns="18288" tIns="0" rIns="18288" bIns="0" anchor="ctr">
            <a:noAutofit/>
          </a:bodyPr>
          <a:lstStyle/>
          <a:p>
            <a:pPr algn="ctr"/>
            <a:r>
              <a:rPr sz="850" b="1" i="0">
                <a:solidFill>
                  <a:srgbClr val="166534"/>
                </a:solidFill>
                <a:latin typeface="Aptos"/>
              </a:rPr>
              <a:t>Content-based, human-checked</a:t>
            </a:r>
          </a:p>
        </p:txBody>
      </p:sp>
      <p:sp>
        <p:nvSpPr>
          <p:cNvPr id="72" name="TextBox 71"/>
          <p:cNvSpPr txBox="1"/>
          <p:nvPr/>
        </p:nvSpPr>
        <p:spPr>
          <a:xfrm>
            <a:off x="10652760" y="3767328"/>
            <a:ext cx="1097280" cy="438912"/>
          </a:xfrm>
          <a:prstGeom prst="rect">
            <a:avLst/>
          </a:prstGeom>
          <a:noFill/>
        </p:spPr>
        <p:txBody>
          <a:bodyPr wrap="square" lIns="18288" tIns="0" rIns="18288" bIns="0" anchor="ctr">
            <a:noAutofit/>
          </a:bodyPr>
          <a:lstStyle/>
          <a:p>
            <a:pPr algn="ctr"/>
            <a:r>
              <a:rPr sz="850" b="1" i="0">
                <a:solidFill>
                  <a:srgbClr val="166534"/>
                </a:solidFill>
                <a:latin typeface="Aptos"/>
              </a:rPr>
              <a:t>Email at every step</a:t>
            </a:r>
          </a:p>
        </p:txBody>
      </p:sp>
      <p:sp>
        <p:nvSpPr>
          <p:cNvPr id="73" name="Rounded Rectangle 72"/>
          <p:cNvSpPr/>
          <p:nvPr/>
        </p:nvSpPr>
        <p:spPr>
          <a:xfrm>
            <a:off x="411480" y="4343400"/>
            <a:ext cx="3657600" cy="2011680"/>
          </a:xfrm>
          <a:prstGeom prst="roundRect">
            <a:avLst>
              <a:gd name="adj" fmla="val 5454"/>
            </a:avLst>
          </a:prstGeom>
          <a:solidFill>
            <a:srgbClr val="EFF6FF"/>
          </a:solidFill>
          <a:ln w="12700">
            <a:solidFill>
              <a:srgbClr val="2563EB"/>
            </a:solidFill>
          </a:ln>
          <a:effectLst/>
        </p:spPr>
        <p:txBody>
          <a:bodyPr rtlCol="0" anchor="ctr"/>
          <a:lstStyle/>
          <a:p>
            <a:pPr algn="ctr"/>
          </a:p>
        </p:txBody>
      </p:sp>
      <p:sp>
        <p:nvSpPr>
          <p:cNvPr id="74" name="Rounded Rectangle 73"/>
          <p:cNvSpPr/>
          <p:nvPr/>
        </p:nvSpPr>
        <p:spPr>
          <a:xfrm>
            <a:off x="411480" y="4343400"/>
            <a:ext cx="3657600" cy="347472"/>
          </a:xfrm>
          <a:prstGeom prst="roundRect">
            <a:avLst>
              <a:gd name="adj" fmla="val 31578"/>
            </a:avLst>
          </a:prstGeom>
          <a:solidFill>
            <a:srgbClr val="2563EB"/>
          </a:solidFill>
          <a:ln>
            <a:noFill/>
          </a:ln>
          <a:effectLst/>
        </p:spPr>
        <p:txBody>
          <a:bodyPr rtlCol="0" anchor="ctr"/>
          <a:lstStyle/>
          <a:p>
            <a:pPr algn="ctr"/>
          </a:p>
        </p:txBody>
      </p:sp>
      <p:sp>
        <p:nvSpPr>
          <p:cNvPr id="75" name="Rectangle 74"/>
          <p:cNvSpPr/>
          <p:nvPr/>
        </p:nvSpPr>
        <p:spPr>
          <a:xfrm>
            <a:off x="411480" y="4517136"/>
            <a:ext cx="3657600" cy="173736"/>
          </a:xfrm>
          <a:prstGeom prst="rect">
            <a:avLst/>
          </a:prstGeom>
          <a:solidFill>
            <a:srgbClr val="2563EB"/>
          </a:solidFill>
          <a:ln>
            <a:noFill/>
          </a:ln>
          <a:effectLst/>
        </p:spPr>
        <p:txBody>
          <a:bodyPr rtlCol="0" anchor="ctr"/>
          <a:lstStyle/>
          <a:p>
            <a:pPr algn="ctr"/>
          </a:p>
        </p:txBody>
      </p:sp>
      <p:sp>
        <p:nvSpPr>
          <p:cNvPr id="76" name="TextBox 75"/>
          <p:cNvSpPr txBox="1"/>
          <p:nvPr/>
        </p:nvSpPr>
        <p:spPr>
          <a:xfrm>
            <a:off x="53949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Feasibility</a:t>
            </a:r>
          </a:p>
        </p:txBody>
      </p:sp>
      <p:sp>
        <p:nvSpPr>
          <p:cNvPr id="77" name="TextBox 76"/>
          <p:cNvSpPr txBox="1"/>
          <p:nvPr/>
        </p:nvSpPr>
        <p:spPr>
          <a:xfrm>
            <a:off x="52120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2563EB"/>
                </a:solidFill>
                <a:latin typeface="Aptos"/>
              </a:rPr>
              <a:t>Open-source stack: </a:t>
            </a:r>
            <a:r>
              <a:rPr sz="950" b="0" i="0">
                <a:solidFill>
                  <a:srgbClr val="140C12"/>
                </a:solidFill>
                <a:latin typeface="Aptos"/>
              </a:rPr>
              <a:t>FastAPI, PostgreSQL + pgvector, React + shadcn/ui, Ollama; no licence fees</a:t>
            </a:r>
          </a:p>
          <a:p>
            <a:pPr algn="l" marL="146304" indent="-146304">
              <a:spcAft>
                <a:spcPts val="300"/>
              </a:spcAft>
              <a:buFont typeface="Arial"/>
              <a:buChar char="•"/>
            </a:pPr>
            <a:r>
              <a:rPr sz="950" b="1" i="0">
                <a:solidFill>
                  <a:srgbClr val="2563EB"/>
                </a:solidFill>
                <a:latin typeface="Aptos"/>
              </a:rPr>
              <a:t>Runs today on a laptop GPU: </a:t>
            </a:r>
            <a:r>
              <a:rPr sz="950" b="0" i="0">
                <a:solidFill>
                  <a:srgbClr val="140C12"/>
                </a:solidFill>
                <a:latin typeface="Aptos"/>
              </a:rPr>
              <a:t>RTX 3050 4 GB serves Gemma 3 4B, bge-m3 and the classifier at 15-20 s per complaint</a:t>
            </a:r>
          </a:p>
          <a:p>
            <a:pPr algn="l" marL="146304" indent="-146304">
              <a:spcAft>
                <a:spcPts val="300"/>
              </a:spcAft>
              <a:buFont typeface="Arial"/>
              <a:buChar char="•"/>
            </a:pPr>
            <a:r>
              <a:rPr sz="950" b="1" i="0">
                <a:solidFill>
                  <a:srgbClr val="2563EB"/>
                </a:solidFill>
                <a:latin typeface="Aptos"/>
              </a:rPr>
              <a:t>Tested end to end: </a:t>
            </a:r>
            <a:r>
              <a:rPr sz="950" b="0" i="0">
                <a:solidFill>
                  <a:srgbClr val="140C12"/>
                </a:solidFill>
                <a:latin typeface="Aptos"/>
              </a:rPr>
              <a:t>114 API checks: 5 languages, photos, duplicates, roles, replies, ratings, me-too, escalation, mails</a:t>
            </a:r>
          </a:p>
          <a:p>
            <a:pPr algn="l" marL="146304" indent="-146304">
              <a:spcAft>
                <a:spcPts val="300"/>
              </a:spcAft>
              <a:buFont typeface="Arial"/>
              <a:buChar char="•"/>
            </a:pPr>
            <a:r>
              <a:rPr sz="950" b="1" i="0">
                <a:solidFill>
                  <a:srgbClr val="2563EB"/>
                </a:solidFill>
                <a:latin typeface="Aptos"/>
              </a:rPr>
              <a:t>Cost: </a:t>
            </a:r>
            <a:r>
              <a:rPr sz="950" b="0" i="0">
                <a:solidFill>
                  <a:srgbClr val="140C12"/>
                </a:solidFill>
                <a:latin typeface="Aptos"/>
              </a:rPr>
              <a:t>zero hosting and zero per-request AI cost; one laptop today, one on-prem server tomorrow</a:t>
            </a:r>
          </a:p>
        </p:txBody>
      </p:sp>
      <p:sp>
        <p:nvSpPr>
          <p:cNvPr id="78" name="Rounded Rectangle 77"/>
          <p:cNvSpPr/>
          <p:nvPr/>
        </p:nvSpPr>
        <p:spPr>
          <a:xfrm>
            <a:off x="4251960" y="4343400"/>
            <a:ext cx="3657600" cy="2011680"/>
          </a:xfrm>
          <a:prstGeom prst="roundRect">
            <a:avLst>
              <a:gd name="adj" fmla="val 5454"/>
            </a:avLst>
          </a:prstGeom>
          <a:solidFill>
            <a:srgbClr val="F3E8FF"/>
          </a:solidFill>
          <a:ln w="12700">
            <a:solidFill>
              <a:srgbClr val="7E22CE"/>
            </a:solidFill>
          </a:ln>
          <a:effectLst/>
        </p:spPr>
        <p:txBody>
          <a:bodyPr rtlCol="0" anchor="ctr"/>
          <a:lstStyle/>
          <a:p>
            <a:pPr algn="ctr"/>
          </a:p>
        </p:txBody>
      </p:sp>
      <p:sp>
        <p:nvSpPr>
          <p:cNvPr id="79" name="Rounded Rectangle 78"/>
          <p:cNvSpPr/>
          <p:nvPr/>
        </p:nvSpPr>
        <p:spPr>
          <a:xfrm>
            <a:off x="4251960" y="4343400"/>
            <a:ext cx="3657600" cy="347472"/>
          </a:xfrm>
          <a:prstGeom prst="roundRect">
            <a:avLst>
              <a:gd name="adj" fmla="val 31578"/>
            </a:avLst>
          </a:prstGeom>
          <a:solidFill>
            <a:srgbClr val="7E22CE"/>
          </a:solidFill>
          <a:ln>
            <a:noFill/>
          </a:ln>
          <a:effectLst/>
        </p:spPr>
        <p:txBody>
          <a:bodyPr rtlCol="0" anchor="ctr"/>
          <a:lstStyle/>
          <a:p>
            <a:pPr algn="ctr"/>
          </a:p>
        </p:txBody>
      </p:sp>
      <p:sp>
        <p:nvSpPr>
          <p:cNvPr id="80" name="Rectangle 79"/>
          <p:cNvSpPr/>
          <p:nvPr/>
        </p:nvSpPr>
        <p:spPr>
          <a:xfrm>
            <a:off x="4251960" y="4517136"/>
            <a:ext cx="3657600" cy="173736"/>
          </a:xfrm>
          <a:prstGeom prst="rect">
            <a:avLst/>
          </a:prstGeom>
          <a:solidFill>
            <a:srgbClr val="7E22CE"/>
          </a:solidFill>
          <a:ln>
            <a:noFill/>
          </a:ln>
          <a:effectLst/>
        </p:spPr>
        <p:txBody>
          <a:bodyPr rtlCol="0" anchor="ctr"/>
          <a:lstStyle/>
          <a:p>
            <a:pPr algn="ctr"/>
          </a:p>
        </p:txBody>
      </p:sp>
      <p:sp>
        <p:nvSpPr>
          <p:cNvPr id="81" name="TextBox 80"/>
          <p:cNvSpPr txBox="1"/>
          <p:nvPr/>
        </p:nvSpPr>
        <p:spPr>
          <a:xfrm>
            <a:off x="437997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Scalability</a:t>
            </a:r>
          </a:p>
        </p:txBody>
      </p:sp>
      <p:sp>
        <p:nvSpPr>
          <p:cNvPr id="82" name="TextBox 81"/>
          <p:cNvSpPr txBox="1"/>
          <p:nvPr/>
        </p:nvSpPr>
        <p:spPr>
          <a:xfrm>
            <a:off x="4361688"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7E22CE"/>
                </a:solidFill>
                <a:latin typeface="Aptos"/>
              </a:rPr>
              <a:t>Stateless API, state in Postgres: </a:t>
            </a:r>
            <a:r>
              <a:rPr sz="950" b="0" i="0">
                <a:solidFill>
                  <a:srgbClr val="140C12"/>
                </a:solidFill>
                <a:latin typeface="Aptos"/>
              </a:rPr>
              <a:t>add workers per GPU or move to Gemma 3 12B on a server</a:t>
            </a:r>
          </a:p>
          <a:p>
            <a:pPr algn="l" marL="146304" indent="-146304">
              <a:spcAft>
                <a:spcPts val="300"/>
              </a:spcAft>
              <a:buFont typeface="Arial"/>
              <a:buChar char="•"/>
            </a:pPr>
            <a:r>
              <a:rPr sz="950" b="1" i="0">
                <a:solidFill>
                  <a:srgbClr val="7E22CE"/>
                </a:solidFill>
                <a:latin typeface="Aptos"/>
              </a:rPr>
              <a:t>pgvector HNSW index </a:t>
            </a:r>
            <a:r>
              <a:rPr sz="950" b="0" i="0">
                <a:solidFill>
                  <a:srgbClr val="140C12"/>
                </a:solidFill>
                <a:latin typeface="Aptos"/>
              </a:rPr>
              <a:t>keeps duplicate search fast as complaints grow</a:t>
            </a:r>
          </a:p>
          <a:p>
            <a:pPr algn="l" marL="146304" indent="-146304">
              <a:spcAft>
                <a:spcPts val="300"/>
              </a:spcAft>
              <a:buFont typeface="Arial"/>
              <a:buChar char="•"/>
            </a:pPr>
            <a:r>
              <a:rPr sz="950" b="1" i="0">
                <a:solidFill>
                  <a:srgbClr val="7E22CE"/>
                </a:solidFill>
                <a:latin typeface="Aptos"/>
              </a:rPr>
              <a:t>Config, not code: </a:t>
            </a:r>
            <a:r>
              <a:rPr sz="950" b="0" i="0">
                <a:solidFill>
                  <a:srgbClr val="140C12"/>
                </a:solidFill>
                <a:latin typeface="Aptos"/>
              </a:rPr>
              <a:t>departments, rules and 760 offices in YAML / JSON, hot-reloaded; a new district is one file</a:t>
            </a:r>
          </a:p>
          <a:p>
            <a:pPr algn="l" marL="146304" indent="-146304">
              <a:spcAft>
                <a:spcPts val="300"/>
              </a:spcAft>
              <a:buFont typeface="Arial"/>
              <a:buChar char="•"/>
            </a:pPr>
            <a:r>
              <a:rPr sz="950" b="1" i="0">
                <a:solidFill>
                  <a:srgbClr val="7E22CE"/>
                </a:solidFill>
                <a:latin typeface="Aptos"/>
              </a:rPr>
              <a:t>Async by design: </a:t>
            </a:r>
            <a:r>
              <a:rPr sz="950" b="0" i="0">
                <a:solidFill>
                  <a:srgbClr val="140C12"/>
                </a:solidFill>
                <a:latin typeface="Aptos"/>
              </a:rPr>
              <a:t>intake answers in under 1 s whatever the model load; the queue absorbs bursts</a:t>
            </a:r>
          </a:p>
        </p:txBody>
      </p:sp>
      <p:sp>
        <p:nvSpPr>
          <p:cNvPr id="83" name="Rounded Rectangle 82"/>
          <p:cNvSpPr/>
          <p:nvPr/>
        </p:nvSpPr>
        <p:spPr>
          <a:xfrm>
            <a:off x="8092440" y="4343400"/>
            <a:ext cx="3657600" cy="2011680"/>
          </a:xfrm>
          <a:prstGeom prst="roundRect">
            <a:avLst>
              <a:gd name="adj" fmla="val 5454"/>
            </a:avLst>
          </a:prstGeom>
          <a:solidFill>
            <a:srgbClr val="ECFDF5"/>
          </a:solidFill>
          <a:ln w="12700">
            <a:solidFill>
              <a:srgbClr val="0D9488"/>
            </a:solidFill>
          </a:ln>
          <a:effectLst/>
        </p:spPr>
        <p:txBody>
          <a:bodyPr rtlCol="0" anchor="ctr"/>
          <a:lstStyle/>
          <a:p>
            <a:pPr algn="ctr"/>
          </a:p>
        </p:txBody>
      </p:sp>
      <p:sp>
        <p:nvSpPr>
          <p:cNvPr id="84" name="Rounded Rectangle 83"/>
          <p:cNvSpPr/>
          <p:nvPr/>
        </p:nvSpPr>
        <p:spPr>
          <a:xfrm>
            <a:off x="8092440" y="4343400"/>
            <a:ext cx="3657600" cy="347472"/>
          </a:xfrm>
          <a:prstGeom prst="roundRect">
            <a:avLst>
              <a:gd name="adj" fmla="val 31578"/>
            </a:avLst>
          </a:prstGeom>
          <a:solidFill>
            <a:srgbClr val="0D9488"/>
          </a:solidFill>
          <a:ln>
            <a:noFill/>
          </a:ln>
          <a:effectLst/>
        </p:spPr>
        <p:txBody>
          <a:bodyPr rtlCol="0" anchor="ctr"/>
          <a:lstStyle/>
          <a:p>
            <a:pPr algn="ctr"/>
          </a:p>
        </p:txBody>
      </p:sp>
      <p:sp>
        <p:nvSpPr>
          <p:cNvPr id="85" name="Rectangle 84"/>
          <p:cNvSpPr/>
          <p:nvPr/>
        </p:nvSpPr>
        <p:spPr>
          <a:xfrm>
            <a:off x="8092440" y="4517136"/>
            <a:ext cx="3657600" cy="173736"/>
          </a:xfrm>
          <a:prstGeom prst="rect">
            <a:avLst/>
          </a:prstGeom>
          <a:solidFill>
            <a:srgbClr val="0D9488"/>
          </a:solidFill>
          <a:ln>
            <a:noFill/>
          </a:ln>
          <a:effectLst/>
        </p:spPr>
        <p:txBody>
          <a:bodyPr rtlCol="0" anchor="ctr"/>
          <a:lstStyle/>
          <a:p>
            <a:pPr algn="ctr"/>
          </a:p>
        </p:txBody>
      </p:sp>
      <p:sp>
        <p:nvSpPr>
          <p:cNvPr id="86" name="TextBox 85"/>
          <p:cNvSpPr txBox="1"/>
          <p:nvPr/>
        </p:nvSpPr>
        <p:spPr>
          <a:xfrm>
            <a:off x="8220456" y="4343400"/>
            <a:ext cx="3438144" cy="347472"/>
          </a:xfrm>
          <a:prstGeom prst="rect">
            <a:avLst/>
          </a:prstGeom>
          <a:noFill/>
        </p:spPr>
        <p:txBody>
          <a:bodyPr wrap="square" lIns="18288" tIns="0" rIns="18288" bIns="0" anchor="ctr">
            <a:noAutofit/>
          </a:bodyPr>
          <a:lstStyle/>
          <a:p>
            <a:pPr algn="l"/>
            <a:r>
              <a:rPr sz="1050" b="1" i="0">
                <a:solidFill>
                  <a:srgbClr val="FFFFFF"/>
                </a:solidFill>
                <a:latin typeface="Aptos"/>
              </a:rPr>
              <a:t>Future improvements</a:t>
            </a:r>
          </a:p>
        </p:txBody>
      </p:sp>
      <p:sp>
        <p:nvSpPr>
          <p:cNvPr id="87" name="TextBox 86"/>
          <p:cNvSpPr txBox="1"/>
          <p:nvPr/>
        </p:nvSpPr>
        <p:spPr>
          <a:xfrm>
            <a:off x="8202167" y="4745736"/>
            <a:ext cx="3438144" cy="1572768"/>
          </a:xfrm>
          <a:prstGeom prst="rect">
            <a:avLst/>
          </a:prstGeom>
          <a:noFill/>
        </p:spPr>
        <p:txBody>
          <a:bodyPr wrap="square" lIns="54864" tIns="27432" rIns="54864" bIns="27432" anchor="t">
            <a:noAutofit/>
          </a:bodyPr>
          <a:lstStyle/>
          <a:p>
            <a:pPr algn="l" marL="146304" indent="-146304">
              <a:spcAft>
                <a:spcPts val="300"/>
              </a:spcAft>
              <a:buFont typeface="Arial"/>
              <a:buChar char="•"/>
            </a:pPr>
            <a:r>
              <a:rPr sz="950" b="1" i="0">
                <a:solidFill>
                  <a:srgbClr val="0D9488"/>
                </a:solidFill>
                <a:latin typeface="Aptos"/>
              </a:rPr>
              <a:t>WhatsApp intake and updates </a:t>
            </a:r>
            <a:r>
              <a:rPr sz="950" b="0" i="0">
                <a:solidFill>
                  <a:srgbClr val="140C12"/>
                </a:solidFill>
                <a:latin typeface="Aptos"/>
              </a:rPr>
              <a:t>(roadmap), video key frames, ward polygons for sub-district routing</a:t>
            </a:r>
          </a:p>
          <a:p>
            <a:pPr algn="l" marL="146304" indent="-146304">
              <a:spcAft>
                <a:spcPts val="300"/>
              </a:spcAft>
              <a:buFont typeface="Arial"/>
              <a:buChar char="•"/>
            </a:pPr>
            <a:r>
              <a:rPr sz="950" b="1" i="0">
                <a:solidFill>
                  <a:srgbClr val="0D9488"/>
                </a:solidFill>
                <a:latin typeface="Aptos"/>
              </a:rPr>
              <a:t>Fine-tuned classifier </a:t>
            </a:r>
            <a:r>
              <a:rPr sz="950" b="0" i="0">
                <a:solidFill>
                  <a:srgbClr val="140C12"/>
                </a:solidFill>
                <a:latin typeface="Aptos"/>
              </a:rPr>
              <a:t>on officer corrections; 60-row team gold set as the real benchmark</a:t>
            </a:r>
          </a:p>
          <a:p>
            <a:pPr algn="l" marL="146304" indent="-146304">
              <a:spcAft>
                <a:spcPts val="300"/>
              </a:spcAft>
              <a:buFont typeface="Arial"/>
              <a:buChar char="•"/>
            </a:pPr>
            <a:r>
              <a:rPr sz="950" b="1" i="0">
                <a:solidFill>
                  <a:srgbClr val="0D9488"/>
                </a:solidFill>
                <a:latin typeface="Aptos"/>
              </a:rPr>
              <a:t>Verify office data </a:t>
            </a:r>
            <a:r>
              <a:rPr sz="950" b="0" i="0">
                <a:solidFill>
                  <a:srgbClr val="140C12"/>
                </a:solidFill>
                <a:latin typeface="Aptos"/>
              </a:rPr>
              <a:t>with the municipality; the spreadsheet itself is marked as a demo mapping</a:t>
            </a:r>
          </a:p>
          <a:p>
            <a:pPr algn="l" marL="146304" indent="-146304">
              <a:spcAft>
                <a:spcPts val="300"/>
              </a:spcAft>
              <a:buFont typeface="Arial"/>
              <a:buChar char="•"/>
            </a:pPr>
            <a:r>
              <a:rPr sz="950" b="1" i="0">
                <a:solidFill>
                  <a:srgbClr val="0D9488"/>
                </a:solidFill>
                <a:latin typeface="Aptos"/>
              </a:rPr>
              <a:t>Officer analytics: </a:t>
            </a:r>
            <a:r>
              <a:rPr sz="950" b="0" i="0">
                <a:solidFill>
                  <a:srgbClr val="140C12"/>
                </a:solidFill>
                <a:latin typeface="Aptos"/>
              </a:rPr>
              <a:t>SLA breaches, reopen rates and accuracy trends per language on the dashboard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2935</Words>
  <Application>WPS Presentation</Application>
  <PresentationFormat>On-screen Show (4:3)</PresentationFormat>
  <Paragraphs>159</Paragraphs>
  <Slides>8</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8</vt:i4>
      </vt:variant>
    </vt:vector>
  </HeadingPairs>
  <TitlesOfParts>
    <vt:vector size="18" baseType="lpstr">
      <vt:lpstr>Arial</vt:lpstr>
      <vt:lpstr>SimSun</vt:lpstr>
      <vt:lpstr>Wingdings</vt:lpstr>
      <vt:lpstr>Arial</vt:lpstr>
      <vt:lpstr>Aptos</vt:lpstr>
      <vt:lpstr>Segoe UI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R.P Ram Pradeep</cp:lastModifiedBy>
  <cp:revision>3</cp:revision>
  <dcterms:created xsi:type="dcterms:W3CDTF">2013-01-27T09:14:00Z</dcterms:created>
  <dcterms:modified xsi:type="dcterms:W3CDTF">2026-10-15T09:49:54Z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