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 Id="rId4" Type="http://schemas.openxmlformats.org/package/2006/relationships/metadata/thumbnail" Target="docProps/thumbnail.jpeg"/><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56" r:id="rId3"/>
    <p:sldId id="257" r:id="rId4"/>
    <p:sldId id="258" r:id="rId5"/>
    <p:sldId id="259" r:id="rId6"/>
    <p:sldId id="260" r:id="rId7"/>
    <p:sldId id="261" r:id="rId8"/>
    <p:sldId id="262" r:id="rId9"/>
    <p:sldId id="263" r:id="rId10"/>
    <p:sldId id="264" r:id="rId11"/>
    <p:sldId id="266" r:id="rId12"/>
    <p:sldId id="268" r:id="rId13"/>
    <p:sldId id="270" r:id="rId14"/>
  </p:sldIdLst>
  <p:sldSz cx="1219136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5BCAD085-E8A6-8845-BD4E-CB4CCA059FC4}"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20204"/>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20204"/>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20204"/>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20204"/>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40C12"/>
        </a:solidFill>
        <a:effectLst/>
      </p:bgPr>
    </p:bg>
    <p:spTree>
      <p:nvGrpSpPr>
        <p:cNvPr id="1" name=""/>
        <p:cNvGrpSpPr/>
        <p:nvPr/>
      </p:nvGrpSpPr>
      <p:grpSpPr/>
      <p:sp>
        <p:nvSpPr>
          <p:cNvPr id="2" name="Rectangle 1"/>
          <p:cNvSpPr/>
          <p:nvPr/>
        </p:nvSpPr>
        <p:spPr>
          <a:xfrm>
            <a:off x="0" y="0"/>
            <a:ext cx="12191695" cy="201168"/>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611112"/>
            <a:ext cx="12191695" cy="246888"/>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438912"/>
            <a:ext cx="10881360" cy="365760"/>
          </a:xfrm>
          <a:prstGeom prst="rect">
            <a:avLst/>
          </a:prstGeom>
          <a:noFill/>
        </p:spPr>
        <p:txBody>
          <a:bodyPr wrap="none" lIns="54864" tIns="54864" rIns="54864" bIns="54864" anchor="t">
            <a:spAutoFit/>
          </a:bodyPr>
          <a:lstStyle/>
          <a:p>
            <a:pPr algn="ctr">
              <a:defRPr sz="1800" b="1" i="0">
                <a:solidFill>
                  <a:srgbClr val="FFFFFF"/>
                </a:solidFill>
                <a:latin typeface="Aptos"/>
              </a:defRPr>
            </a:pPr>
            <a:r>
              <a:t>V.S.B. ENGINEERING COLLEGE</a:t>
            </a:r>
          </a:p>
        </p:txBody>
      </p:sp>
      <p:sp>
        <p:nvSpPr>
          <p:cNvPr id="5" name="TextBox 4"/>
          <p:cNvSpPr txBox="1"/>
          <p:nvPr/>
        </p:nvSpPr>
        <p:spPr>
          <a:xfrm>
            <a:off x="640080" y="1005840"/>
            <a:ext cx="10881360" cy="411480"/>
          </a:xfrm>
          <a:prstGeom prst="rect">
            <a:avLst/>
          </a:prstGeom>
          <a:noFill/>
        </p:spPr>
        <p:txBody>
          <a:bodyPr wrap="none" lIns="54864" tIns="54864" rIns="54864" bIns="54864" anchor="t">
            <a:spAutoFit/>
          </a:bodyPr>
          <a:lstStyle/>
          <a:p>
            <a:pPr algn="ctr">
              <a:defRPr sz="1800" b="1" i="0">
                <a:solidFill>
                  <a:srgbClr val="FFBE2D"/>
                </a:solidFill>
                <a:latin typeface="Aptos"/>
              </a:defRPr>
            </a:pPr>
            <a:r>
              <a:t>CODING CLUB  ×  AI FRONTIER CLUB</a:t>
            </a:r>
          </a:p>
        </p:txBody>
      </p:sp>
      <p:sp>
        <p:nvSpPr>
          <p:cNvPr id="6" name="TextBox 5"/>
          <p:cNvSpPr txBox="1"/>
          <p:nvPr/>
        </p:nvSpPr>
        <p:spPr>
          <a:xfrm>
            <a:off x="548640" y="1828800"/>
            <a:ext cx="11064240" cy="1005840"/>
          </a:xfrm>
          <a:prstGeom prst="rect">
            <a:avLst/>
          </a:prstGeom>
          <a:noFill/>
        </p:spPr>
        <p:txBody>
          <a:bodyPr wrap="none" lIns="54864" tIns="54864" rIns="54864" bIns="54864" anchor="t">
            <a:spAutoFit/>
          </a:bodyPr>
          <a:lstStyle/>
          <a:p>
            <a:pPr algn="ctr">
              <a:defRPr sz="4800" b="1" i="0">
                <a:solidFill>
                  <a:srgbClr val="FFFFFF"/>
                </a:solidFill>
                <a:latin typeface="Aptos"/>
              </a:defRPr>
            </a:pPr>
            <a:r>
              <a:t>SYNAPSE ’26</a:t>
            </a:r>
          </a:p>
        </p:txBody>
      </p:sp>
      <p:sp>
        <p:nvSpPr>
          <p:cNvPr id="7" name="TextBox 6"/>
          <p:cNvSpPr txBox="1"/>
          <p:nvPr/>
        </p:nvSpPr>
        <p:spPr>
          <a:xfrm>
            <a:off x="548640" y="2880360"/>
            <a:ext cx="11064240" cy="548640"/>
          </a:xfrm>
          <a:prstGeom prst="rect">
            <a:avLst/>
          </a:prstGeom>
          <a:noFill/>
        </p:spPr>
        <p:txBody>
          <a:bodyPr wrap="none" lIns="54864" tIns="54864" rIns="54864" bIns="54864" anchor="t">
            <a:spAutoFit/>
          </a:bodyPr>
          <a:lstStyle/>
          <a:p>
            <a:pPr algn="ctr">
              <a:defRPr sz="2800" b="1" i="0">
                <a:solidFill>
                  <a:srgbClr val="E0262D"/>
                </a:solidFill>
                <a:latin typeface="Aptos"/>
              </a:defRPr>
            </a:pPr>
            <a:r>
              <a:t>24-HOUR HACKATHON</a:t>
            </a:r>
          </a:p>
        </p:txBody>
      </p:sp>
      <p:sp>
        <p:nvSpPr>
          <p:cNvPr id="8" name="TextBox 7"/>
          <p:cNvSpPr txBox="1"/>
          <p:nvPr/>
        </p:nvSpPr>
        <p:spPr>
          <a:xfrm>
            <a:off x="548640" y="3584448"/>
            <a:ext cx="11064240" cy="365760"/>
          </a:xfrm>
          <a:prstGeom prst="rect">
            <a:avLst/>
          </a:prstGeom>
          <a:noFill/>
        </p:spPr>
        <p:txBody>
          <a:bodyPr wrap="none" lIns="54864" tIns="54864" rIns="54864" bIns="54864" anchor="t">
            <a:spAutoFit/>
          </a:bodyPr>
          <a:lstStyle/>
          <a:p>
            <a:pPr algn="ctr">
              <a:defRPr sz="1800" b="1" i="0">
                <a:solidFill>
                  <a:srgbClr val="FFBE2D"/>
                </a:solidFill>
                <a:latin typeface="Aptos"/>
              </a:defRPr>
            </a:pPr>
            <a:r>
              <a:t>CONNECT  |  CODE  |  CREATE</a:t>
            </a:r>
          </a:p>
        </p:txBody>
      </p:sp>
      <p:sp>
        <p:nvSpPr>
          <p:cNvPr id="9" name="Rounded Rectangle 8"/>
          <p:cNvSpPr/>
          <p:nvPr/>
        </p:nvSpPr>
        <p:spPr>
          <a:xfrm>
            <a:off x="1920240" y="4343400"/>
            <a:ext cx="8366760" cy="1051560"/>
          </a:xfrm>
          <a:prstGeom prst="roundRect">
            <a:avLst/>
          </a:prstGeom>
          <a:solidFill>
            <a:srgbClr val="261B1F"/>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57400" y="4489704"/>
            <a:ext cx="8092440" cy="320040"/>
          </a:xfrm>
          <a:prstGeom prst="rect">
            <a:avLst/>
          </a:prstGeom>
          <a:noFill/>
        </p:spPr>
        <p:txBody>
          <a:bodyPr wrap="none" lIns="54864" tIns="54864" rIns="54864" bIns="54864" anchor="t">
            <a:spAutoFit/>
          </a:bodyPr>
          <a:lstStyle/>
          <a:p>
            <a:pPr algn="ctr">
              <a:defRPr sz="1900" b="1" i="0">
                <a:solidFill>
                  <a:srgbClr val="FFFFFF"/>
                </a:solidFill>
                <a:latin typeface="Aptos"/>
              </a:defRPr>
            </a:pPr>
            <a:r>
              <a:t>PROJECT PRESENTATION</a:t>
            </a:r>
          </a:p>
        </p:txBody>
      </p:sp>
      <p:sp>
        <p:nvSpPr>
          <p:cNvPr id="11" name="TextBox 10"/>
          <p:cNvSpPr txBox="1"/>
          <p:nvPr/>
        </p:nvSpPr>
        <p:spPr>
          <a:xfrm>
            <a:off x="2057400" y="4919472"/>
            <a:ext cx="8092440" cy="256032"/>
          </a:xfrm>
          <a:prstGeom prst="rect">
            <a:avLst/>
          </a:prstGeom>
          <a:noFill/>
        </p:spPr>
        <p:txBody>
          <a:bodyPr wrap="none" lIns="54864" tIns="54864" rIns="54864" bIns="54864" anchor="t">
            <a:spAutoFit/>
          </a:bodyPr>
          <a:lstStyle/>
          <a:p>
            <a:pPr algn="ctr">
              <a:defRPr sz="1300" b="1" i="0">
                <a:solidFill>
                  <a:srgbClr val="FFBE2D"/>
                </a:solidFill>
                <a:latin typeface="Aptos"/>
              </a:defRPr>
            </a:pPr>
            <a:r>
              <a:t>[PROJECT TITLE]     |     [TEAM NAME / TEAM ID]</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TEAM &amp; PROJECT DETAILS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02</a:t>
            </a:r>
          </a:p>
        </p:txBody>
      </p:sp>
      <p:sp>
        <p:nvSpPr>
          <p:cNvPr id="7" name="TextBox 6"/>
          <p:cNvSpPr txBox="1"/>
          <p:nvPr/>
        </p:nvSpPr>
        <p:spPr>
          <a:xfrm>
            <a:off x="777240" y="1554480"/>
            <a:ext cx="10698480" cy="2109470"/>
          </a:xfrm>
          <a:prstGeom prst="rect">
            <a:avLst/>
          </a:prstGeom>
          <a:noFill/>
        </p:spPr>
        <p:txBody>
          <a:bodyPr wrap="square" lIns="73152" tIns="54864" rIns="73152" bIns="54864">
            <a:spAutoFit/>
          </a:bodyPr>
          <a:lstStyle/>
          <a:p>
            <a:pPr>
              <a:spcAft>
                <a:spcPts val="1200"/>
              </a:spcAft>
              <a:defRPr sz="1800">
                <a:solidFill>
                  <a:srgbClr val="140C12"/>
                </a:solidFill>
                <a:latin typeface="Aptos"/>
              </a:defRPr>
            </a:pPr>
            <a:r>
              <a:t>•  Project Title: [Enter title]</a:t>
            </a:r>
          </a:p>
          <a:p>
            <a:pPr>
              <a:spcAft>
                <a:spcPts val="1200"/>
              </a:spcAft>
              <a:defRPr sz="1800">
                <a:solidFill>
                  <a:srgbClr val="140C12"/>
                </a:solidFill>
                <a:latin typeface="Aptos"/>
              </a:defRPr>
            </a:pPr>
            <a:r>
              <a:t>•  Team Name / Team ID: [Enter details]</a:t>
            </a:r>
          </a:p>
          <a:p>
            <a:pPr>
              <a:spcAft>
                <a:spcPts val="1200"/>
              </a:spcAft>
              <a:defRPr sz="1800">
                <a:solidFill>
                  <a:srgbClr val="140C12"/>
                </a:solidFill>
                <a:latin typeface="Aptos"/>
              </a:defRPr>
            </a:pPr>
            <a:r>
              <a:t>•  Problem Statement ID and Title: [Enter details]</a:t>
            </a:r>
          </a:p>
          <a:p>
            <a:pPr>
              <a:spcAft>
                <a:spcPts val="1200"/>
              </a:spcAft>
              <a:defRPr sz="1800">
                <a:solidFill>
                  <a:srgbClr val="140C12"/>
                </a:solidFill>
                <a:latin typeface="Aptos"/>
              </a:defRPr>
            </a:pPr>
            <a:r>
              <a:t>•  Team </a:t>
            </a:r>
            <a:r>
              <a:rPr lang="en-US"/>
              <a:t>Leader</a:t>
            </a:r>
            <a:r>
              <a:t>: [Name — Register Number; </a:t>
            </a:r>
            <a:r>
              <a:rPr lang="en-US"/>
              <a:t>Dept,Year,Section</a:t>
            </a:r>
            <a:r>
              <a:t>]</a:t>
            </a:r>
          </a:p>
          <a:p>
            <a:pPr>
              <a:spcAft>
                <a:spcPts val="1200"/>
              </a:spcAft>
              <a:defRPr sz="1800">
                <a:solidFill>
                  <a:srgbClr val="140C12"/>
                </a:solidFill>
                <a:latin typeface="Aptos"/>
              </a:defRPr>
            </a:pPr>
            <a:r>
              <a:t>•  Project Repository / Demo Link: [URL or Not Available]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PROBLEM STATEMENT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03</a:t>
            </a:r>
          </a:p>
        </p:txBody>
      </p:sp>
      <p:sp>
        <p:nvSpPr>
          <p:cNvPr id="7" name="TextBox 6"/>
          <p:cNvSpPr txBox="1"/>
          <p:nvPr/>
        </p:nvSpPr>
        <p:spPr>
          <a:xfrm>
            <a:off x="731520" y="1508760"/>
            <a:ext cx="5120640" cy="320040"/>
          </a:xfrm>
          <a:prstGeom prst="rect">
            <a:avLst/>
          </a:prstGeom>
          <a:noFill/>
        </p:spPr>
        <p:txBody>
          <a:bodyPr wrap="none" lIns="54864" tIns="54864" rIns="54864" bIns="54864" anchor="t">
            <a:spAutoFit/>
          </a:bodyPr>
          <a:lstStyle/>
          <a:p>
            <a:pPr algn="l">
              <a:defRPr sz="1500" b="1" i="0">
                <a:solidFill>
                  <a:srgbClr val="E0262D"/>
                </a:solidFill>
                <a:latin typeface="Aptos"/>
              </a:defRPr>
            </a:pPr>
            <a:r>
              <a:t>PROBLEM STATEMENT</a:t>
            </a:r>
          </a:p>
        </p:txBody>
      </p:sp>
      <p:sp>
        <p:nvSpPr>
          <p:cNvPr id="8" name="TextBox 7"/>
          <p:cNvSpPr txBox="1"/>
          <p:nvPr/>
        </p:nvSpPr>
        <p:spPr>
          <a:xfrm>
            <a:off x="731520" y="1828800"/>
            <a:ext cx="10698480" cy="960120"/>
          </a:xfrm>
          <a:prstGeom prst="rect">
            <a:avLst/>
          </a:prstGeom>
          <a:noFill/>
        </p:spPr>
        <p:txBody>
          <a:bodyPr wrap="square" lIns="54864" tIns="54864" rIns="54864" bIns="54864" anchor="t">
            <a:spAutoFit/>
          </a:bodyPr>
          <a:lstStyle/>
          <a:p>
            <a:pPr algn="l">
              <a:defRPr sz="1500" b="1" i="0">
                <a:solidFill>
                  <a:srgbClr val="140C12"/>
                </a:solidFill>
                <a:latin typeface="Aptos"/>
              </a:defRPr>
            </a:pPr>
            <a:r>
              <a:rPr/>
              <a:t>Design a multilingual natural-language-processing system for government or corporate grievance portals that reads complaints submitted in free text, identifies the subject and urgency, categorizes the issue, and routes it to the appropriate department. The system should help organizations respond more quickly while keeping complainants informed about the status of their cases.</a:t>
            </a:r>
          </a:p>
        </p:txBody>
      </p:sp>
      <p:sp>
        <p:nvSpPr>
          <p:cNvPr id="9" name="TextBox 8"/>
          <p:cNvSpPr txBox="1"/>
          <p:nvPr/>
        </p:nvSpPr>
        <p:spPr>
          <a:xfrm>
            <a:off x="731520" y="3063240"/>
            <a:ext cx="5120640" cy="320040"/>
          </a:xfrm>
          <a:prstGeom prst="rect">
            <a:avLst/>
          </a:prstGeom>
          <a:noFill/>
        </p:spPr>
        <p:txBody>
          <a:bodyPr wrap="none" lIns="54864" tIns="54864" rIns="54864" bIns="54864" anchor="t">
            <a:spAutoFit/>
          </a:bodyPr>
          <a:lstStyle/>
          <a:p>
            <a:pPr algn="l">
              <a:defRPr sz="1500" b="1" i="0">
                <a:solidFill>
                  <a:srgbClr val="E0262D"/>
                </a:solidFill>
                <a:latin typeface="Aptos"/>
              </a:defRPr>
            </a:pPr>
            <a:r>
              <a:t>PROBLEM FACED</a:t>
            </a:r>
          </a:p>
        </p:txBody>
      </p:sp>
      <p:sp>
        <p:nvSpPr>
          <p:cNvPr id="10" name="TextBox 9"/>
          <p:cNvSpPr txBox="1"/>
          <p:nvPr/>
        </p:nvSpPr>
        <p:spPr>
          <a:xfrm>
            <a:off x="731520" y="3401568"/>
            <a:ext cx="10698480" cy="914400"/>
          </a:xfrm>
          <a:prstGeom prst="rect">
            <a:avLst/>
          </a:prstGeom>
          <a:noFill/>
        </p:spPr>
        <p:txBody>
          <a:bodyPr wrap="square" lIns="54864" tIns="54864" rIns="54864" bIns="54864" anchor="t">
            <a:spAutoFit/>
          </a:bodyPr>
          <a:lstStyle/>
          <a:p>
            <a:pPr algn="l">
              <a:defRPr sz="1500" b="0" i="0">
                <a:solidFill>
                  <a:srgbClr val="140C12"/>
                </a:solidFill>
                <a:latin typeface="Aptos"/>
              </a:defRPr>
            </a:pPr>
            <a:r>
              <a:rPr/>
              <a:t>Citizens, grievance officers and department staff. Complaints arrive in Tamil, Hindi, English and mixes, in any spelling, with the urgent detail buried in long text. Manual triage is first-in-first-out, so a gas leak waits behind a billing query; misrouting adds days per hop; duplicates pile up; informal or non-English writers get worse service; and complainants hear nothing after filing.</a:t>
            </a:r>
          </a:p>
        </p:txBody>
      </p:sp>
      <p:sp>
        <p:nvSpPr>
          <p:cNvPr id="11" name="TextBox 10"/>
          <p:cNvSpPr txBox="1"/>
          <p:nvPr/>
        </p:nvSpPr>
        <p:spPr>
          <a:xfrm>
            <a:off x="731520" y="4709160"/>
            <a:ext cx="5120640" cy="320040"/>
          </a:xfrm>
          <a:prstGeom prst="rect">
            <a:avLst/>
          </a:prstGeom>
          <a:noFill/>
        </p:spPr>
        <p:txBody>
          <a:bodyPr wrap="none" lIns="54864" tIns="54864" rIns="54864" bIns="54864" anchor="t">
            <a:spAutoFit/>
          </a:bodyPr>
          <a:lstStyle/>
          <a:p>
            <a:pPr algn="l">
              <a:defRPr sz="1500" b="1" i="0">
                <a:solidFill>
                  <a:srgbClr val="E0262D"/>
                </a:solidFill>
                <a:latin typeface="Aptos"/>
              </a:defRPr>
            </a:pPr>
            <a:r>
              <a:t>SUCCESS OUTCOME</a:t>
            </a:r>
          </a:p>
        </p:txBody>
      </p:sp>
      <p:sp>
        <p:nvSpPr>
          <p:cNvPr id="12" name="TextBox 11"/>
          <p:cNvSpPr txBox="1"/>
          <p:nvPr/>
        </p:nvSpPr>
        <p:spPr>
          <a:xfrm>
            <a:off x="731520" y="5047488"/>
            <a:ext cx="10698480" cy="640080"/>
          </a:xfrm>
          <a:prstGeom prst="rect">
            <a:avLst/>
          </a:prstGeom>
          <a:noFill/>
        </p:spPr>
        <p:txBody>
          <a:bodyPr wrap="square" lIns="54864" tIns="54864" rIns="54864" bIns="54864" anchor="t">
            <a:spAutoFit/>
          </a:bodyPr>
          <a:lstStyle/>
          <a:p>
            <a:pPr algn="l">
              <a:defRPr sz="1500" b="0" i="0">
                <a:solidFill>
                  <a:srgbClr val="140C12"/>
                </a:solidFill>
                <a:latin typeface="Aptos"/>
              </a:defRPr>
            </a:pPr>
            <a:r>
              <a:rPr/>
              <a:t>Every complaint acknowledged instantly with a tracking ID and analysed in about 20 s on local hardware; department and urgency with quoted evidence; every Critical case reaches a human; duplicates linked; email status at every step; accuracy measured per language so informal writers are not penalised.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PROPOSED SOLUTION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04</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700">
                <a:solidFill>
                  <a:srgbClr val="140C12"/>
                </a:solidFill>
                <a:latin typeface="Aptos"/>
              </a:defRPr>
            </a:pPr>
            <a:r>
              <a:t>•  Solution summary: Vindex, a local-AI triage layer for grievance portals. Complaints in Tamil, Hindi, English or a mix, with photo and GPS, are analysed by Gemma 3 on our own GPU, cross-checked by rules and a second model, and routed to the right district office or to a human reviewer.</a:t>
            </a:r>
          </a:p>
          <a:p>
            <a:pPr>
              <a:spcAft>
                <a:spcPts val="1200"/>
              </a:spcAft>
              <a:defRPr sz="1700">
                <a:solidFill>
                  <a:srgbClr val="140C12"/>
                </a:solidFill>
                <a:latin typeface="Aptos"/>
              </a:defRPr>
            </a:pPr>
            <a:r>
              <a:t>•  Target users / stakeholders: citizens (any language, phone-first), grievance officers (review queue, one-click reassign), department resolvers, administrators (rules, dashboard), auditors (full trail).</a:t>
            </a:r>
          </a:p>
          <a:p>
            <a:pPr>
              <a:spcAft>
                <a:spcPts val="1200"/>
              </a:spcAft>
              <a:defRPr sz="1700">
                <a:solidFill>
                  <a:srgbClr val="140C12"/>
                </a:solidFill>
                <a:latin typeface="Aptos"/>
              </a:defRPr>
            </a:pPr>
            <a:r>
              <a:t>•  Core feature 1: Multilingual intake with photo, in-app camera and GPS; language, department, urgency, entities and evidence spans from one local model call; nothing leaves the server.</a:t>
            </a:r>
          </a:p>
          <a:p>
            <a:pPr>
              <a:spcAft>
                <a:spcPts val="1200"/>
              </a:spcAft>
              <a:defRPr sz="1700">
                <a:solidFill>
                  <a:srgbClr val="140C12"/>
                </a:solidFill>
                <a:latin typeface="Aptos"/>
              </a:defRPr>
            </a:pPr>
            <a:r>
              <a:t>•  Core feature 2: Rules that override the model, district-office routing with SLA due times, duplicate detection with pgvector, PII masking, and a human review queue for uncertain or Critical cases.</a:t>
            </a:r>
          </a:p>
          <a:p>
            <a:pPr>
              <a:spcAft>
                <a:spcPts val="1200"/>
              </a:spcAft>
              <a:defRPr sz="1700">
                <a:solidFill>
                  <a:srgbClr val="140C12"/>
                </a:solidFill>
                <a:latin typeface="Aptos"/>
              </a:defRPr>
            </a:pPr>
            <a:r>
              <a:t>•  Core feature 3: Officer console to accept, reassign, merge or request info with a mandatory reason; tracking page and email updates in the citizen's language; live accuracy per language.</a:t>
            </a:r>
          </a:p>
          <a:p>
            <a:pPr>
              <a:spcAft>
                <a:spcPts val="1200"/>
              </a:spcAft>
              <a:defRPr sz="1700">
                <a:solidFill>
                  <a:srgbClr val="140C12"/>
                </a:solidFill>
                <a:latin typeface="Aptos"/>
              </a:defRPr>
            </a:pPr>
            <a:r>
              <a:t>•  What is different: all inference local (privacy, zero per-request cost); explainable by construction (evidence, rules, second opinion); never auto-closes; fairness measured, not assumed.</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SOLUTION WORKFLOW</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05</a:t>
            </a:r>
          </a:p>
        </p:txBody>
      </p:sp>
      <p:sp>
        <p:nvSpPr>
          <p:cNvPr id="7" name="TextBox 6"/>
          <p:cNvSpPr txBox="1"/>
          <p:nvPr/>
        </p:nvSpPr>
        <p:spPr>
          <a:xfrm>
            <a:off x="731520" y="1353312"/>
            <a:ext cx="10789920" cy="411480"/>
          </a:xfrm>
          <a:prstGeom prst="rect">
            <a:avLst/>
          </a:prstGeom>
          <a:noFill/>
        </p:spPr>
        <p:txBody>
          <a:bodyPr wrap="square" lIns="54864" tIns="54864" rIns="54864" bIns="54864" anchor="t">
            <a:spAutoFit/>
          </a:bodyPr>
          <a:lstStyle/>
          <a:p>
            <a:pPr algn="l">
              <a:defRPr sz="1400" b="0" i="0">
                <a:solidFill>
                  <a:srgbClr val="5A5555"/>
                </a:solidFill>
                <a:latin typeface="Aptos"/>
              </a:defRPr>
            </a:pPr>
            <a:r>
              <a:t>Citizen text, photo and GPS go in; a local model, rules and a second opinion decide; the right district office or a human reviewer gets it; the citizen is emailed at every step.</a:t>
            </a:r>
          </a:p>
        </p:txBody>
      </p:sp>
      <p:sp>
        <p:nvSpPr>
          <p:cNvPr id="8" name="Rounded Rectangle 7"/>
          <p:cNvSpPr/>
          <p:nvPr/>
        </p:nvSpPr>
        <p:spPr>
          <a:xfrm>
            <a:off x="594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CITIZEN INPUT</a:t>
            </a:r>
          </a:p>
          <a:p>
            <a:pPr algn="ctr">
              <a:defRPr sz="1300" b="1" i="0">
                <a:solidFill>
                  <a:srgbClr val="140C12"/>
                </a:solidFill>
                <a:latin typeface="Aptos"/>
              </a:defRPr>
            </a:pPr>
            <a:r>
              <a:t>text, photo, GPS</a:t>
            </a:r>
          </a:p>
          <a:p>
            <a:pPr algn="ctr">
              <a:defRPr sz="1300" b="1" i="0">
                <a:solidFill>
                  <a:srgbClr val="140C12"/>
                </a:solidFill>
                <a:latin typeface="Aptos"/>
              </a:defRPr>
            </a:pPr>
            <a:r>
              <a:t>any language</a:t>
            </a:r>
          </a:p>
        </p:txBody>
      </p:sp>
      <p:sp>
        <p:nvSpPr>
          <p:cNvPr id="10" name="Rounded Rectangle 9"/>
          <p:cNvSpPr/>
          <p:nvPr/>
        </p:nvSpPr>
        <p:spPr>
          <a:xfrm>
            <a:off x="2880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53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LOCAL AI</a:t>
            </a:r>
          </a:p>
          <a:p>
            <a:pPr algn="ctr">
              <a:defRPr sz="1300" b="1" i="0">
                <a:solidFill>
                  <a:srgbClr val="140C12"/>
                </a:solidFill>
                <a:latin typeface="Aptos"/>
              </a:defRPr>
            </a:pPr>
            <a:r>
              <a:t>Gemma 3 + rules</a:t>
            </a:r>
          </a:p>
          <a:p>
            <a:pPr algn="ctr">
              <a:defRPr sz="1300" b="1" i="0">
                <a:solidFill>
                  <a:srgbClr val="140C12"/>
                </a:solidFill>
                <a:latin typeface="Aptos"/>
              </a:defRPr>
            </a:pPr>
            <a:r>
              <a:t>second opinion</a:t>
            </a:r>
          </a:p>
        </p:txBody>
      </p:sp>
      <p:sp>
        <p:nvSpPr>
          <p:cNvPr id="12" name="Rounded Rectangle 11"/>
          <p:cNvSpPr/>
          <p:nvPr/>
        </p:nvSpPr>
        <p:spPr>
          <a:xfrm>
            <a:off x="5166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239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FASTAPI WORKER</a:t>
            </a:r>
          </a:p>
          <a:p>
            <a:pPr algn="ctr">
              <a:defRPr sz="1300" b="1" i="0">
                <a:solidFill>
                  <a:srgbClr val="140C12"/>
                </a:solidFill>
                <a:latin typeface="Aptos"/>
              </a:defRPr>
            </a:pPr>
            <a:r>
              <a:t>PII mask, geocode</a:t>
            </a:r>
          </a:p>
          <a:p>
            <a:pPr algn="ctr">
              <a:defRPr sz="1300" b="1" i="0">
                <a:solidFill>
                  <a:srgbClr val="140C12"/>
                </a:solidFill>
                <a:latin typeface="Aptos"/>
              </a:defRPr>
            </a:pPr>
            <a:r>
              <a:t>office + SLA</a:t>
            </a:r>
          </a:p>
        </p:txBody>
      </p:sp>
      <p:sp>
        <p:nvSpPr>
          <p:cNvPr id="14" name="Rounded Rectangle 13"/>
          <p:cNvSpPr/>
          <p:nvPr/>
        </p:nvSpPr>
        <p:spPr>
          <a:xfrm>
            <a:off x="7452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25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POSTGRESQL</a:t>
            </a:r>
          </a:p>
          <a:p>
            <a:pPr algn="ctr">
              <a:defRPr sz="1300" b="1" i="0">
                <a:solidFill>
                  <a:srgbClr val="140C12"/>
                </a:solidFill>
                <a:latin typeface="Aptos"/>
              </a:defRPr>
            </a:pPr>
            <a:r>
              <a:t>+ pgvector</a:t>
            </a:r>
          </a:p>
          <a:p>
            <a:pPr algn="ctr">
              <a:defRPr sz="1300" b="1" i="0">
                <a:solidFill>
                  <a:srgbClr val="140C12"/>
                </a:solidFill>
                <a:latin typeface="Aptos"/>
              </a:defRPr>
            </a:pPr>
            <a:r>
              <a:t>full audit trail</a:t>
            </a:r>
          </a:p>
        </p:txBody>
      </p:sp>
      <p:sp>
        <p:nvSpPr>
          <p:cNvPr id="16" name="Rounded Rectangle 15"/>
          <p:cNvSpPr/>
          <p:nvPr/>
        </p:nvSpPr>
        <p:spPr>
          <a:xfrm>
            <a:off x="9738360" y="2423160"/>
            <a:ext cx="1783080" cy="105156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811512" y="2679192"/>
            <a:ext cx="1636776" cy="502920"/>
          </a:xfrm>
          <a:prstGeom prst="rect">
            <a:avLst/>
          </a:prstGeom>
          <a:noFill/>
        </p:spPr>
        <p:txBody>
          <a:bodyPr wrap="none" lIns="54864" tIns="54864" rIns="54864" bIns="54864" anchor="ctr">
            <a:spAutoFit/>
          </a:bodyPr>
          <a:lstStyle/>
          <a:p>
            <a:pPr algn="ctr">
              <a:defRPr sz="1300" b="1" i="0">
                <a:solidFill>
                  <a:srgbClr val="140C12"/>
                </a:solidFill>
                <a:latin typeface="Aptos"/>
              </a:defRPr>
            </a:pPr>
            <a:r>
              <a:t>ROUTE &amp; NOTIFY</a:t>
            </a:r>
          </a:p>
          <a:p>
            <a:pPr algn="ctr">
              <a:defRPr sz="1300" b="1" i="0">
                <a:solidFill>
                  <a:srgbClr val="140C12"/>
                </a:solidFill>
                <a:latin typeface="Aptos"/>
              </a:defRPr>
            </a:pPr>
            <a:r>
              <a:t>office or review</a:t>
            </a:r>
          </a:p>
          <a:p>
            <a:pPr algn="ctr">
              <a:defRPr sz="1300" b="1" i="0">
                <a:solidFill>
                  <a:srgbClr val="140C12"/>
                </a:solidFill>
                <a:latin typeface="Aptos"/>
              </a:defRPr>
            </a:pPr>
            <a:r>
              <a:t>email updates</a:t>
            </a:r>
          </a:p>
        </p:txBody>
      </p:sp>
      <p:sp>
        <p:nvSpPr>
          <p:cNvPr id="18" name="TextBox 17"/>
          <p:cNvSpPr txBox="1"/>
          <p:nvPr/>
        </p:nvSpPr>
        <p:spPr>
          <a:xfrm>
            <a:off x="2404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19" name="TextBox 18"/>
          <p:cNvSpPr txBox="1"/>
          <p:nvPr/>
        </p:nvSpPr>
        <p:spPr>
          <a:xfrm>
            <a:off x="4690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20" name="TextBox 19"/>
          <p:cNvSpPr txBox="1"/>
          <p:nvPr/>
        </p:nvSpPr>
        <p:spPr>
          <a:xfrm>
            <a:off x="6976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21" name="TextBox 20"/>
          <p:cNvSpPr txBox="1"/>
          <p:nvPr/>
        </p:nvSpPr>
        <p:spPr>
          <a:xfrm>
            <a:off x="9262872" y="2706624"/>
            <a:ext cx="438912" cy="36576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22" name="TextBox 21"/>
          <p:cNvSpPr txBox="1"/>
          <p:nvPr/>
        </p:nvSpPr>
        <p:spPr>
          <a:xfrm>
            <a:off x="731520" y="4251960"/>
            <a:ext cx="10789920" cy="548640"/>
          </a:xfrm>
          <a:prstGeom prst="rect">
            <a:avLst/>
          </a:prstGeom>
          <a:noFill/>
        </p:spPr>
        <p:txBody>
          <a:bodyPr wrap="square" lIns="54864" tIns="54864" rIns="54864" bIns="54864" anchor="t">
            <a:spAutoFit/>
          </a:bodyPr>
          <a:lstStyle/>
          <a:p>
            <a:pPr algn="l">
              <a:defRPr sz="1700" b="0" i="0">
                <a:solidFill>
                  <a:srgbClr val="140C12"/>
                </a:solidFill>
                <a:latin typeface="Aptos"/>
              </a:defRPr>
            </a:pPr>
            <a:r>
              <a:t>Key decisions / security: argon2 passwords, email OTP, JWT; PII masked before the model; rules override the model; Critical, low-confidence, disagreement and duplicate cases always reach a human.</a:t>
            </a:r>
          </a:p>
        </p:txBody>
      </p:sp>
      <p:sp>
        <p:nvSpPr>
          <p:cNvPr id="23" name="TextBox 22"/>
          <p:cNvSpPr txBox="1"/>
          <p:nvPr/>
        </p:nvSpPr>
        <p:spPr>
          <a:xfrm>
            <a:off x="731520" y="5074920"/>
            <a:ext cx="10789920" cy="411480"/>
          </a:xfrm>
          <a:prstGeom prst="rect">
            <a:avLst/>
          </a:prstGeom>
          <a:noFill/>
        </p:spPr>
        <p:txBody>
          <a:bodyPr wrap="square" lIns="54864" tIns="54864" rIns="54864" bIns="54864" anchor="t">
            <a:spAutoFit/>
          </a:bodyPr>
          <a:lstStyle/>
          <a:p>
            <a:pPr algn="l">
              <a:defRPr sz="1200" b="0" i="1">
                <a:solidFill>
                  <a:srgbClr val="5A5555"/>
                </a:solidFill>
                <a:latin typeface="Aptos"/>
              </a:defRPr>
            </a:pPr>
            <a:r>
              <a:t>A model timeout never drops a complaint: it enters the review queue as 'awaiting analysis'. Officer corrections become ground truth for per-language accuracy. Nothing is auto-closed.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SYSTEM ARCHITECTURE</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06</a:t>
            </a:r>
          </a:p>
        </p:txBody>
      </p:sp>
      <p:sp>
        <p:nvSpPr>
          <p:cNvPr id="7" name="TextBox 6"/>
          <p:cNvSpPr txBox="1"/>
          <p:nvPr/>
        </p:nvSpPr>
        <p:spPr>
          <a:xfrm>
            <a:off x="731520" y="1353312"/>
            <a:ext cx="10789920" cy="365760"/>
          </a:xfrm>
          <a:prstGeom prst="rect">
            <a:avLst/>
          </a:prstGeom>
          <a:noFill/>
        </p:spPr>
        <p:txBody>
          <a:bodyPr wrap="square" lIns="54864" tIns="54864" rIns="54864" bIns="54864" anchor="t">
            <a:spAutoFit/>
          </a:bodyPr>
          <a:lstStyle/>
          <a:p>
            <a:pPr algn="l">
              <a:defRPr sz="1400" b="0" i="0">
                <a:solidFill>
                  <a:srgbClr val="5A5555"/>
                </a:solidFill>
                <a:latin typeface="Aptos"/>
              </a:defRPr>
            </a:pPr>
            <a:r>
              <a:t>All four blocks run on one laptop; the only model runtime is Ollama. No external AI service.</a:t>
            </a:r>
          </a:p>
        </p:txBody>
      </p:sp>
      <p:sp>
        <p:nvSpPr>
          <p:cNvPr id="8" name="Rounded Rectangle 7"/>
          <p:cNvSpPr/>
          <p:nvPr/>
        </p:nvSpPr>
        <p:spPr>
          <a:xfrm>
            <a:off x="731520" y="2057400"/>
            <a:ext cx="20574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221992"/>
            <a:ext cx="191109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FRONTEND</a:t>
            </a:r>
          </a:p>
          <a:p>
            <a:pPr algn="ctr">
              <a:defRPr sz="1300" b="1" i="0">
                <a:solidFill>
                  <a:srgbClr val="140C12"/>
                </a:solidFill>
                <a:latin typeface="Aptos"/>
              </a:defRPr>
            </a:pPr>
            <a:r>
              <a:t>React + shadcn/ui</a:t>
            </a:r>
          </a:p>
          <a:p>
            <a:pPr algn="ctr">
              <a:defRPr sz="1300" b="1" i="0">
                <a:solidFill>
                  <a:srgbClr val="140C12"/>
                </a:solidFill>
                <a:latin typeface="Aptos"/>
              </a:defRPr>
            </a:pPr>
            <a:r>
              <a:t>Vindex: en, ta, hi</a:t>
            </a:r>
          </a:p>
        </p:txBody>
      </p:sp>
      <p:sp>
        <p:nvSpPr>
          <p:cNvPr id="10" name="Rounded Rectangle 9"/>
          <p:cNvSpPr/>
          <p:nvPr/>
        </p:nvSpPr>
        <p:spPr>
          <a:xfrm>
            <a:off x="3337560" y="2057400"/>
            <a:ext cx="20574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0712" y="2221992"/>
            <a:ext cx="191109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BACKEND / API</a:t>
            </a:r>
          </a:p>
          <a:p>
            <a:pPr algn="ctr">
              <a:defRPr sz="1300" b="1" i="0">
                <a:solidFill>
                  <a:srgbClr val="140C12"/>
                </a:solidFill>
                <a:latin typeface="Aptos"/>
              </a:defRPr>
            </a:pPr>
            <a:r>
              <a:t>FastAPI + worker</a:t>
            </a:r>
          </a:p>
          <a:p>
            <a:pPr algn="ctr">
              <a:defRPr sz="1300" b="1" i="0">
                <a:solidFill>
                  <a:srgbClr val="140C12"/>
                </a:solidFill>
                <a:latin typeface="Aptos"/>
              </a:defRPr>
            </a:pPr>
            <a:r>
              <a:t>rules, notifier</a:t>
            </a:r>
          </a:p>
        </p:txBody>
      </p:sp>
      <p:sp>
        <p:nvSpPr>
          <p:cNvPr id="12" name="Rounded Rectangle 11"/>
          <p:cNvSpPr/>
          <p:nvPr/>
        </p:nvSpPr>
        <p:spPr>
          <a:xfrm>
            <a:off x="5943600" y="2057400"/>
            <a:ext cx="20574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016752" y="2221992"/>
            <a:ext cx="191109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DATABASE</a:t>
            </a:r>
          </a:p>
          <a:p>
            <a:pPr algn="ctr">
              <a:defRPr sz="1300" b="1" i="0">
                <a:solidFill>
                  <a:srgbClr val="140C12"/>
                </a:solidFill>
                <a:latin typeface="Aptos"/>
              </a:defRPr>
            </a:pPr>
            <a:r>
              <a:t>PostgreSQL 17</a:t>
            </a:r>
          </a:p>
          <a:p>
            <a:pPr algn="ctr">
              <a:defRPr sz="1300" b="1" i="0">
                <a:solidFill>
                  <a:srgbClr val="140C12"/>
                </a:solidFill>
                <a:latin typeface="Aptos"/>
              </a:defRPr>
            </a:pPr>
            <a:r>
              <a:t>+ pgvector</a:t>
            </a:r>
          </a:p>
        </p:txBody>
      </p:sp>
      <p:sp>
        <p:nvSpPr>
          <p:cNvPr id="14" name="Rounded Rectangle 13"/>
          <p:cNvSpPr/>
          <p:nvPr/>
        </p:nvSpPr>
        <p:spPr>
          <a:xfrm>
            <a:off x="8549640" y="2057400"/>
            <a:ext cx="256032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22792" y="2221992"/>
            <a:ext cx="2414015" cy="685800"/>
          </a:xfrm>
          <a:prstGeom prst="rect">
            <a:avLst/>
          </a:prstGeom>
          <a:noFill/>
        </p:spPr>
        <p:txBody>
          <a:bodyPr wrap="none" lIns="54864" tIns="54864" rIns="54864" bIns="54864" anchor="ctr">
            <a:spAutoFit/>
          </a:bodyPr>
          <a:lstStyle/>
          <a:p>
            <a:pPr algn="ctr">
              <a:defRPr sz="1300" b="1" i="0">
                <a:solidFill>
                  <a:srgbClr val="140C12"/>
                </a:solidFill>
                <a:latin typeface="Aptos"/>
              </a:defRPr>
            </a:pPr>
            <a:r>
              <a:t>LOCAL AI, NO CLOUD</a:t>
            </a:r>
          </a:p>
          <a:p>
            <a:pPr algn="ctr">
              <a:defRPr sz="1300" b="1" i="0">
                <a:solidFill>
                  <a:srgbClr val="140C12"/>
                </a:solidFill>
                <a:latin typeface="Aptos"/>
              </a:defRPr>
            </a:pPr>
            <a:r>
              <a:t>Ollama: Gemma 3 4B</a:t>
            </a:r>
          </a:p>
          <a:p>
            <a:pPr algn="ctr">
              <a:defRPr sz="1300" b="1" i="0">
                <a:solidFill>
                  <a:srgbClr val="140C12"/>
                </a:solidFill>
                <a:latin typeface="Aptos"/>
              </a:defRPr>
            </a:pPr>
            <a:r>
              <a:t>bge-m3 + NumPy classifier</a:t>
            </a:r>
          </a:p>
        </p:txBody>
      </p:sp>
      <p:sp>
        <p:nvSpPr>
          <p:cNvPr id="16" name="TextBox 15"/>
          <p:cNvSpPr txBox="1"/>
          <p:nvPr/>
        </p:nvSpPr>
        <p:spPr>
          <a:xfrm>
            <a:off x="2852928" y="2331720"/>
            <a:ext cx="384048" cy="365760"/>
          </a:xfrm>
          <a:prstGeom prst="rect">
            <a:avLst/>
          </a:prstGeom>
          <a:noFill/>
        </p:spPr>
        <p:txBody>
          <a:bodyPr wrap="none" lIns="54864" tIns="54864" rIns="54864" bIns="54864" anchor="t">
            <a:spAutoFit/>
          </a:bodyPr>
          <a:lstStyle/>
          <a:p>
            <a:pPr algn="ctr">
              <a:defRPr sz="2200" b="1" i="0">
                <a:solidFill>
                  <a:srgbClr val="E0262D"/>
                </a:solidFill>
                <a:latin typeface="Aptos"/>
              </a:defRPr>
            </a:pPr>
            <a:r>
              <a:t>↔</a:t>
            </a:r>
          </a:p>
        </p:txBody>
      </p:sp>
      <p:sp>
        <p:nvSpPr>
          <p:cNvPr id="17" name="TextBox 16"/>
          <p:cNvSpPr txBox="1"/>
          <p:nvPr/>
        </p:nvSpPr>
        <p:spPr>
          <a:xfrm>
            <a:off x="5458968" y="2331720"/>
            <a:ext cx="384048" cy="365760"/>
          </a:xfrm>
          <a:prstGeom prst="rect">
            <a:avLst/>
          </a:prstGeom>
          <a:noFill/>
        </p:spPr>
        <p:txBody>
          <a:bodyPr wrap="none" lIns="54864" tIns="54864" rIns="54864" bIns="54864" anchor="t">
            <a:spAutoFit/>
          </a:bodyPr>
          <a:lstStyle/>
          <a:p>
            <a:pPr algn="ctr">
              <a:defRPr sz="2200" b="1" i="0">
                <a:solidFill>
                  <a:srgbClr val="E0262D"/>
                </a:solidFill>
                <a:latin typeface="Aptos"/>
              </a:defRPr>
            </a:pPr>
            <a:r>
              <a:t>↔</a:t>
            </a:r>
          </a:p>
        </p:txBody>
      </p:sp>
      <p:sp>
        <p:nvSpPr>
          <p:cNvPr id="18" name="TextBox 17"/>
          <p:cNvSpPr txBox="1"/>
          <p:nvPr/>
        </p:nvSpPr>
        <p:spPr>
          <a:xfrm>
            <a:off x="8065008" y="2331720"/>
            <a:ext cx="384048" cy="365760"/>
          </a:xfrm>
          <a:prstGeom prst="rect">
            <a:avLst/>
          </a:prstGeom>
          <a:noFill/>
        </p:spPr>
        <p:txBody>
          <a:bodyPr wrap="none" lIns="54864" tIns="54864" rIns="54864" bIns="54864" anchor="t">
            <a:spAutoFit/>
          </a:bodyPr>
          <a:lstStyle/>
          <a:p>
            <a:pPr algn="ctr">
              <a:defRPr sz="2200" b="1" i="0">
                <a:solidFill>
                  <a:srgbClr val="E0262D"/>
                </a:solidFill>
                <a:latin typeface="Aptos"/>
              </a:defRPr>
            </a:pPr>
            <a:r>
              <a:t>↔</a:t>
            </a:r>
          </a:p>
        </p:txBody>
      </p:sp>
      <p:sp>
        <p:nvSpPr>
          <p:cNvPr id="19" name="TextBox 18"/>
          <p:cNvSpPr txBox="1"/>
          <p:nvPr/>
        </p:nvSpPr>
        <p:spPr>
          <a:xfrm>
            <a:off x="731520" y="3703320"/>
            <a:ext cx="10698480" cy="731520"/>
          </a:xfrm>
          <a:prstGeom prst="rect">
            <a:avLst/>
          </a:prstGeom>
          <a:noFill/>
        </p:spPr>
        <p:txBody>
          <a:bodyPr wrap="square" lIns="54864" tIns="54864" rIns="54864" bIns="54864" anchor="t">
            <a:spAutoFit/>
          </a:bodyPr>
          <a:lstStyle/>
          <a:p>
            <a:pPr algn="l">
              <a:defRPr sz="1700" b="0" i="0">
                <a:solidFill>
                  <a:srgbClr val="140C12"/>
                </a:solidFill>
                <a:latin typeface="Aptos"/>
              </a:defRPr>
            </a:pPr>
            <a:r>
              <a:t>Frontend calls the FastAPI API with JWT. Intake stores raw text, media and location, emails an acknowledgement and queues the job. One worker runs the language hint, PII mask, geocode, Gemma 3 (text + photo), bge-m3 embedding, pgvector duplicate search, second opinion, rules and the decision, then writes analysis, decision and status event and emails the citizen.</a:t>
            </a:r>
          </a:p>
        </p:txBody>
      </p:sp>
      <p:sp>
        <p:nvSpPr>
          <p:cNvPr id="20" name="TextBox 19"/>
          <p:cNvSpPr txBox="1"/>
          <p:nvPr/>
        </p:nvSpPr>
        <p:spPr>
          <a:xfrm>
            <a:off x="731520" y="4800600"/>
            <a:ext cx="10698480" cy="365760"/>
          </a:xfrm>
          <a:prstGeom prst="rect">
            <a:avLst/>
          </a:prstGeom>
          <a:noFill/>
        </p:spPr>
        <p:txBody>
          <a:bodyPr wrap="square" lIns="54864" tIns="54864" rIns="54864" bIns="54864" anchor="t">
            <a:spAutoFit/>
          </a:bodyPr>
          <a:lstStyle/>
          <a:p>
            <a:pPr algn="l">
              <a:defRPr sz="1200" b="0" i="1">
                <a:solidFill>
                  <a:srgbClr val="5A5555"/>
                </a:solidFill>
                <a:latin typeface="Aptos"/>
              </a:defRPr>
            </a:pPr>
            <a:r>
              <a:t>Failure handling: an Ollama timeout or error sends the complaint to the review queue as 'awaiting analysis'; email failures are logged and never block a request. Full Mermaid diagrams in docs/03-system-architecture.md.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DATABASE ARCHITECTURE / DATA MODEL</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07</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600">
                <a:solidFill>
                  <a:srgbClr val="140C12"/>
                </a:solidFill>
                <a:latin typeface="Aptos"/>
              </a:defRPr>
            </a:pPr>
            <a:r>
              <a:t>•  Database / storage type: PostgreSQL 17 with the pgvector extension (Docker Compose); media files on disk; routing rules, taxonomy and the Tamil Nadu office mapping in versioned YAML/JSON.</a:t>
            </a:r>
          </a:p>
          <a:p>
            <a:pPr>
              <a:spcAft>
                <a:spcPts val="1200"/>
              </a:spcAft>
              <a:defRPr sz="1600">
                <a:solidFill>
                  <a:srgbClr val="140C12"/>
                </a:solidFill>
                <a:latin typeface="Aptos"/>
              </a:defRPr>
            </a:pPr>
            <a:r>
              <a:t>•  Main tables: users, otps, departments, complaints, media, analyses (JSONB evidence, entities, PII map, vector(1024) embedding), decisions, overrides, status_events, notifications, rule_changes.</a:t>
            </a:r>
          </a:p>
          <a:p>
            <a:pPr>
              <a:spcAft>
                <a:spcPts val="1200"/>
              </a:spcAft>
              <a:defRPr sz="1600">
                <a:solidFill>
                  <a:srgbClr val="140C12"/>
                </a:solidFill>
                <a:latin typeface="Aptos"/>
              </a:defRPr>
            </a:pPr>
            <a:r>
              <a:t>•  Keys: UUID primary keys everywhere; a human tracking ID (SYN-2026-000123) unique on complaints; department ids (water, roads ...) shared with the model's output schema.</a:t>
            </a:r>
          </a:p>
          <a:p>
            <a:pPr>
              <a:spcAft>
                <a:spcPts val="1200"/>
              </a:spcAft>
              <a:defRPr sz="1600">
                <a:solidFill>
                  <a:srgbClr val="140C12"/>
                </a:solidFill>
                <a:latin typeface="Aptos"/>
              </a:defRPr>
            </a:pPr>
            <a:r>
              <a:t>•  Relationships: user 1-N complaints; complaint 1-N media, analyses, decisions, overrides, status events; duplicate_of self-reference, no chains; raw_text is never updated; every override needs a reason.</a:t>
            </a:r>
          </a:p>
          <a:p>
            <a:pPr>
              <a:spcAft>
                <a:spcPts val="1200"/>
              </a:spcAft>
              <a:defRPr sz="1600">
                <a:solidFill>
                  <a:srgbClr val="140C12"/>
                </a:solidFill>
                <a:latin typeface="Aptos"/>
              </a:defRPr>
            </a:pPr>
            <a:r>
              <a:t>•  Validation, duplicates, privacy: unique mobile and email; OTP hashed, expiring, attempt-limited; HNSW cosine index for duplicates; PII masked before the model and visible to officers only; closing is a human act.</a:t>
            </a:r>
          </a:p>
          <a:p>
            <a:pPr>
              <a:spcAft>
                <a:spcPts val="1200"/>
              </a:spcAft>
              <a:defRPr sz="1600">
                <a:solidFill>
                  <a:srgbClr val="140C12"/>
                </a:solidFill>
                <a:latin typeface="Aptos"/>
              </a:defRPr>
            </a:pPr>
            <a:r>
              <a:t>•  ER diagram (12 tables) and the 9-state complaint state machine: docs/04-database-and-ui.md (Mermaid, renders on GitHub).</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UI/UX DESIGN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08</a:t>
            </a:r>
          </a:p>
        </p:txBody>
      </p:sp>
      <p:sp>
        <p:nvSpPr>
          <p:cNvPr id="7" name="TextBox 6"/>
          <p:cNvSpPr txBox="1"/>
          <p:nvPr/>
        </p:nvSpPr>
        <p:spPr>
          <a:xfrm>
            <a:off x="731520" y="1371600"/>
            <a:ext cx="10789920" cy="365760"/>
          </a:xfrm>
          <a:prstGeom prst="rect">
            <a:avLst/>
          </a:prstGeom>
          <a:noFill/>
        </p:spPr>
        <p:txBody>
          <a:bodyPr wrap="square" lIns="54864" tIns="54864" rIns="54864" bIns="54864" anchor="t">
            <a:spAutoFit/>
          </a:bodyPr>
          <a:lstStyle/>
          <a:p>
            <a:pPr algn="l">
              <a:defRPr sz="1500" b="0" i="0">
                <a:solidFill>
                  <a:srgbClr val="5A5555"/>
                </a:solidFill>
                <a:latin typeface="Aptos"/>
              </a:defRPr>
            </a:pPr>
            <a:r>
              <a:t>Three screens of the citizen and officer journey, phone-first, in English, Tamil and Hindi.</a:t>
            </a:r>
          </a:p>
        </p:txBody>
      </p:sp>
      <p:sp>
        <p:nvSpPr>
          <p:cNvPr id="9" name="TextBox 8"/>
          <p:cNvSpPr txBox="1"/>
          <p:nvPr/>
        </p:nvSpPr>
        <p:spPr>
          <a:xfrm>
            <a:off x="822960" y="4507992"/>
            <a:ext cx="3154679" cy="548640"/>
          </a:xfrm>
          <a:prstGeom prst="rect">
            <a:avLst/>
          </a:prstGeom>
          <a:noFill/>
        </p:spPr>
        <p:txBody>
          <a:bodyPr wrap="none" lIns="54864" tIns="54864" rIns="54864" bIns="54864" anchor="ctr">
            <a:spAutoFit/>
          </a:bodyPr>
          <a:lstStyle/>
          <a:p>
            <a:pPr algn="ctr">
              <a:defRPr sz="1400" b="1" i="0">
                <a:solidFill>
                  <a:srgbClr val="5A5555"/>
                </a:solidFill>
                <a:latin typeface="Aptos"/>
              </a:defRPr>
            </a:pPr>
            <a:r>
              <a:rPr/>
              <a:t>SCREEN 1</a:t>
            </a:r>
          </a:p>
          <a:p>
            <a:pPr algn="ctr">
              <a:defRPr sz="1400" b="1" i="0">
                <a:solidFill>
                  <a:srgbClr val="5A5555"/>
                </a:solidFill>
                <a:latin typeface="Aptos"/>
              </a:defRPr>
            </a:pPr>
            <a:r>
              <a:rPr/>
              <a:t>New complaint: text, camera, GPS</a:t>
            </a:r>
          </a:p>
        </p:txBody>
      </p:sp>
      <p:sp>
        <p:nvSpPr>
          <p:cNvPr id="11" name="TextBox 10"/>
          <p:cNvSpPr txBox="1"/>
          <p:nvPr/>
        </p:nvSpPr>
        <p:spPr>
          <a:xfrm>
            <a:off x="4526279" y="4507992"/>
            <a:ext cx="3154679" cy="548640"/>
          </a:xfrm>
          <a:prstGeom prst="rect">
            <a:avLst/>
          </a:prstGeom>
          <a:noFill/>
        </p:spPr>
        <p:txBody>
          <a:bodyPr wrap="none" lIns="54864" tIns="54864" rIns="54864" bIns="54864" anchor="ctr">
            <a:spAutoFit/>
          </a:bodyPr>
          <a:lstStyle/>
          <a:p>
            <a:pPr algn="ctr">
              <a:defRPr sz="1400" b="1" i="0">
                <a:solidFill>
                  <a:srgbClr val="5A5555"/>
                </a:solidFill>
                <a:latin typeface="Aptos"/>
              </a:defRPr>
            </a:pPr>
            <a:r>
              <a:rPr/>
              <a:t>SCREEN 2</a:t>
            </a:r>
          </a:p>
          <a:p>
            <a:pPr algn="ctr">
              <a:defRPr sz="1400" b="1" i="0">
                <a:solidFill>
                  <a:srgbClr val="5A5555"/>
                </a:solidFill>
                <a:latin typeface="Aptos"/>
              </a:defRPr>
            </a:pPr>
            <a:r>
              <a:rPr/>
              <a:t>Tracking: urgency, evidence, timeline</a:t>
            </a:r>
          </a:p>
        </p:txBody>
      </p:sp>
      <p:sp>
        <p:nvSpPr>
          <p:cNvPr id="13" name="TextBox 12"/>
          <p:cNvSpPr txBox="1"/>
          <p:nvPr/>
        </p:nvSpPr>
        <p:spPr>
          <a:xfrm>
            <a:off x="8229600" y="4507992"/>
            <a:ext cx="3154679" cy="548640"/>
          </a:xfrm>
          <a:prstGeom prst="rect">
            <a:avLst/>
          </a:prstGeom>
          <a:noFill/>
        </p:spPr>
        <p:txBody>
          <a:bodyPr wrap="none" lIns="54864" tIns="54864" rIns="54864" bIns="54864" anchor="ctr">
            <a:spAutoFit/>
          </a:bodyPr>
          <a:lstStyle/>
          <a:p>
            <a:pPr algn="ctr">
              <a:defRPr sz="1400" b="1" i="0">
                <a:solidFill>
                  <a:srgbClr val="5A5555"/>
                </a:solidFill>
                <a:latin typeface="Aptos"/>
              </a:defRPr>
            </a:pPr>
            <a:r>
              <a:rPr/>
              <a:t>SCREEN 3</a:t>
            </a:r>
          </a:p>
          <a:p>
            <a:pPr algn="ctr">
              <a:defRPr sz="1400" b="1" i="0">
                <a:solidFill>
                  <a:srgbClr val="5A5555"/>
                </a:solidFill>
                <a:latin typeface="Aptos"/>
              </a:defRPr>
            </a:pPr>
            <a:r>
              <a:rPr/>
              <a:t>Officer review queue with flags</a:t>
            </a:r>
          </a:p>
        </p:txBody>
      </p:sp>
      <p:sp>
        <p:nvSpPr>
          <p:cNvPr id="14" name="TextBox 13"/>
          <p:cNvSpPr txBox="1"/>
          <p:nvPr/>
        </p:nvSpPr>
        <p:spPr>
          <a:xfrm>
            <a:off x="731520" y="5257800"/>
            <a:ext cx="10789920" cy="502920"/>
          </a:xfrm>
          <a:prstGeom prst="rect">
            <a:avLst/>
          </a:prstGeom>
          <a:noFill/>
        </p:spPr>
        <p:txBody>
          <a:bodyPr wrap="square" lIns="54864" tIns="54864" rIns="54864" bIns="54864" anchor="t">
            <a:spAutoFit/>
          </a:bodyPr>
          <a:lstStyle/>
          <a:p>
            <a:pPr algn="l">
              <a:defRPr sz="1700" b="0" i="0">
                <a:solidFill>
                  <a:srgbClr val="140C12"/>
                </a:solidFill>
                <a:latin typeface="Aptos"/>
              </a:defRPr>
            </a:pPr>
            <a:r>
              <a:t>A citizen types in any language, adds a photo and location, and gets a tracking ID at once; the track page shows department, urgency, quoted evidence and the timeline; the officer queue sorts by urgency with flags for disagreement and duplicates.</a:t>
            </a:r>
          </a:p>
        </p:txBody>
      </p:sp>
      <p:pic>
        <p:nvPicPr>
          <p:cNvPr id="15" name="Picture 14" descr="shot_Rectangle_7.png"/>
          <p:cNvPicPr>
            <a:picLocks noChangeAspect="1"/>
          </p:cNvPicPr>
          <p:nvPr/>
        </p:nvPicPr>
        <p:blipFill>
          <a:blip r:embed="rId2"/>
          <a:stretch>
            <a:fillRect/>
          </a:stretch>
        </p:blipFill>
        <p:spPr>
          <a:xfrm>
            <a:off x="1418034" y="1920240"/>
            <a:ext cx="1964531" cy="2514600"/>
          </a:xfrm>
          <a:prstGeom prst="rect">
            <a:avLst/>
          </a:prstGeom>
          <a:ln w="9144">
            <a:solidFill>
              <a:srgbClr val="BFBFBF"/>
            </a:solidFill>
          </a:ln>
        </p:spPr>
      </p:pic>
      <p:pic>
        <p:nvPicPr>
          <p:cNvPr id="16" name="Picture 15" descr="shot_Rectangle_9.png"/>
          <p:cNvPicPr>
            <a:picLocks noChangeAspect="1"/>
          </p:cNvPicPr>
          <p:nvPr/>
        </p:nvPicPr>
        <p:blipFill>
          <a:blip r:embed="rId3"/>
          <a:stretch>
            <a:fillRect/>
          </a:stretch>
        </p:blipFill>
        <p:spPr>
          <a:xfrm>
            <a:off x="5121354" y="1920240"/>
            <a:ext cx="1964531" cy="2514600"/>
          </a:xfrm>
          <a:prstGeom prst="rect">
            <a:avLst/>
          </a:prstGeom>
          <a:ln w="9144">
            <a:solidFill>
              <a:srgbClr val="BFBFBF"/>
            </a:solidFill>
          </a:ln>
        </p:spPr>
      </p:pic>
      <p:pic>
        <p:nvPicPr>
          <p:cNvPr id="17" name="Picture 16" descr="shot_Rectangle_11.png"/>
          <p:cNvPicPr>
            <a:picLocks noChangeAspect="1"/>
          </p:cNvPicPr>
          <p:nvPr/>
        </p:nvPicPr>
        <p:blipFill>
          <a:blip r:embed="rId4"/>
          <a:stretch>
            <a:fillRect/>
          </a:stretch>
        </p:blipFill>
        <p:spPr>
          <a:xfrm>
            <a:off x="8824674" y="1920240"/>
            <a:ext cx="1964531" cy="2514600"/>
          </a:xfrm>
          <a:prstGeom prst="rect">
            <a:avLst/>
          </a:prstGeom>
          <a:ln w="9144">
            <a:solidFill>
              <a:srgbClr val="BFBFBF"/>
            </a:solid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TECHNOLOGY STACK</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09</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700">
                <a:solidFill>
                  <a:srgbClr val="140C12"/>
                </a:solidFill>
                <a:latin typeface="Aptos"/>
              </a:defRPr>
            </a:pPr>
            <a:r>
              <a:t>•  Frontend: React 18 + Vite, Tailwind v4, shadcn/ui, lucide icons, react-hook-form + zod, i18next (en/ta/hi), react-leaflet. Accessible components, phone-first, camera and GPS through browser APIs.</a:t>
            </a:r>
          </a:p>
          <a:p>
            <a:pPr>
              <a:spcAft>
                <a:spcPts val="1200"/>
              </a:spcAft>
              <a:defRPr sz="1700">
                <a:solidFill>
                  <a:srgbClr val="140C12"/>
                </a:solidFill>
                <a:latin typeface="Aptos"/>
              </a:defRPr>
            </a:pPr>
            <a:r>
              <a:t>•  Backend / APIs: Python 3.12, FastAPI + Uvicorn, SQLAlchemy 2, one in-process worker thread; same language as the pipeline; OpenAPI docs at /docs; argon2 + JWT + email OTP.</a:t>
            </a:r>
          </a:p>
          <a:p>
            <a:pPr>
              <a:spcAft>
                <a:spcPts val="1200"/>
              </a:spcAft>
              <a:defRPr sz="1700">
                <a:solidFill>
                  <a:srgbClr val="140C12"/>
                </a:solidFill>
                <a:latin typeface="Aptos"/>
              </a:defRPr>
            </a:pPr>
            <a:r>
              <a:t>•  Database / storage: PostgreSQL 17 + pgvector via Docker Compose (integrity, JSONB and the vector index in one place); media on disk; YAML config hot-reloaded.</a:t>
            </a:r>
          </a:p>
          <a:p>
            <a:pPr>
              <a:spcAft>
                <a:spcPts val="1200"/>
              </a:spcAft>
              <a:defRPr sz="1700">
                <a:solidFill>
                  <a:srgbClr val="140C12"/>
                </a:solidFill>
                <a:latin typeface="Aptos"/>
              </a:defRPr>
            </a:pPr>
            <a:r>
              <a:t>•  AI / ML: Ollama serving Gemma 3 4B (text + vision, 140+ languages) and bge-m3 embeddings; NumPy softmax second opinion trained on 460 locally generated complaints; YAML rules; script-based language hints. No cloud AI APIs.</a:t>
            </a:r>
          </a:p>
          <a:p>
            <a:pPr>
              <a:spcAft>
                <a:spcPts val="1200"/>
              </a:spcAft>
              <a:defRPr sz="1700">
                <a:solidFill>
                  <a:srgbClr val="140C12"/>
                </a:solidFill>
                <a:latin typeface="Aptos"/>
              </a:defRPr>
            </a:pPr>
            <a:r>
              <a:t>•  Deployment: one laptop (RTX 3050 4 GB) runs Ollama, Docker (Postgres + Mailpit), uvicorn and Vite; ~15-20 s per complaint. App Control blocks torch/scipy, so every model runs inside Ollama.</a:t>
            </a:r>
          </a:p>
          <a:p>
            <a:pPr>
              <a:spcAft>
                <a:spcPts val="1200"/>
              </a:spcAft>
              <a:defRPr sz="1700">
                <a:solidFill>
                  <a:srgbClr val="140C12"/>
                </a:solidFill>
                <a:latin typeface="Aptos"/>
              </a:defRPr>
            </a:pPr>
            <a:r>
              <a:t>•  External APIs / datasets / tools: none at runtime. Reference data: Tamil Nadu district-office mapping, NYC 311 sample, COMI-LINGUA, DravidianCodeMix; Mailpit for demo email, Gmail SMTP optional.</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CORE FEATURE DEMONSTRATION</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11</a:t>
            </a:r>
          </a:p>
        </p:txBody>
      </p:sp>
      <p:sp>
        <p:nvSpPr>
          <p:cNvPr id="7" name="TextBox 6"/>
          <p:cNvSpPr txBox="1"/>
          <p:nvPr/>
        </p:nvSpPr>
        <p:spPr>
          <a:xfrm>
            <a:off x="731520" y="1371600"/>
            <a:ext cx="10789920" cy="365760"/>
          </a:xfrm>
          <a:prstGeom prst="rect">
            <a:avLst/>
          </a:prstGeom>
          <a:noFill/>
        </p:spPr>
        <p:txBody>
          <a:bodyPr wrap="square" lIns="54864" tIns="54864" rIns="54864" bIns="54864" anchor="t">
            <a:spAutoFit/>
          </a:bodyPr>
          <a:lstStyle/>
          <a:p>
            <a:pPr algn="l">
              <a:defRPr sz="1500" b="0" i="0">
                <a:solidFill>
                  <a:srgbClr val="5A5555"/>
                </a:solidFill>
                <a:latin typeface="Aptos"/>
              </a:defRPr>
            </a:pPr>
            <a:r>
              <a:t>One real complaint from the test run, end to end.</a:t>
            </a:r>
          </a:p>
        </p:txBody>
      </p:sp>
      <p:sp>
        <p:nvSpPr>
          <p:cNvPr id="8" name="Rounded Rectangle 7"/>
          <p:cNvSpPr/>
          <p:nvPr/>
        </p:nvSpPr>
        <p:spPr>
          <a:xfrm>
            <a:off x="822960" y="2011680"/>
            <a:ext cx="22860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267712"/>
            <a:ext cx="2103120" cy="320040"/>
          </a:xfrm>
          <a:prstGeom prst="rect">
            <a:avLst/>
          </a:prstGeom>
          <a:noFill/>
        </p:spPr>
        <p:txBody>
          <a:bodyPr wrap="none" lIns="54864" tIns="54864" rIns="54864" bIns="54864" anchor="t">
            <a:spAutoFit/>
          </a:bodyPr>
          <a:lstStyle/>
          <a:p>
            <a:pPr algn="ctr">
              <a:defRPr sz="1600" b="1" i="0">
                <a:solidFill>
                  <a:srgbClr val="140C12"/>
                </a:solidFill>
                <a:latin typeface="Aptos"/>
              </a:defRPr>
            </a:pPr>
            <a:r>
              <a:t>INPUT</a:t>
            </a:r>
          </a:p>
          <a:p>
            <a:pPr algn="ctr">
              <a:defRPr sz="1600" b="1" i="0">
                <a:solidFill>
                  <a:srgbClr val="140C12"/>
                </a:solidFill>
                <a:latin typeface="Aptos"/>
              </a:defRPr>
            </a:pPr>
            <a:r>
              <a:t>Tanglish + GPS</a:t>
            </a:r>
          </a:p>
        </p:txBody>
      </p:sp>
      <p:sp>
        <p:nvSpPr>
          <p:cNvPr id="10" name="Rounded Rectangle 9"/>
          <p:cNvSpPr/>
          <p:nvPr/>
        </p:nvSpPr>
        <p:spPr>
          <a:xfrm>
            <a:off x="3886200" y="2011680"/>
            <a:ext cx="22860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977639" y="2267712"/>
            <a:ext cx="2103120" cy="320040"/>
          </a:xfrm>
          <a:prstGeom prst="rect">
            <a:avLst/>
          </a:prstGeom>
          <a:noFill/>
        </p:spPr>
        <p:txBody>
          <a:bodyPr wrap="none" lIns="54864" tIns="54864" rIns="54864" bIns="54864" anchor="t">
            <a:spAutoFit/>
          </a:bodyPr>
          <a:lstStyle/>
          <a:p>
            <a:pPr algn="ctr">
              <a:defRPr sz="1600" b="1" i="0">
                <a:solidFill>
                  <a:srgbClr val="140C12"/>
                </a:solidFill>
                <a:latin typeface="Aptos"/>
              </a:defRPr>
            </a:pPr>
            <a:r>
              <a:t>PROCESS</a:t>
            </a:r>
          </a:p>
          <a:p>
            <a:pPr algn="ctr">
              <a:defRPr sz="1600" b="1" i="0">
                <a:solidFill>
                  <a:srgbClr val="140C12"/>
                </a:solidFill>
                <a:latin typeface="Aptos"/>
              </a:defRPr>
            </a:pPr>
            <a:r>
              <a:t>Gemma 3 + rules</a:t>
            </a:r>
          </a:p>
        </p:txBody>
      </p:sp>
      <p:sp>
        <p:nvSpPr>
          <p:cNvPr id="12" name="Rounded Rectangle 11"/>
          <p:cNvSpPr/>
          <p:nvPr/>
        </p:nvSpPr>
        <p:spPr>
          <a:xfrm>
            <a:off x="6949440" y="2011680"/>
            <a:ext cx="2286000" cy="914400"/>
          </a:xfrm>
          <a:prstGeom prst="roundRect">
            <a:avLst/>
          </a:prstGeom>
          <a:solidFill>
            <a:srgbClr val="FFFFFF"/>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79" y="2267712"/>
            <a:ext cx="2103120" cy="320040"/>
          </a:xfrm>
          <a:prstGeom prst="rect">
            <a:avLst/>
          </a:prstGeom>
          <a:noFill/>
        </p:spPr>
        <p:txBody>
          <a:bodyPr wrap="none" lIns="54864" tIns="54864" rIns="54864" bIns="54864" anchor="t">
            <a:spAutoFit/>
          </a:bodyPr>
          <a:lstStyle/>
          <a:p>
            <a:pPr algn="ctr">
              <a:defRPr sz="1600" b="1" i="0">
                <a:solidFill>
                  <a:srgbClr val="140C12"/>
                </a:solidFill>
                <a:latin typeface="Aptos"/>
              </a:defRPr>
            </a:pPr>
            <a:r>
              <a:t>OUTPUT</a:t>
            </a:r>
          </a:p>
          <a:p>
            <a:pPr algn="ctr">
              <a:defRPr sz="1600" b="1" i="0">
                <a:solidFill>
                  <a:srgbClr val="140C12"/>
                </a:solidFill>
                <a:latin typeface="Aptos"/>
              </a:defRPr>
            </a:pPr>
            <a:r>
              <a:t>Water, Critical</a:t>
            </a:r>
          </a:p>
        </p:txBody>
      </p:sp>
      <p:sp>
        <p:nvSpPr>
          <p:cNvPr id="14" name="TextBox 13"/>
          <p:cNvSpPr txBox="1"/>
          <p:nvPr/>
        </p:nvSpPr>
        <p:spPr>
          <a:xfrm>
            <a:off x="3154680" y="2267712"/>
            <a:ext cx="502920" cy="32004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15" name="TextBox 14"/>
          <p:cNvSpPr txBox="1"/>
          <p:nvPr/>
        </p:nvSpPr>
        <p:spPr>
          <a:xfrm>
            <a:off x="6217920" y="2267712"/>
            <a:ext cx="502920" cy="320040"/>
          </a:xfrm>
          <a:prstGeom prst="rect">
            <a:avLst/>
          </a:prstGeom>
          <a:noFill/>
        </p:spPr>
        <p:txBody>
          <a:bodyPr wrap="none" lIns="54864" tIns="54864" rIns="54864" bIns="54864" anchor="t">
            <a:spAutoFit/>
          </a:bodyPr>
          <a:lstStyle/>
          <a:p>
            <a:pPr algn="ctr">
              <a:defRPr sz="2400" b="1" i="0">
                <a:solidFill>
                  <a:srgbClr val="E0262D"/>
                </a:solidFill>
                <a:latin typeface="Aptos"/>
              </a:defRPr>
            </a:pPr>
            <a:r>
              <a:t>→</a:t>
            </a:r>
          </a:p>
        </p:txBody>
      </p:sp>
      <p:sp>
        <p:nvSpPr>
          <p:cNvPr id="16" name="TextBox 15"/>
          <p:cNvSpPr txBox="1"/>
          <p:nvPr/>
        </p:nvSpPr>
        <p:spPr>
          <a:xfrm>
            <a:off x="822960" y="3657600"/>
            <a:ext cx="4754880" cy="411480"/>
          </a:xfrm>
          <a:prstGeom prst="rect">
            <a:avLst/>
          </a:prstGeom>
          <a:noFill/>
        </p:spPr>
        <p:txBody>
          <a:bodyPr wrap="square" lIns="54864" tIns="54864" rIns="54864" bIns="54864" anchor="t">
            <a:spAutoFit/>
          </a:bodyPr>
          <a:lstStyle/>
          <a:p>
            <a:pPr algn="l">
              <a:defRPr sz="1700" b="1" i="0">
                <a:solidFill>
                  <a:srgbClr val="140C12"/>
                </a:solidFill>
                <a:latin typeface="Aptos"/>
              </a:defRPr>
            </a:pPr>
            <a:r>
              <a:t>Test scenario: Tanglish 'thanni 3 days ah varala, veetla 2 kids vomiting...' + GPS</a:t>
            </a:r>
          </a:p>
        </p:txBody>
      </p:sp>
      <p:sp>
        <p:nvSpPr>
          <p:cNvPr id="17" name="TextBox 16"/>
          <p:cNvSpPr txBox="1"/>
          <p:nvPr/>
        </p:nvSpPr>
        <p:spPr>
          <a:xfrm>
            <a:off x="822960" y="4434840"/>
            <a:ext cx="4754880" cy="411480"/>
          </a:xfrm>
          <a:prstGeom prst="rect">
            <a:avLst/>
          </a:prstGeom>
          <a:noFill/>
        </p:spPr>
        <p:txBody>
          <a:bodyPr wrap="square" lIns="54864" tIns="54864" rIns="54864" bIns="54864" anchor="t">
            <a:spAutoFit/>
          </a:bodyPr>
          <a:lstStyle/>
          <a:p>
            <a:pPr algn="l">
              <a:defRPr sz="1700" b="1" i="0">
                <a:solidFill>
                  <a:srgbClr val="140C12"/>
                </a:solidFill>
                <a:latin typeface="Aptos"/>
              </a:defRPr>
            </a:pPr>
            <a:r>
              <a:t>Expected output: ta+en, Water Supply, Critical, evidence quoted, human review, office + due time, Tamil emails</a:t>
            </a:r>
          </a:p>
        </p:txBody>
      </p:sp>
      <p:sp>
        <p:nvSpPr>
          <p:cNvPr id="18" name="TextBox 17"/>
          <p:cNvSpPr txBox="1"/>
          <p:nvPr/>
        </p:nvSpPr>
        <p:spPr>
          <a:xfrm>
            <a:off x="5760720" y="3657600"/>
            <a:ext cx="5212080" cy="1097280"/>
          </a:xfrm>
          <a:prstGeom prst="rect">
            <a:avLst/>
          </a:prstGeom>
          <a:noFill/>
        </p:spPr>
        <p:txBody>
          <a:bodyPr wrap="square" lIns="54864" tIns="54864" rIns="54864" bIns="54864" anchor="t">
            <a:spAutoFit/>
          </a:bodyPr>
          <a:lstStyle/>
          <a:p>
            <a:pPr algn="l">
              <a:defRPr sz="1600" b="0" i="0">
                <a:solidFill>
                  <a:srgbClr val="140C12"/>
                </a:solidFill>
                <a:latin typeface="Aptos"/>
              </a:defRPr>
            </a:pPr>
            <a:r>
              <a:t>Actual output / evidence: model said health 0.95; rule R5 (thanni) overrode to Water; R10 (children) + Critical forced review; office Coimbatore Water Supply, SLA 6 h; phone masked for the citizen, visible to the officer; 4 Tamil emails; 28 s.</a:t>
            </a:r>
          </a:p>
        </p:txBody>
      </p:sp>
      <p:sp>
        <p:nvSpPr>
          <p:cNvPr id="19" name="TextBox 18"/>
          <p:cNvSpPr txBox="1"/>
          <p:nvPr/>
        </p:nvSpPr>
        <p:spPr>
          <a:xfrm>
            <a:off x="822960" y="5303520"/>
            <a:ext cx="10515600" cy="320040"/>
          </a:xfrm>
          <a:prstGeom prst="rect">
            <a:avLst/>
          </a:prstGeom>
          <a:noFill/>
        </p:spPr>
        <p:txBody>
          <a:bodyPr wrap="square" lIns="54864" tIns="54864" rIns="54864" bIns="54864" anchor="t">
            <a:spAutoFit/>
          </a:bodyPr>
          <a:lstStyle/>
          <a:p>
            <a:pPr algn="l">
              <a:defRPr sz="1300" b="0" i="0">
                <a:solidFill>
                  <a:srgbClr val="5A5555"/>
                </a:solidFill>
                <a:latin typeface="Aptos"/>
              </a:defRPr>
            </a:pPr>
            <a:r>
              <a:t>Demo: localhost:5173 (app)  ·  localhost:8000/docs (API)  ·  localhost:8025 (mail)  ·  github.com/Balavigneshcse/AI_Grievance_Redressal_Prioritization_System</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INNOVATION, FEASIBILITY &amp; IMPACT</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13</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600">
                <a:solidFill>
                  <a:srgbClr val="140C12"/>
                </a:solidFill>
                <a:latin typeface="Aptos"/>
              </a:defRPr>
            </a:pPr>
            <a:r>
              <a:t>•  Innovation: fully local multilingual triage of text and photos on a laptop GPU; evidence spans copied verbatim from Tamil, Hindi or mixed text; model + rules + second opinion, disagreement goes to a human; district-office routing with SLA due times.</a:t>
            </a:r>
          </a:p>
          <a:p>
            <a:pPr>
              <a:spcAft>
                <a:spcPts val="1200"/>
              </a:spcAft>
              <a:defRPr sz="1600">
                <a:solidFill>
                  <a:srgbClr val="140C12"/>
                </a:solidFill>
                <a:latin typeface="Aptos"/>
              </a:defRPr>
            </a:pPr>
            <a:r>
              <a:t>•  Expected users / beneficiaries: citizens of Tamil Nadu municipalities writing in Tamil, Hindi, English or a mix; grievance cells and department offices; administrators and auditors.</a:t>
            </a:r>
          </a:p>
          <a:p>
            <a:pPr>
              <a:spcAft>
                <a:spcPts val="1200"/>
              </a:spcAft>
              <a:defRPr sz="1600">
                <a:solidFill>
                  <a:srgbClr val="140C12"/>
                </a:solidFill>
                <a:latin typeface="Aptos"/>
              </a:defRPr>
            </a:pPr>
            <a:r>
              <a:t>•  Expected impact: acknowledgement in under a second, analysis in ~20 s; every Critical case reaches a human (gold set 4 of 4); duplicates linked; status at every step; no complaint ever auto-closed.</a:t>
            </a:r>
          </a:p>
          <a:p>
            <a:pPr>
              <a:spcAft>
                <a:spcPts val="1200"/>
              </a:spcAft>
              <a:defRPr sz="1600">
                <a:solidFill>
                  <a:srgbClr val="140C12"/>
                </a:solidFill>
                <a:latin typeface="Aptos"/>
              </a:defRPr>
            </a:pPr>
            <a:r>
              <a:t>•  Feasibility: runs today on an RTX 3050 4 GB with PostgreSQL, Ollama and Docker; tested end to end (61-check suite, 5 languages, photo, duplicates, officer flow); model and SMTP swapped by env var.</a:t>
            </a:r>
          </a:p>
          <a:p>
            <a:pPr>
              <a:spcAft>
                <a:spcPts val="1200"/>
              </a:spcAft>
              <a:defRPr sz="1600">
                <a:solidFill>
                  <a:srgbClr val="140C12"/>
                </a:solidFill>
                <a:latin typeface="Aptos"/>
              </a:defRPr>
            </a:pPr>
            <a:r>
              <a:t>•  Scalability: one worker per GPU, Postgres holds the state; add workers or a bigger model (Gemma 3 12B) on a server; pgvector HNSW keeps duplicate search fast; rules and offices are config, not code.</a:t>
            </a:r>
          </a:p>
          <a:p>
            <a:pPr>
              <a:spcAft>
                <a:spcPts val="1200"/>
              </a:spcAft>
              <a:defRPr sz="1600">
                <a:solidFill>
                  <a:srgbClr val="140C12"/>
                </a:solidFill>
                <a:latin typeface="Aptos"/>
              </a:defRPr>
            </a:pPr>
            <a:r>
              <a:t>•  Future improvements: WhatsApp intake and updates (roadmap), video key frames, ward polygons, fine-tuned classifier on officer corrections, verify office data (the spreadsheet marks it demo).</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8F4ED"/>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E0262D"/>
          </a:solidFill>
          <a:ln>
            <a:solidFill>
              <a:srgbClr val="E026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256032"/>
            <a:ext cx="8046720" cy="274320"/>
          </a:xfrm>
          <a:prstGeom prst="rect">
            <a:avLst/>
          </a:prstGeom>
          <a:noFill/>
        </p:spPr>
        <p:txBody>
          <a:bodyPr wrap="none" lIns="54864" tIns="54864" rIns="54864" bIns="54864" anchor="t">
            <a:spAutoFit/>
          </a:bodyPr>
          <a:lstStyle/>
          <a:p>
            <a:pPr algn="l">
              <a:defRPr sz="1000" b="1" i="0">
                <a:solidFill>
                  <a:srgbClr val="E0262D"/>
                </a:solidFill>
                <a:latin typeface="Aptos"/>
              </a:defRPr>
            </a:pPr>
            <a:r>
              <a:t>SYNAPSE '26  |  24-HOUR HACKATHON</a:t>
            </a:r>
          </a:p>
        </p:txBody>
      </p:sp>
      <p:sp>
        <p:nvSpPr>
          <p:cNvPr id="4" name="TextBox 3"/>
          <p:cNvSpPr txBox="1"/>
          <p:nvPr/>
        </p:nvSpPr>
        <p:spPr>
          <a:xfrm>
            <a:off x="411480" y="594360"/>
            <a:ext cx="11155680" cy="502920"/>
          </a:xfrm>
          <a:prstGeom prst="rect">
            <a:avLst/>
          </a:prstGeom>
          <a:noFill/>
        </p:spPr>
        <p:txBody>
          <a:bodyPr wrap="none" lIns="54864" tIns="54864" rIns="54864" bIns="54864" anchor="t">
            <a:spAutoFit/>
          </a:bodyPr>
          <a:lstStyle/>
          <a:p>
            <a:pPr algn="l">
              <a:defRPr sz="2500" b="1" i="0">
                <a:solidFill>
                  <a:srgbClr val="140C12"/>
                </a:solidFill>
                <a:latin typeface="Aptos"/>
              </a:defRPr>
            </a:pPr>
            <a:r>
              <a:t>APPENDIX: EVIDENCE &amp; LINKS</a:t>
            </a:r>
          </a:p>
        </p:txBody>
      </p:sp>
      <p:sp>
        <p:nvSpPr>
          <p:cNvPr id="5" name="Rectangle 4"/>
          <p:cNvSpPr/>
          <p:nvPr/>
        </p:nvSpPr>
        <p:spPr>
          <a:xfrm>
            <a:off x="411480" y="1170432"/>
            <a:ext cx="1051560" cy="54864"/>
          </a:xfrm>
          <a:prstGeom prst="rect">
            <a:avLst/>
          </a:prstGeom>
          <a:solidFill>
            <a:srgbClr val="FFBE2D"/>
          </a:solidFill>
          <a:ln>
            <a:solidFill>
              <a:srgbClr val="FFBE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0" y="6510528"/>
            <a:ext cx="4160520" cy="182880"/>
          </a:xfrm>
          <a:prstGeom prst="rect">
            <a:avLst/>
          </a:prstGeom>
          <a:noFill/>
        </p:spPr>
        <p:txBody>
          <a:bodyPr wrap="none" lIns="54864" tIns="54864" rIns="54864" bIns="54864" anchor="t">
            <a:spAutoFit/>
          </a:bodyPr>
          <a:lstStyle/>
          <a:p>
            <a:pPr algn="r">
              <a:defRPr sz="800" b="0" i="0">
                <a:solidFill>
                  <a:srgbClr val="5A5555"/>
                </a:solidFill>
                <a:latin typeface="Aptos"/>
              </a:defRPr>
            </a:pPr>
            <a:r>
              <a:t>V.S.B. Engineering College  •  15</a:t>
            </a:r>
          </a:p>
        </p:txBody>
      </p:sp>
      <p:sp>
        <p:nvSpPr>
          <p:cNvPr id="7" name="TextBox 6"/>
          <p:cNvSpPr txBox="1"/>
          <p:nvPr/>
        </p:nvSpPr>
        <p:spPr>
          <a:xfrm>
            <a:off x="777240" y="1554480"/>
            <a:ext cx="10698480" cy="4480560"/>
          </a:xfrm>
          <a:prstGeom prst="rect">
            <a:avLst/>
          </a:prstGeom>
          <a:noFill/>
        </p:spPr>
        <p:txBody>
          <a:bodyPr wrap="square" lIns="73152" tIns="54864" rIns="73152" bIns="54864">
            <a:spAutoFit/>
          </a:bodyPr>
          <a:lstStyle/>
          <a:p>
            <a:pPr>
              <a:spcAft>
                <a:spcPts val="1200"/>
              </a:spcAft>
              <a:defRPr sz="1700">
                <a:solidFill>
                  <a:srgbClr val="140C12"/>
                </a:solidFill>
                <a:latin typeface="Aptos"/>
              </a:defRPr>
            </a:pPr>
            <a:r>
              <a:t>•  Repository URL: https://github.com/Balavigneshcse/AI_Grievance_Redressal_Prioritization_System</a:t>
            </a:r>
          </a:p>
          <a:p>
            <a:pPr>
              <a:spcAft>
                <a:spcPts val="1200"/>
              </a:spcAft>
              <a:defRPr sz="1700">
                <a:solidFill>
                  <a:srgbClr val="140C12"/>
                </a:solidFill>
                <a:latin typeface="Aptos"/>
              </a:defRPr>
            </a:pPr>
            <a:r>
              <a:t>•  Demo URL: not hosted; runs on the demo laptop at http://localhost:5173 (app), :8000/docs (API), :8025 (mail inbox)</a:t>
            </a:r>
          </a:p>
          <a:p>
            <a:pPr>
              <a:spcAft>
                <a:spcPts val="1200"/>
              </a:spcAft>
              <a:defRPr sz="1700">
                <a:solidFill>
                  <a:srgbClr val="140C12"/>
                </a:solidFill>
                <a:latin typeface="Aptos"/>
              </a:defRPr>
            </a:pPr>
            <a:r>
              <a:t>•  Dataset / API sources: 460 complaints generated locally with Gemma 3; 12-row hand-labelled gold set; Tamil Nadu district/department mapping (38 districts, 760 offices, 41 keyword rules); NYC 311 sample; COMI-LINGUA (Hinglish); DravidianCodeMix (Tanglish). No external APIs.</a:t>
            </a:r>
          </a:p>
          <a:p>
            <a:pPr>
              <a:spcAft>
                <a:spcPts val="1200"/>
              </a:spcAft>
              <a:defRPr sz="1700">
                <a:solidFill>
                  <a:srgbClr val="140C12"/>
                </a:solidFill>
                <a:latin typeface="Aptos"/>
              </a:defRPr>
            </a:pPr>
            <a:r>
              <a:t>•  Additional screenshots / test outputs: docs/06-test-report.md (61-check API suite, gold-set replay, browser walk-through); data/eval/e2e_report.json; data/eval/summary_gemma3_4b.json; docs 01-05 for each checkpoint.</a:t>
            </a:r>
          </a:p>
          <a:p>
            <a:pPr>
              <a:spcAft>
                <a:spcPts val="1200"/>
              </a:spcAft>
              <a:defRPr sz="1700">
                <a:solidFill>
                  <a:srgbClr val="140C12"/>
                </a:solidFill>
                <a:latin typeface="Aptos"/>
              </a:defRPr>
            </a:pPr>
            <a:r>
              <a:t>•  Declaration of tools, libraries, models and services: Gemma 3 4B and bge-m3 (open weights, via Ollama), PostgreSQL + pgvector, FastAPI, SQLAlchemy, React, shadcn/ui, lucide, Leaflet + OpenStreetMap tiles, Mailpit, Docker. No cloud AI services; Gmail SMTP optional for email.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4197</Words>
  <Application>WPS Presentation</Application>
  <PresentationFormat>On-screen Show (4:3)</PresentationFormat>
  <Paragraphs>217</Paragraphs>
  <Slides>12</Slides>
  <Notes>0</Notes>
  <HiddenSlides>0</HiddenSlides>
  <MMClips>0</MMClips>
  <ScaleCrop>false</ScaleCrop>
  <HeadingPairs>
    <vt:vector size="6" baseType="variant">
      <vt:variant>
        <vt:lpstr>已用的字体</vt:lpstr>
      </vt:variant>
      <vt:variant>
        <vt:i4>9</vt:i4>
      </vt:variant>
      <vt:variant>
        <vt:lpstr>主题</vt:lpstr>
      </vt:variant>
      <vt:variant>
        <vt:i4>1</vt:i4>
      </vt:variant>
      <vt:variant>
        <vt:lpstr>幻灯片标题</vt:lpstr>
      </vt:variant>
      <vt:variant>
        <vt:i4>12</vt:i4>
      </vt:variant>
    </vt:vector>
  </HeadingPairs>
  <TitlesOfParts>
    <vt:vector size="22" baseType="lpstr">
      <vt:lpstr>Arial</vt:lpstr>
      <vt:lpstr>SimSun</vt:lpstr>
      <vt:lpstr>Wingdings</vt:lpstr>
      <vt:lpstr>Arial</vt:lpstr>
      <vt:lpstr>Aptos</vt:lpstr>
      <vt:lpstr>Segoe UI</vt:lpstr>
      <vt:lpstr>Calibri</vt:lpstr>
      <vt:lpstr>Microsoft YaHei</vt:lpstr>
      <vt:lpstr>Arial Unicode MS</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description>generated using python-pptx</dc:description>
  <cp:lastModifiedBy>R.P Ram Pradeep</cp:lastModifiedBy>
  <cp:revision>2</cp:revision>
  <dcterms:created xsi:type="dcterms:W3CDTF">2013-01-27T09:14:00Z</dcterms:created>
  <dcterms:modified xsi:type="dcterms:W3CDTF">2026-10-15T00:50:42Z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65C141C1791645C89AF60D4CE8C8C4B6_12</vt:lpwstr>
  </property>
  <property fmtid="{D5CDD505-2E9C-101B-9397-08002B2CF9AE}" pid="3" name="KSOProductBuildVer">
    <vt:lpwstr>1033-12.1.0.28485</vt:lpwstr>
  </property>
</Properties>
</file>