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0"/>
  </p:notesMasterIdLst>
  <p:sldIdLst>
    <p:sldId id="257" r:id="rId2"/>
    <p:sldId id="258" r:id="rId3"/>
    <p:sldId id="259" r:id="rId4"/>
    <p:sldId id="260" r:id="rId5"/>
    <p:sldId id="261" r:id="rId6"/>
    <p:sldId id="264" r:id="rId7"/>
    <p:sldId id="266" r:id="rId8"/>
    <p:sldId id="268"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p:scale>
          <a:sx n="100" d="100"/>
          <a:sy n="100" d="100"/>
        </p:scale>
        <p:origin x="8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B07C6-A93D-46DA-9D7F-739B768EBA76}" type="datetimeFigureOut">
              <a:rPr lang="en-IN" smtClean="0"/>
              <a:t>16-10-2026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BF9B27-228D-4693-AA8A-E174CBCD4F00}" type="slidenum">
              <a:rPr lang="en-IN" smtClean="0"/>
              <a:t>‹#›</a:t>
            </a:fld>
            <a:endParaRPr lang="en-IN"/>
          </a:p>
        </p:txBody>
      </p:sp>
    </p:spTree>
    <p:extLst>
      <p:ext uri="{BB962C8B-B14F-4D97-AF65-F5344CB8AC3E}">
        <p14:creationId xmlns:p14="http://schemas.microsoft.com/office/powerpoint/2010/main" val="1557159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CBF9B27-228D-4693-AA8A-E174CBCD4F00}" type="slidenum">
              <a:rPr lang="en-IN" smtClean="0"/>
              <a:t>6</a:t>
            </a:fld>
            <a:endParaRPr lang="en-IN"/>
          </a:p>
        </p:txBody>
      </p:sp>
    </p:spTree>
    <p:extLst>
      <p:ext uri="{BB962C8B-B14F-4D97-AF65-F5344CB8AC3E}">
        <p14:creationId xmlns:p14="http://schemas.microsoft.com/office/powerpoint/2010/main" val="1896412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Balavigneshcse/AI_Grievance_Redressal_Prioritization_System" TargetMode="Externa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3.png"/><Relationship Id="rId7"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1.png"/><Relationship Id="rId4" Type="http://schemas.openxmlformats.org/officeDocument/2006/relationships/image" Target="../media/image8.pn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3" Type="http://schemas.openxmlformats.org/officeDocument/2006/relationships/image" Target="../media/image13.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28.png"/><Relationship Id="rId2" Type="http://schemas.openxmlformats.org/officeDocument/2006/relationships/notesSlide" Target="../notesSlides/notesSlide1.xml"/><Relationship Id="rId16"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22.png"/><Relationship Id="rId5" Type="http://schemas.openxmlformats.org/officeDocument/2006/relationships/image" Target="../media/image14.png"/><Relationship Id="rId15" Type="http://schemas.openxmlformats.org/officeDocument/2006/relationships/image" Target="../media/image26.png"/><Relationship Id="rId10" Type="http://schemas.openxmlformats.org/officeDocument/2006/relationships/image" Target="../media/image21.jpg"/><Relationship Id="rId19" Type="http://schemas.openxmlformats.org/officeDocument/2006/relationships/image" Target="../media/image30.png"/><Relationship Id="rId4" Type="http://schemas.openxmlformats.org/officeDocument/2006/relationships/image" Target="../media/image8.png"/><Relationship Id="rId9" Type="http://schemas.openxmlformats.org/officeDocument/2006/relationships/image" Target="../media/image20.png"/><Relationship Id="rId1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9.png"/><Relationship Id="rId5" Type="http://schemas.openxmlformats.org/officeDocument/2006/relationships/image" Target="../media/image35.png"/><Relationship Id="rId10" Type="http://schemas.openxmlformats.org/officeDocument/2006/relationships/image" Target="../media/image5.png"/><Relationship Id="rId4" Type="http://schemas.openxmlformats.org/officeDocument/2006/relationships/image" Target="../media/image34.png"/><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4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E0262D"/>
          </a:solidFill>
          <a:ln>
            <a:solidFill>
              <a:srgbClr val="E0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56032"/>
            <a:ext cx="8046720" cy="274320"/>
          </a:xfrm>
          <a:prstGeom prst="rect">
            <a:avLst/>
          </a:prstGeom>
          <a:noFill/>
        </p:spPr>
        <p:txBody>
          <a:bodyPr wrap="none" lIns="54864" tIns="54864" rIns="54864" bIns="54864" anchor="t">
            <a:spAutoFit/>
          </a:bodyPr>
          <a:lstStyle/>
          <a:p>
            <a:pPr algn="l">
              <a:defRPr sz="1000" b="1" i="0">
                <a:solidFill>
                  <a:srgbClr val="E0262D"/>
                </a:solidFill>
                <a:latin typeface="Aptos"/>
              </a:defRPr>
            </a:pPr>
            <a:r>
              <a:t>SYNAPSE '26  |  24-HOUR HACKATHON</a:t>
            </a:r>
          </a:p>
        </p:txBody>
      </p:sp>
      <p:sp>
        <p:nvSpPr>
          <p:cNvPr id="4" name="TextBox 3"/>
          <p:cNvSpPr txBox="1"/>
          <p:nvPr/>
        </p:nvSpPr>
        <p:spPr>
          <a:xfrm>
            <a:off x="411480" y="594360"/>
            <a:ext cx="11155680" cy="502920"/>
          </a:xfrm>
          <a:prstGeom prst="rect">
            <a:avLst/>
          </a:prstGeom>
          <a:noFill/>
        </p:spPr>
        <p:txBody>
          <a:bodyPr wrap="none" lIns="54864" tIns="54864" rIns="54864" bIns="54864" anchor="t">
            <a:spAutoFit/>
          </a:bodyPr>
          <a:lstStyle/>
          <a:p>
            <a:pPr algn="l">
              <a:defRPr sz="2500" b="1" i="0">
                <a:solidFill>
                  <a:srgbClr val="140C12"/>
                </a:solidFill>
                <a:latin typeface="Aptos"/>
              </a:defRPr>
            </a:pPr>
            <a:r>
              <a:t>TEAM &amp; PROJECT DETAILS</a:t>
            </a:r>
          </a:p>
        </p:txBody>
      </p:sp>
      <p:sp>
        <p:nvSpPr>
          <p:cNvPr id="6" name="TextBox 5"/>
          <p:cNvSpPr txBox="1"/>
          <p:nvPr/>
        </p:nvSpPr>
        <p:spPr>
          <a:xfrm>
            <a:off x="7589520" y="6510528"/>
            <a:ext cx="4160520" cy="182880"/>
          </a:xfrm>
          <a:prstGeom prst="rect">
            <a:avLst/>
          </a:prstGeom>
          <a:noFill/>
        </p:spPr>
        <p:txBody>
          <a:bodyPr wrap="none" lIns="54864" tIns="54864" rIns="54864" bIns="54864" anchor="t">
            <a:spAutoFit/>
          </a:bodyPr>
          <a:lstStyle/>
          <a:p>
            <a:pPr algn="r">
              <a:defRPr sz="800" b="0" i="0">
                <a:solidFill>
                  <a:srgbClr val="5A5555"/>
                </a:solidFill>
                <a:latin typeface="Aptos"/>
              </a:defRPr>
            </a:pPr>
            <a:r>
              <a:t>V.S.B. Engineering College  •  02</a:t>
            </a:r>
          </a:p>
        </p:txBody>
      </p:sp>
      <p:sp>
        <p:nvSpPr>
          <p:cNvPr id="7" name="TextBox 6"/>
          <p:cNvSpPr txBox="1"/>
          <p:nvPr/>
        </p:nvSpPr>
        <p:spPr>
          <a:xfrm>
            <a:off x="510540" y="1550035"/>
            <a:ext cx="11422380" cy="2549525"/>
          </a:xfrm>
          <a:prstGeom prst="rect">
            <a:avLst/>
          </a:prstGeom>
          <a:noFill/>
        </p:spPr>
        <p:txBody>
          <a:bodyPr wrap="square" lIns="73152" tIns="54864" rIns="73152" bIns="54864">
            <a:noAutofit/>
          </a:bodyPr>
          <a:lstStyle/>
          <a:p>
            <a:pPr>
              <a:spcAft>
                <a:spcPts val="1200"/>
              </a:spcAft>
              <a:defRPr sz="1800">
                <a:solidFill>
                  <a:srgbClr val="140C12"/>
                </a:solidFill>
                <a:latin typeface="Aptos"/>
              </a:defRPr>
            </a:pPr>
            <a:r>
              <a:rPr dirty="0"/>
              <a:t>•  Project Title: </a:t>
            </a:r>
            <a:r>
              <a:rPr lang="en-IN" b="1" dirty="0">
                <a:solidFill>
                  <a:srgbClr val="140C12"/>
                </a:solidFill>
                <a:latin typeface="Aptos"/>
              </a:rPr>
              <a:t>AI Grievance Redressal Prioritization System</a:t>
            </a:r>
            <a:endParaRPr dirty="0"/>
          </a:p>
          <a:p>
            <a:pPr>
              <a:spcAft>
                <a:spcPts val="1200"/>
              </a:spcAft>
              <a:defRPr sz="1800">
                <a:solidFill>
                  <a:srgbClr val="140C12"/>
                </a:solidFill>
                <a:latin typeface="Aptos"/>
              </a:defRPr>
            </a:pPr>
            <a:r>
              <a:rPr dirty="0"/>
              <a:t>•  Team Name / Team ID: </a:t>
            </a:r>
            <a:r>
              <a:rPr lang="en-US" b="1" dirty="0"/>
              <a:t>Logic Makers / SY15</a:t>
            </a:r>
            <a:endParaRPr b="1" dirty="0"/>
          </a:p>
          <a:p>
            <a:pPr>
              <a:spcAft>
                <a:spcPts val="1200"/>
              </a:spcAft>
              <a:defRPr sz="1800">
                <a:solidFill>
                  <a:srgbClr val="140C12"/>
                </a:solidFill>
                <a:latin typeface="Aptos"/>
              </a:defRPr>
            </a:pPr>
            <a:r>
              <a:rPr dirty="0"/>
              <a:t>•  Problem Statement ID and Title: </a:t>
            </a:r>
            <a:r>
              <a:rPr lang="en-IN" b="1" dirty="0">
                <a:solidFill>
                  <a:srgbClr val="140C12"/>
                </a:solidFill>
                <a:latin typeface="Aptos"/>
              </a:rPr>
              <a:t>PS-020: AI Grievance Redressal Prioritization System</a:t>
            </a:r>
            <a:endParaRPr lang="en-US" dirty="0"/>
          </a:p>
          <a:p>
            <a:pPr>
              <a:spcAft>
                <a:spcPts val="1200"/>
              </a:spcAft>
              <a:defRPr sz="1800">
                <a:solidFill>
                  <a:srgbClr val="140C12"/>
                </a:solidFill>
                <a:latin typeface="Aptos"/>
              </a:defRPr>
            </a:pPr>
            <a:r>
              <a:rPr lang="en-US" dirty="0"/>
              <a:t>•  Team Leader: </a:t>
            </a:r>
            <a:r>
              <a:rPr lang="en-US" b="1" dirty="0"/>
              <a:t>BALAVIGNESH K,922524104016,III-CSE-A</a:t>
            </a:r>
            <a:r>
              <a:rPr lang="en-IN" b="1" dirty="0"/>
              <a:t> </a:t>
            </a:r>
            <a:endParaRPr lang="en-US" b="1" dirty="0"/>
          </a:p>
          <a:p>
            <a:pPr>
              <a:spcAft>
                <a:spcPts val="1200"/>
              </a:spcAft>
              <a:defRPr sz="1800">
                <a:solidFill>
                  <a:srgbClr val="140C12"/>
                </a:solidFill>
                <a:latin typeface="Aptos"/>
              </a:defRPr>
            </a:pPr>
            <a:r>
              <a:rPr dirty="0"/>
              <a:t>•  Project Repository</a:t>
            </a:r>
            <a:r>
              <a:rPr lang="en-IN" dirty="0"/>
              <a:t> / Demo Link:</a:t>
            </a:r>
          </a:p>
          <a:p>
            <a:pPr>
              <a:spcAft>
                <a:spcPts val="1200"/>
              </a:spcAft>
              <a:defRPr sz="1800">
                <a:solidFill>
                  <a:srgbClr val="140C12"/>
                </a:solidFill>
                <a:latin typeface="Aptos"/>
              </a:defRPr>
            </a:pPr>
            <a:r>
              <a:rPr lang="en-US" dirty="0">
                <a:hlinkClick r:id="rId2"/>
              </a:rPr>
              <a:t>https://github.com/Balavigneshcse/AI_Grievance_Redressal_Prioritization_System</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4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E0262D"/>
          </a:solidFill>
          <a:ln>
            <a:solidFill>
              <a:srgbClr val="E0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56032"/>
            <a:ext cx="8046720" cy="274320"/>
          </a:xfrm>
          <a:prstGeom prst="rect">
            <a:avLst/>
          </a:prstGeom>
          <a:noFill/>
        </p:spPr>
        <p:txBody>
          <a:bodyPr wrap="none" lIns="54864" tIns="54864" rIns="54864" bIns="54864" anchor="t">
            <a:spAutoFit/>
          </a:bodyPr>
          <a:lstStyle/>
          <a:p>
            <a:pPr algn="l">
              <a:defRPr sz="1000" b="1" i="0">
                <a:solidFill>
                  <a:srgbClr val="E0262D"/>
                </a:solidFill>
                <a:latin typeface="Aptos"/>
              </a:defRPr>
            </a:pPr>
            <a:r>
              <a:t>SYNAPSE '26  |  24-HOUR HACKATHON</a:t>
            </a:r>
          </a:p>
        </p:txBody>
      </p:sp>
      <p:sp>
        <p:nvSpPr>
          <p:cNvPr id="4" name="TextBox 3"/>
          <p:cNvSpPr txBox="1"/>
          <p:nvPr/>
        </p:nvSpPr>
        <p:spPr>
          <a:xfrm>
            <a:off x="411480" y="594360"/>
            <a:ext cx="11155680" cy="502920"/>
          </a:xfrm>
          <a:prstGeom prst="rect">
            <a:avLst/>
          </a:prstGeom>
          <a:noFill/>
        </p:spPr>
        <p:txBody>
          <a:bodyPr wrap="none" lIns="54864" tIns="54864" rIns="54864" bIns="54864" anchor="t">
            <a:spAutoFit/>
          </a:bodyPr>
          <a:lstStyle/>
          <a:p>
            <a:pPr algn="l">
              <a:defRPr sz="2500" b="1" i="0">
                <a:solidFill>
                  <a:srgbClr val="140C12"/>
                </a:solidFill>
                <a:latin typeface="Aptos"/>
              </a:defRPr>
            </a:pPr>
            <a:r>
              <a:t>PROBLEM STATEMENT</a:t>
            </a:r>
          </a:p>
        </p:txBody>
      </p:sp>
      <p:sp>
        <p:nvSpPr>
          <p:cNvPr id="6" name="TextBox 5"/>
          <p:cNvSpPr txBox="1"/>
          <p:nvPr/>
        </p:nvSpPr>
        <p:spPr>
          <a:xfrm>
            <a:off x="7589520" y="6510528"/>
            <a:ext cx="4160520" cy="182880"/>
          </a:xfrm>
          <a:prstGeom prst="rect">
            <a:avLst/>
          </a:prstGeom>
          <a:noFill/>
        </p:spPr>
        <p:txBody>
          <a:bodyPr wrap="none" lIns="54864" tIns="54864" rIns="54864" bIns="54864" anchor="t">
            <a:spAutoFit/>
          </a:bodyPr>
          <a:lstStyle/>
          <a:p>
            <a:pPr algn="r">
              <a:defRPr sz="800" b="0" i="0">
                <a:solidFill>
                  <a:srgbClr val="5A5555"/>
                </a:solidFill>
                <a:latin typeface="Aptos"/>
              </a:defRPr>
            </a:pPr>
            <a:r>
              <a:t>V.S.B. Engineering College  •  03</a:t>
            </a:r>
          </a:p>
        </p:txBody>
      </p:sp>
      <p:sp>
        <p:nvSpPr>
          <p:cNvPr id="7" name="Rounded Rectangle 6"/>
          <p:cNvSpPr/>
          <p:nvPr/>
        </p:nvSpPr>
        <p:spPr>
          <a:xfrm>
            <a:off x="411480" y="1371600"/>
            <a:ext cx="11338560" cy="292608"/>
          </a:xfrm>
          <a:prstGeom prst="roundRect">
            <a:avLst>
              <a:gd name="adj" fmla="val 18750"/>
            </a:avLst>
          </a:prstGeom>
          <a:solidFill>
            <a:srgbClr val="9B1C24"/>
          </a:solidFill>
          <a:ln>
            <a:noFill/>
          </a:ln>
          <a:effectLst/>
        </p:spPr>
        <p:txBody>
          <a:bodyPr rtlCol="0" anchor="ctr"/>
          <a:lstStyle/>
          <a:p>
            <a:pPr algn="ctr"/>
            <a:endParaRPr/>
          </a:p>
        </p:txBody>
      </p:sp>
      <p:pic>
        <p:nvPicPr>
          <p:cNvPr id="8" name="Picture 7" descr="image29.png"/>
          <p:cNvPicPr>
            <a:picLocks noChangeAspect="1"/>
          </p:cNvPicPr>
          <p:nvPr/>
        </p:nvPicPr>
        <p:blipFill>
          <a:blip r:embed="rId2"/>
          <a:stretch>
            <a:fillRect/>
          </a:stretch>
        </p:blipFill>
        <p:spPr>
          <a:xfrm>
            <a:off x="521208" y="1436465"/>
            <a:ext cx="182880" cy="162877"/>
          </a:xfrm>
          <a:prstGeom prst="rect">
            <a:avLst/>
          </a:prstGeom>
        </p:spPr>
      </p:pic>
      <p:sp>
        <p:nvSpPr>
          <p:cNvPr id="9" name="TextBox 8"/>
          <p:cNvSpPr txBox="1"/>
          <p:nvPr/>
        </p:nvSpPr>
        <p:spPr>
          <a:xfrm>
            <a:off x="795528" y="1371600"/>
            <a:ext cx="10863072" cy="292608"/>
          </a:xfrm>
          <a:prstGeom prst="rect">
            <a:avLst/>
          </a:prstGeom>
          <a:noFill/>
        </p:spPr>
        <p:txBody>
          <a:bodyPr wrap="square" lIns="18288" tIns="0" rIns="18288" bIns="0" anchor="ctr">
            <a:noAutofit/>
          </a:bodyPr>
          <a:lstStyle/>
          <a:p>
            <a:pPr algn="l"/>
            <a:r>
              <a:rPr sz="1000" b="1" i="0">
                <a:solidFill>
                  <a:srgbClr val="FFFFFF"/>
                </a:solidFill>
                <a:latin typeface="Aptos"/>
              </a:rPr>
              <a:t>PROBLEM STATEMENT</a:t>
            </a:r>
          </a:p>
        </p:txBody>
      </p:sp>
      <p:sp>
        <p:nvSpPr>
          <p:cNvPr id="10" name="Rounded Rectangle 9"/>
          <p:cNvSpPr/>
          <p:nvPr/>
        </p:nvSpPr>
        <p:spPr>
          <a:xfrm>
            <a:off x="411480" y="1737360"/>
            <a:ext cx="7818120" cy="1051560"/>
          </a:xfrm>
          <a:prstGeom prst="roundRect">
            <a:avLst>
              <a:gd name="adj" fmla="val 8695"/>
            </a:avLst>
          </a:prstGeom>
          <a:solidFill>
            <a:srgbClr val="F3EDE3"/>
          </a:solidFill>
          <a:ln w="9525">
            <a:solidFill>
              <a:srgbClr val="E3DBCF"/>
            </a:solidFill>
          </a:ln>
          <a:effectLst/>
        </p:spPr>
        <p:txBody>
          <a:bodyPr rtlCol="0" anchor="ctr"/>
          <a:lstStyle/>
          <a:p>
            <a:pPr algn="ctr"/>
            <a:endParaRPr/>
          </a:p>
        </p:txBody>
      </p:sp>
      <p:sp>
        <p:nvSpPr>
          <p:cNvPr id="11" name="Rounded Rectangle 10"/>
          <p:cNvSpPr/>
          <p:nvPr/>
        </p:nvSpPr>
        <p:spPr>
          <a:xfrm>
            <a:off x="411480" y="1737360"/>
            <a:ext cx="64008" cy="1051560"/>
          </a:xfrm>
          <a:prstGeom prst="roundRect">
            <a:avLst>
              <a:gd name="adj" fmla="val 42857"/>
            </a:avLst>
          </a:prstGeom>
          <a:solidFill>
            <a:srgbClr val="E0262D"/>
          </a:solidFill>
          <a:ln>
            <a:noFill/>
          </a:ln>
          <a:effectLst/>
        </p:spPr>
        <p:txBody>
          <a:bodyPr rtlCol="0" anchor="ctr"/>
          <a:lstStyle/>
          <a:p>
            <a:pPr algn="ctr"/>
            <a:endParaRPr/>
          </a:p>
        </p:txBody>
      </p:sp>
      <p:sp>
        <p:nvSpPr>
          <p:cNvPr id="12" name="TextBox 11"/>
          <p:cNvSpPr txBox="1"/>
          <p:nvPr/>
        </p:nvSpPr>
        <p:spPr>
          <a:xfrm>
            <a:off x="539496" y="1737360"/>
            <a:ext cx="7635240" cy="1051560"/>
          </a:xfrm>
          <a:prstGeom prst="rect">
            <a:avLst/>
          </a:prstGeom>
          <a:noFill/>
        </p:spPr>
        <p:txBody>
          <a:bodyPr wrap="square" lIns="54864" tIns="27432" rIns="73152" bIns="27432" anchor="ctr">
            <a:noAutofit/>
          </a:bodyPr>
          <a:lstStyle/>
          <a:p>
            <a:pPr algn="l"/>
            <a:r>
              <a:rPr sz="1000" b="1" i="0">
                <a:solidFill>
                  <a:srgbClr val="3A3335"/>
                </a:solidFill>
                <a:latin typeface="Aptos"/>
              </a:rPr>
              <a:t>Assigned statement: </a:t>
            </a:r>
            <a:r>
              <a:rPr sz="1000" b="0" i="0">
                <a:solidFill>
                  <a:srgbClr val="140C12"/>
                </a:solidFill>
                <a:latin typeface="Aptos"/>
              </a:rPr>
              <a:t>Design a multilingual natural-language-processing system for government or corporate grievance portals that reads complaints submitted in free text, identifies the subject and urgency, categorizes the issue, and routes it to the appropriate department. The system should help organizations respond more quickly while keeping complainants informed about the status of their cases.</a:t>
            </a:r>
          </a:p>
        </p:txBody>
      </p:sp>
      <p:sp>
        <p:nvSpPr>
          <p:cNvPr id="13" name="Rounded Rectangle 12"/>
          <p:cNvSpPr/>
          <p:nvPr/>
        </p:nvSpPr>
        <p:spPr>
          <a:xfrm>
            <a:off x="8366760" y="1737360"/>
            <a:ext cx="3383280" cy="1051560"/>
          </a:xfrm>
          <a:prstGeom prst="roundRect">
            <a:avLst>
              <a:gd name="adj" fmla="val 8695"/>
            </a:avLst>
          </a:prstGeom>
          <a:solidFill>
            <a:srgbClr val="3A3335"/>
          </a:solidFill>
          <a:ln>
            <a:noFill/>
          </a:ln>
          <a:effectLst/>
        </p:spPr>
        <p:txBody>
          <a:bodyPr rtlCol="0" anchor="ctr"/>
          <a:lstStyle/>
          <a:p>
            <a:pPr algn="ctr"/>
            <a:endParaRPr/>
          </a:p>
        </p:txBody>
      </p:sp>
      <p:sp>
        <p:nvSpPr>
          <p:cNvPr id="14" name="TextBox 13"/>
          <p:cNvSpPr txBox="1"/>
          <p:nvPr/>
        </p:nvSpPr>
        <p:spPr>
          <a:xfrm>
            <a:off x="8458200" y="1737360"/>
            <a:ext cx="3246120" cy="1051560"/>
          </a:xfrm>
          <a:prstGeom prst="rect">
            <a:avLst/>
          </a:prstGeom>
          <a:noFill/>
        </p:spPr>
        <p:txBody>
          <a:bodyPr wrap="square" lIns="36576" tIns="18288" rIns="36576" bIns="18288" anchor="ctr">
            <a:noAutofit/>
          </a:bodyPr>
          <a:lstStyle/>
          <a:p>
            <a:pPr algn="l">
              <a:spcAft>
                <a:spcPts val="200"/>
              </a:spcAft>
            </a:pPr>
            <a:r>
              <a:rPr sz="950" b="1" i="0">
                <a:solidFill>
                  <a:srgbClr val="FFFFFF"/>
                </a:solidFill>
                <a:latin typeface="Aptos"/>
              </a:rPr>
              <a:t>What the statement asks for</a:t>
            </a:r>
          </a:p>
          <a:p>
            <a:pPr algn="l"/>
            <a:r>
              <a:rPr sz="850" b="1" i="0">
                <a:solidFill>
                  <a:srgbClr val="FFBE2D"/>
                </a:solidFill>
                <a:latin typeface="Aptos"/>
              </a:rPr>
              <a:t>✓  </a:t>
            </a:r>
            <a:r>
              <a:rPr sz="850" b="0" i="0">
                <a:solidFill>
                  <a:srgbClr val="FFFFFF"/>
                </a:solidFill>
                <a:latin typeface="Aptos"/>
              </a:rPr>
              <a:t>Read free-text complaints in any language</a:t>
            </a:r>
          </a:p>
          <a:p>
            <a:pPr algn="l"/>
            <a:r>
              <a:rPr sz="850" b="1" i="0">
                <a:solidFill>
                  <a:srgbClr val="FFBE2D"/>
                </a:solidFill>
                <a:latin typeface="Aptos"/>
              </a:rPr>
              <a:t>✓  </a:t>
            </a:r>
            <a:r>
              <a:rPr sz="850" b="0" i="0">
                <a:solidFill>
                  <a:srgbClr val="FFFFFF"/>
                </a:solidFill>
                <a:latin typeface="Aptos"/>
              </a:rPr>
              <a:t>Identify the subject and the urgency</a:t>
            </a:r>
          </a:p>
          <a:p>
            <a:pPr algn="l"/>
            <a:r>
              <a:rPr sz="850" b="1" i="0">
                <a:solidFill>
                  <a:srgbClr val="FFBE2D"/>
                </a:solidFill>
                <a:latin typeface="Aptos"/>
              </a:rPr>
              <a:t>✓  </a:t>
            </a:r>
            <a:r>
              <a:rPr sz="850" b="0" i="0">
                <a:solidFill>
                  <a:srgbClr val="FFFFFF"/>
                </a:solidFill>
                <a:latin typeface="Aptos"/>
              </a:rPr>
              <a:t>Categorise the issue</a:t>
            </a:r>
          </a:p>
          <a:p>
            <a:pPr algn="l"/>
            <a:r>
              <a:rPr sz="850" b="1" i="0">
                <a:solidFill>
                  <a:srgbClr val="FFBE2D"/>
                </a:solidFill>
                <a:latin typeface="Aptos"/>
              </a:rPr>
              <a:t>✓  </a:t>
            </a:r>
            <a:r>
              <a:rPr sz="850" b="0" i="0">
                <a:solidFill>
                  <a:srgbClr val="FFFFFF"/>
                </a:solidFill>
                <a:latin typeface="Aptos"/>
              </a:rPr>
              <a:t>Route it to the right department</a:t>
            </a:r>
          </a:p>
          <a:p>
            <a:pPr algn="l"/>
            <a:r>
              <a:rPr sz="850" b="1" i="0">
                <a:solidFill>
                  <a:srgbClr val="FFBE2D"/>
                </a:solidFill>
                <a:latin typeface="Aptos"/>
              </a:rPr>
              <a:t>✓  </a:t>
            </a:r>
            <a:r>
              <a:rPr sz="850" b="0" i="0">
                <a:solidFill>
                  <a:srgbClr val="FFFFFF"/>
                </a:solidFill>
                <a:latin typeface="Aptos"/>
              </a:rPr>
              <a:t>Keep the complainant informed</a:t>
            </a:r>
          </a:p>
        </p:txBody>
      </p:sp>
      <p:sp>
        <p:nvSpPr>
          <p:cNvPr id="15" name="Rounded Rectangle 14"/>
          <p:cNvSpPr/>
          <p:nvPr/>
        </p:nvSpPr>
        <p:spPr>
          <a:xfrm>
            <a:off x="411480" y="2880360"/>
            <a:ext cx="11338560" cy="292608"/>
          </a:xfrm>
          <a:prstGeom prst="roundRect">
            <a:avLst>
              <a:gd name="adj" fmla="val 18750"/>
            </a:avLst>
          </a:prstGeom>
          <a:solidFill>
            <a:srgbClr val="9B1C24"/>
          </a:solidFill>
          <a:ln>
            <a:noFill/>
          </a:ln>
          <a:effectLst/>
        </p:spPr>
        <p:txBody>
          <a:bodyPr rtlCol="0" anchor="ctr"/>
          <a:lstStyle/>
          <a:p>
            <a:pPr algn="ctr"/>
            <a:endParaRPr/>
          </a:p>
        </p:txBody>
      </p:sp>
      <p:pic>
        <p:nvPicPr>
          <p:cNvPr id="16" name="Picture 15" descr="image23.png"/>
          <p:cNvPicPr>
            <a:picLocks noChangeAspect="1"/>
          </p:cNvPicPr>
          <p:nvPr/>
        </p:nvPicPr>
        <p:blipFill>
          <a:blip r:embed="rId3"/>
          <a:stretch>
            <a:fillRect/>
          </a:stretch>
        </p:blipFill>
        <p:spPr>
          <a:xfrm>
            <a:off x="521208" y="2953440"/>
            <a:ext cx="182880" cy="146446"/>
          </a:xfrm>
          <a:prstGeom prst="rect">
            <a:avLst/>
          </a:prstGeom>
        </p:spPr>
      </p:pic>
      <p:sp>
        <p:nvSpPr>
          <p:cNvPr id="17" name="TextBox 16"/>
          <p:cNvSpPr txBox="1"/>
          <p:nvPr/>
        </p:nvSpPr>
        <p:spPr>
          <a:xfrm>
            <a:off x="795528" y="2880360"/>
            <a:ext cx="10863072" cy="292608"/>
          </a:xfrm>
          <a:prstGeom prst="rect">
            <a:avLst/>
          </a:prstGeom>
          <a:noFill/>
        </p:spPr>
        <p:txBody>
          <a:bodyPr wrap="square" lIns="18288" tIns="0" rIns="18288" bIns="0" anchor="ctr">
            <a:noAutofit/>
          </a:bodyPr>
          <a:lstStyle/>
          <a:p>
            <a:pPr algn="l"/>
            <a:r>
              <a:rPr sz="1000" b="1" i="0">
                <a:solidFill>
                  <a:srgbClr val="FFFFFF"/>
                </a:solidFill>
                <a:latin typeface="Aptos"/>
              </a:rPr>
              <a:t>PROBLEM FACED</a:t>
            </a:r>
          </a:p>
        </p:txBody>
      </p:sp>
      <p:sp>
        <p:nvSpPr>
          <p:cNvPr id="18" name="Rounded Rectangle 17"/>
          <p:cNvSpPr/>
          <p:nvPr/>
        </p:nvSpPr>
        <p:spPr>
          <a:xfrm>
            <a:off x="411480" y="3246120"/>
            <a:ext cx="3931920" cy="457200"/>
          </a:xfrm>
          <a:prstGeom prst="roundRect">
            <a:avLst>
              <a:gd name="adj" fmla="val 16000"/>
            </a:avLst>
          </a:prstGeom>
          <a:solidFill>
            <a:srgbClr val="FFFFFF"/>
          </a:solidFill>
          <a:ln w="9525">
            <a:solidFill>
              <a:srgbClr val="E3DBCF"/>
            </a:solidFill>
          </a:ln>
          <a:effectLst/>
        </p:spPr>
        <p:txBody>
          <a:bodyPr rtlCol="0" anchor="ctr"/>
          <a:lstStyle/>
          <a:p>
            <a:pPr algn="ctr"/>
            <a:endParaRPr/>
          </a:p>
        </p:txBody>
      </p:sp>
      <p:sp>
        <p:nvSpPr>
          <p:cNvPr id="19" name="Rounded Rectangle 18"/>
          <p:cNvSpPr/>
          <p:nvPr/>
        </p:nvSpPr>
        <p:spPr>
          <a:xfrm>
            <a:off x="411480" y="3246120"/>
            <a:ext cx="54864" cy="457200"/>
          </a:xfrm>
          <a:prstGeom prst="roundRect">
            <a:avLst>
              <a:gd name="adj" fmla="val 50000"/>
            </a:avLst>
          </a:prstGeom>
          <a:solidFill>
            <a:srgbClr val="B7791F"/>
          </a:solidFill>
          <a:ln>
            <a:noFill/>
          </a:ln>
          <a:effectLst/>
        </p:spPr>
        <p:txBody>
          <a:bodyPr rtlCol="0" anchor="ctr"/>
          <a:lstStyle/>
          <a:p>
            <a:pPr algn="ctr"/>
            <a:endParaRPr/>
          </a:p>
        </p:txBody>
      </p:sp>
      <p:pic>
        <p:nvPicPr>
          <p:cNvPr id="20" name="Picture 19" descr="image38.png"/>
          <p:cNvPicPr>
            <a:picLocks noChangeAspect="1"/>
          </p:cNvPicPr>
          <p:nvPr/>
        </p:nvPicPr>
        <p:blipFill>
          <a:blip r:embed="rId4"/>
          <a:stretch>
            <a:fillRect/>
          </a:stretch>
        </p:blipFill>
        <p:spPr>
          <a:xfrm>
            <a:off x="539496" y="3337560"/>
            <a:ext cx="274320" cy="274320"/>
          </a:xfrm>
          <a:prstGeom prst="rect">
            <a:avLst/>
          </a:prstGeom>
        </p:spPr>
      </p:pic>
      <p:sp>
        <p:nvSpPr>
          <p:cNvPr id="21" name="TextBox 20"/>
          <p:cNvSpPr txBox="1"/>
          <p:nvPr/>
        </p:nvSpPr>
        <p:spPr>
          <a:xfrm>
            <a:off x="886968" y="3246120"/>
            <a:ext cx="3383280" cy="457200"/>
          </a:xfrm>
          <a:prstGeom prst="rect">
            <a:avLst/>
          </a:prstGeom>
          <a:noFill/>
        </p:spPr>
        <p:txBody>
          <a:bodyPr wrap="square" lIns="18288" tIns="9144" rIns="36576" bIns="9144" anchor="ctr">
            <a:noAutofit/>
          </a:bodyPr>
          <a:lstStyle/>
          <a:p>
            <a:pPr algn="l"/>
            <a:r>
              <a:rPr sz="950" b="1" i="0">
                <a:solidFill>
                  <a:srgbClr val="9B1C24"/>
                </a:solidFill>
                <a:latin typeface="Aptos"/>
              </a:rPr>
              <a:t>Citizens</a:t>
            </a:r>
          </a:p>
          <a:p>
            <a:pPr algn="l"/>
            <a:r>
              <a:rPr sz="850" b="0" i="0">
                <a:solidFill>
                  <a:srgbClr val="5A5555"/>
                </a:solidFill>
                <a:latin typeface="Aptos"/>
              </a:rPr>
              <a:t>write in Tamil, Hindi, English or a mix, often from a phone</a:t>
            </a:r>
          </a:p>
        </p:txBody>
      </p:sp>
      <p:sp>
        <p:nvSpPr>
          <p:cNvPr id="22" name="Rounded Rectangle 21"/>
          <p:cNvSpPr/>
          <p:nvPr/>
        </p:nvSpPr>
        <p:spPr>
          <a:xfrm>
            <a:off x="411480" y="3794759"/>
            <a:ext cx="3931920" cy="457200"/>
          </a:xfrm>
          <a:prstGeom prst="roundRect">
            <a:avLst>
              <a:gd name="adj" fmla="val 16000"/>
            </a:avLst>
          </a:prstGeom>
          <a:solidFill>
            <a:srgbClr val="FFFFFF"/>
          </a:solidFill>
          <a:ln w="9525">
            <a:solidFill>
              <a:srgbClr val="E3DBCF"/>
            </a:solidFill>
          </a:ln>
          <a:effectLst/>
        </p:spPr>
        <p:txBody>
          <a:bodyPr rtlCol="0" anchor="ctr"/>
          <a:lstStyle/>
          <a:p>
            <a:pPr algn="ctr"/>
            <a:endParaRPr/>
          </a:p>
        </p:txBody>
      </p:sp>
      <p:sp>
        <p:nvSpPr>
          <p:cNvPr id="23" name="Rounded Rectangle 22"/>
          <p:cNvSpPr/>
          <p:nvPr/>
        </p:nvSpPr>
        <p:spPr>
          <a:xfrm>
            <a:off x="411480" y="3794759"/>
            <a:ext cx="54864" cy="457200"/>
          </a:xfrm>
          <a:prstGeom prst="roundRect">
            <a:avLst>
              <a:gd name="adj" fmla="val 50000"/>
            </a:avLst>
          </a:prstGeom>
          <a:solidFill>
            <a:srgbClr val="B7791F"/>
          </a:solidFill>
          <a:ln>
            <a:noFill/>
          </a:ln>
          <a:effectLst/>
        </p:spPr>
        <p:txBody>
          <a:bodyPr rtlCol="0" anchor="ctr"/>
          <a:lstStyle/>
          <a:p>
            <a:pPr algn="ctr"/>
            <a:endParaRPr/>
          </a:p>
        </p:txBody>
      </p:sp>
      <p:pic>
        <p:nvPicPr>
          <p:cNvPr id="24" name="Picture 23" descr="image36.png"/>
          <p:cNvPicPr>
            <a:picLocks noChangeAspect="1"/>
          </p:cNvPicPr>
          <p:nvPr/>
        </p:nvPicPr>
        <p:blipFill>
          <a:blip r:embed="rId5"/>
          <a:stretch>
            <a:fillRect/>
          </a:stretch>
        </p:blipFill>
        <p:spPr>
          <a:xfrm>
            <a:off x="539496" y="3886199"/>
            <a:ext cx="274320" cy="274320"/>
          </a:xfrm>
          <a:prstGeom prst="rect">
            <a:avLst/>
          </a:prstGeom>
        </p:spPr>
      </p:pic>
      <p:sp>
        <p:nvSpPr>
          <p:cNvPr id="25" name="TextBox 24"/>
          <p:cNvSpPr txBox="1"/>
          <p:nvPr/>
        </p:nvSpPr>
        <p:spPr>
          <a:xfrm>
            <a:off x="886968" y="3794759"/>
            <a:ext cx="3383280" cy="457200"/>
          </a:xfrm>
          <a:prstGeom prst="rect">
            <a:avLst/>
          </a:prstGeom>
          <a:noFill/>
        </p:spPr>
        <p:txBody>
          <a:bodyPr wrap="square" lIns="18288" tIns="9144" rIns="36576" bIns="9144" anchor="ctr">
            <a:noAutofit/>
          </a:bodyPr>
          <a:lstStyle/>
          <a:p>
            <a:pPr algn="l"/>
            <a:r>
              <a:rPr sz="950" b="1" i="0">
                <a:solidFill>
                  <a:srgbClr val="9B1C24"/>
                </a:solidFill>
                <a:latin typeface="Aptos"/>
              </a:rPr>
              <a:t>Grievance officers</a:t>
            </a:r>
          </a:p>
          <a:p>
            <a:pPr algn="l"/>
            <a:r>
              <a:rPr sz="850" b="0" i="0">
                <a:solidFill>
                  <a:srgbClr val="5A5555"/>
                </a:solidFill>
                <a:latin typeface="Aptos"/>
              </a:rPr>
              <a:t>triage long free text by hand, first-in-first-out</a:t>
            </a:r>
          </a:p>
        </p:txBody>
      </p:sp>
      <p:sp>
        <p:nvSpPr>
          <p:cNvPr id="26" name="Rounded Rectangle 25"/>
          <p:cNvSpPr/>
          <p:nvPr/>
        </p:nvSpPr>
        <p:spPr>
          <a:xfrm>
            <a:off x="411480" y="4343400"/>
            <a:ext cx="3931920" cy="457200"/>
          </a:xfrm>
          <a:prstGeom prst="roundRect">
            <a:avLst>
              <a:gd name="adj" fmla="val 16000"/>
            </a:avLst>
          </a:prstGeom>
          <a:solidFill>
            <a:srgbClr val="FFFFFF"/>
          </a:solidFill>
          <a:ln w="9525">
            <a:solidFill>
              <a:srgbClr val="E3DBCF"/>
            </a:solidFill>
          </a:ln>
          <a:effectLst/>
        </p:spPr>
        <p:txBody>
          <a:bodyPr rtlCol="0" anchor="ctr"/>
          <a:lstStyle/>
          <a:p>
            <a:pPr algn="ctr"/>
            <a:endParaRPr/>
          </a:p>
        </p:txBody>
      </p:sp>
      <p:sp>
        <p:nvSpPr>
          <p:cNvPr id="27" name="Rounded Rectangle 26"/>
          <p:cNvSpPr/>
          <p:nvPr/>
        </p:nvSpPr>
        <p:spPr>
          <a:xfrm>
            <a:off x="411480" y="4343400"/>
            <a:ext cx="54864" cy="457200"/>
          </a:xfrm>
          <a:prstGeom prst="roundRect">
            <a:avLst>
              <a:gd name="adj" fmla="val 50000"/>
            </a:avLst>
          </a:prstGeom>
          <a:solidFill>
            <a:srgbClr val="B7791F"/>
          </a:solidFill>
          <a:ln>
            <a:noFill/>
          </a:ln>
          <a:effectLst/>
        </p:spPr>
        <p:txBody>
          <a:bodyPr rtlCol="0" anchor="ctr"/>
          <a:lstStyle/>
          <a:p>
            <a:pPr algn="ctr"/>
            <a:endParaRPr/>
          </a:p>
        </p:txBody>
      </p:sp>
      <p:pic>
        <p:nvPicPr>
          <p:cNvPr id="28" name="Picture 27" descr="image12_3A3335.png"/>
          <p:cNvPicPr>
            <a:picLocks noChangeAspect="1"/>
          </p:cNvPicPr>
          <p:nvPr/>
        </p:nvPicPr>
        <p:blipFill>
          <a:blip r:embed="rId6"/>
          <a:stretch>
            <a:fillRect/>
          </a:stretch>
        </p:blipFill>
        <p:spPr>
          <a:xfrm>
            <a:off x="556641" y="4434840"/>
            <a:ext cx="240030" cy="274320"/>
          </a:xfrm>
          <a:prstGeom prst="rect">
            <a:avLst/>
          </a:prstGeom>
        </p:spPr>
      </p:pic>
      <p:sp>
        <p:nvSpPr>
          <p:cNvPr id="29" name="TextBox 28"/>
          <p:cNvSpPr txBox="1"/>
          <p:nvPr/>
        </p:nvSpPr>
        <p:spPr>
          <a:xfrm>
            <a:off x="886968" y="4343400"/>
            <a:ext cx="3383280" cy="457200"/>
          </a:xfrm>
          <a:prstGeom prst="rect">
            <a:avLst/>
          </a:prstGeom>
          <a:noFill/>
        </p:spPr>
        <p:txBody>
          <a:bodyPr wrap="square" lIns="18288" tIns="9144" rIns="36576" bIns="9144" anchor="ctr">
            <a:noAutofit/>
          </a:bodyPr>
          <a:lstStyle/>
          <a:p>
            <a:pPr algn="l"/>
            <a:r>
              <a:rPr sz="950" b="1" i="0">
                <a:solidFill>
                  <a:srgbClr val="9B1C24"/>
                </a:solidFill>
                <a:latin typeface="Aptos"/>
              </a:rPr>
              <a:t>Department staff</a:t>
            </a:r>
          </a:p>
          <a:p>
            <a:pPr algn="l"/>
            <a:r>
              <a:rPr sz="850" b="0" i="0">
                <a:solidFill>
                  <a:srgbClr val="5A5555"/>
                </a:solidFill>
                <a:latin typeface="Aptos"/>
              </a:rPr>
              <a:t>receive misrouted, duplicate and incomplete cases</a:t>
            </a:r>
          </a:p>
        </p:txBody>
      </p:sp>
      <p:sp>
        <p:nvSpPr>
          <p:cNvPr id="30" name="Rounded Rectangle 29"/>
          <p:cNvSpPr/>
          <p:nvPr/>
        </p:nvSpPr>
        <p:spPr>
          <a:xfrm>
            <a:off x="4526280" y="3246120"/>
            <a:ext cx="7223760" cy="274320"/>
          </a:xfrm>
          <a:prstGeom prst="roundRect">
            <a:avLst>
              <a:gd name="adj" fmla="val 26666"/>
            </a:avLst>
          </a:prstGeom>
          <a:solidFill>
            <a:srgbClr val="FBE9E9"/>
          </a:solidFill>
          <a:ln w="9525">
            <a:solidFill>
              <a:srgbClr val="F2B8B5"/>
            </a:solidFill>
          </a:ln>
          <a:effectLst/>
        </p:spPr>
        <p:txBody>
          <a:bodyPr rtlCol="0" anchor="ctr"/>
          <a:lstStyle/>
          <a:p>
            <a:pPr algn="ctr"/>
            <a:endParaRPr/>
          </a:p>
        </p:txBody>
      </p:sp>
      <p:sp>
        <p:nvSpPr>
          <p:cNvPr id="31" name="Oval 30"/>
          <p:cNvSpPr/>
          <p:nvPr/>
        </p:nvSpPr>
        <p:spPr>
          <a:xfrm>
            <a:off x="4617720" y="3282696"/>
            <a:ext cx="201167" cy="201167"/>
          </a:xfrm>
          <a:prstGeom prst="ellipse">
            <a:avLst/>
          </a:prstGeom>
          <a:solidFill>
            <a:srgbClr val="E0262D"/>
          </a:solidFill>
          <a:ln>
            <a:noFill/>
          </a:ln>
          <a:effectLst/>
        </p:spPr>
        <p:txBody>
          <a:bodyPr rtlCol="0" anchor="ctr"/>
          <a:lstStyle/>
          <a:p>
            <a:pPr algn="ctr"/>
            <a:endParaRPr/>
          </a:p>
        </p:txBody>
      </p:sp>
      <p:sp>
        <p:nvSpPr>
          <p:cNvPr id="32" name="TextBox 31"/>
          <p:cNvSpPr txBox="1"/>
          <p:nvPr/>
        </p:nvSpPr>
        <p:spPr>
          <a:xfrm>
            <a:off x="4617720" y="3282696"/>
            <a:ext cx="201167" cy="201167"/>
          </a:xfrm>
          <a:prstGeom prst="rect">
            <a:avLst/>
          </a:prstGeom>
          <a:noFill/>
        </p:spPr>
        <p:txBody>
          <a:bodyPr wrap="square" lIns="0" tIns="0" rIns="0" bIns="0" anchor="ctr">
            <a:noAutofit/>
          </a:bodyPr>
          <a:lstStyle/>
          <a:p>
            <a:pPr algn="ctr"/>
            <a:r>
              <a:rPr sz="750" b="1" i="0">
                <a:solidFill>
                  <a:srgbClr val="FFFFFF"/>
                </a:solidFill>
                <a:latin typeface="Aptos"/>
              </a:rPr>
              <a:t>01</a:t>
            </a:r>
          </a:p>
        </p:txBody>
      </p:sp>
      <p:sp>
        <p:nvSpPr>
          <p:cNvPr id="33" name="TextBox 32"/>
          <p:cNvSpPr txBox="1"/>
          <p:nvPr/>
        </p:nvSpPr>
        <p:spPr>
          <a:xfrm>
            <a:off x="4892040" y="3246120"/>
            <a:ext cx="6766560" cy="274320"/>
          </a:xfrm>
          <a:prstGeom prst="rect">
            <a:avLst/>
          </a:prstGeom>
          <a:noFill/>
        </p:spPr>
        <p:txBody>
          <a:bodyPr wrap="square" lIns="18288" tIns="9144" rIns="36576" bIns="9144" anchor="ctr">
            <a:noAutofit/>
          </a:bodyPr>
          <a:lstStyle/>
          <a:p>
            <a:pPr algn="l"/>
            <a:r>
              <a:rPr sz="900" b="1" i="0">
                <a:solidFill>
                  <a:srgbClr val="140C12"/>
                </a:solidFill>
                <a:latin typeface="Aptos"/>
              </a:rPr>
              <a:t>First-in-first-out triage: </a:t>
            </a:r>
            <a:r>
              <a:rPr sz="900" b="0" i="0">
                <a:solidFill>
                  <a:srgbClr val="140C12"/>
                </a:solidFill>
                <a:latin typeface="Aptos"/>
              </a:rPr>
              <a:t>a gas leak waits behind a billing query because nobody reads urgency</a:t>
            </a:r>
          </a:p>
        </p:txBody>
      </p:sp>
      <p:sp>
        <p:nvSpPr>
          <p:cNvPr id="34" name="Rounded Rectangle 33"/>
          <p:cNvSpPr/>
          <p:nvPr/>
        </p:nvSpPr>
        <p:spPr>
          <a:xfrm>
            <a:off x="4526280" y="3566160"/>
            <a:ext cx="7223760" cy="274320"/>
          </a:xfrm>
          <a:prstGeom prst="roundRect">
            <a:avLst>
              <a:gd name="adj" fmla="val 26666"/>
            </a:avLst>
          </a:prstGeom>
          <a:solidFill>
            <a:srgbClr val="FBE9E9"/>
          </a:solidFill>
          <a:ln w="9525">
            <a:solidFill>
              <a:srgbClr val="F2B8B5"/>
            </a:solidFill>
          </a:ln>
          <a:effectLst/>
        </p:spPr>
        <p:txBody>
          <a:bodyPr rtlCol="0" anchor="ctr"/>
          <a:lstStyle/>
          <a:p>
            <a:pPr algn="ctr"/>
            <a:endParaRPr/>
          </a:p>
        </p:txBody>
      </p:sp>
      <p:sp>
        <p:nvSpPr>
          <p:cNvPr id="35" name="Oval 34"/>
          <p:cNvSpPr/>
          <p:nvPr/>
        </p:nvSpPr>
        <p:spPr>
          <a:xfrm>
            <a:off x="4617720" y="3602736"/>
            <a:ext cx="201167" cy="201167"/>
          </a:xfrm>
          <a:prstGeom prst="ellipse">
            <a:avLst/>
          </a:prstGeom>
          <a:solidFill>
            <a:srgbClr val="E0262D"/>
          </a:solidFill>
          <a:ln>
            <a:noFill/>
          </a:ln>
          <a:effectLst/>
        </p:spPr>
        <p:txBody>
          <a:bodyPr rtlCol="0" anchor="ctr"/>
          <a:lstStyle/>
          <a:p>
            <a:pPr algn="ctr"/>
            <a:endParaRPr/>
          </a:p>
        </p:txBody>
      </p:sp>
      <p:sp>
        <p:nvSpPr>
          <p:cNvPr id="36" name="TextBox 35"/>
          <p:cNvSpPr txBox="1"/>
          <p:nvPr/>
        </p:nvSpPr>
        <p:spPr>
          <a:xfrm>
            <a:off x="4617720" y="3602736"/>
            <a:ext cx="201167" cy="201167"/>
          </a:xfrm>
          <a:prstGeom prst="rect">
            <a:avLst/>
          </a:prstGeom>
          <a:noFill/>
        </p:spPr>
        <p:txBody>
          <a:bodyPr wrap="square" lIns="0" tIns="0" rIns="0" bIns="0" anchor="ctr">
            <a:noAutofit/>
          </a:bodyPr>
          <a:lstStyle/>
          <a:p>
            <a:pPr algn="ctr"/>
            <a:r>
              <a:rPr sz="750" b="1" i="0">
                <a:solidFill>
                  <a:srgbClr val="FFFFFF"/>
                </a:solidFill>
                <a:latin typeface="Aptos"/>
              </a:rPr>
              <a:t>02</a:t>
            </a:r>
          </a:p>
        </p:txBody>
      </p:sp>
      <p:sp>
        <p:nvSpPr>
          <p:cNvPr id="37" name="TextBox 36"/>
          <p:cNvSpPr txBox="1"/>
          <p:nvPr/>
        </p:nvSpPr>
        <p:spPr>
          <a:xfrm>
            <a:off x="4892040" y="3566160"/>
            <a:ext cx="6766560" cy="274320"/>
          </a:xfrm>
          <a:prstGeom prst="rect">
            <a:avLst/>
          </a:prstGeom>
          <a:noFill/>
        </p:spPr>
        <p:txBody>
          <a:bodyPr wrap="square" lIns="18288" tIns="9144" rIns="36576" bIns="9144" anchor="ctr">
            <a:noAutofit/>
          </a:bodyPr>
          <a:lstStyle/>
          <a:p>
            <a:pPr algn="l"/>
            <a:r>
              <a:rPr sz="900" b="1" i="0">
                <a:solidFill>
                  <a:srgbClr val="140C12"/>
                </a:solidFill>
                <a:latin typeface="Aptos"/>
              </a:rPr>
              <a:t>Misrouting </a:t>
            </a:r>
            <a:r>
              <a:rPr sz="900" b="0" i="0">
                <a:solidFill>
                  <a:srgbClr val="140C12"/>
                </a:solidFill>
                <a:latin typeface="Aptos"/>
              </a:rPr>
              <a:t>adds days per hop as complaints bounce between departments</a:t>
            </a:r>
          </a:p>
        </p:txBody>
      </p:sp>
      <p:sp>
        <p:nvSpPr>
          <p:cNvPr id="38" name="Rounded Rectangle 37"/>
          <p:cNvSpPr/>
          <p:nvPr/>
        </p:nvSpPr>
        <p:spPr>
          <a:xfrm>
            <a:off x="4526280" y="3886200"/>
            <a:ext cx="7223760" cy="274320"/>
          </a:xfrm>
          <a:prstGeom prst="roundRect">
            <a:avLst>
              <a:gd name="adj" fmla="val 26666"/>
            </a:avLst>
          </a:prstGeom>
          <a:solidFill>
            <a:srgbClr val="FBE9E9"/>
          </a:solidFill>
          <a:ln w="9525">
            <a:solidFill>
              <a:srgbClr val="F2B8B5"/>
            </a:solidFill>
          </a:ln>
          <a:effectLst/>
        </p:spPr>
        <p:txBody>
          <a:bodyPr rtlCol="0" anchor="ctr"/>
          <a:lstStyle/>
          <a:p>
            <a:pPr algn="ctr"/>
            <a:endParaRPr/>
          </a:p>
        </p:txBody>
      </p:sp>
      <p:sp>
        <p:nvSpPr>
          <p:cNvPr id="39" name="Oval 38"/>
          <p:cNvSpPr/>
          <p:nvPr/>
        </p:nvSpPr>
        <p:spPr>
          <a:xfrm>
            <a:off x="4617720" y="3922776"/>
            <a:ext cx="201167" cy="201167"/>
          </a:xfrm>
          <a:prstGeom prst="ellipse">
            <a:avLst/>
          </a:prstGeom>
          <a:solidFill>
            <a:srgbClr val="E0262D"/>
          </a:solidFill>
          <a:ln>
            <a:noFill/>
          </a:ln>
          <a:effectLst/>
        </p:spPr>
        <p:txBody>
          <a:bodyPr rtlCol="0" anchor="ctr"/>
          <a:lstStyle/>
          <a:p>
            <a:pPr algn="ctr"/>
            <a:endParaRPr/>
          </a:p>
        </p:txBody>
      </p:sp>
      <p:sp>
        <p:nvSpPr>
          <p:cNvPr id="40" name="TextBox 39"/>
          <p:cNvSpPr txBox="1"/>
          <p:nvPr/>
        </p:nvSpPr>
        <p:spPr>
          <a:xfrm>
            <a:off x="4617720" y="3922776"/>
            <a:ext cx="201167" cy="201167"/>
          </a:xfrm>
          <a:prstGeom prst="rect">
            <a:avLst/>
          </a:prstGeom>
          <a:noFill/>
        </p:spPr>
        <p:txBody>
          <a:bodyPr wrap="square" lIns="0" tIns="0" rIns="0" bIns="0" anchor="ctr">
            <a:noAutofit/>
          </a:bodyPr>
          <a:lstStyle/>
          <a:p>
            <a:pPr algn="ctr"/>
            <a:r>
              <a:rPr sz="750" b="1" i="0">
                <a:solidFill>
                  <a:srgbClr val="FFFFFF"/>
                </a:solidFill>
                <a:latin typeface="Aptos"/>
              </a:rPr>
              <a:t>03</a:t>
            </a:r>
          </a:p>
        </p:txBody>
      </p:sp>
      <p:sp>
        <p:nvSpPr>
          <p:cNvPr id="41" name="TextBox 40"/>
          <p:cNvSpPr txBox="1"/>
          <p:nvPr/>
        </p:nvSpPr>
        <p:spPr>
          <a:xfrm>
            <a:off x="4892040" y="3886200"/>
            <a:ext cx="6766560" cy="274320"/>
          </a:xfrm>
          <a:prstGeom prst="rect">
            <a:avLst/>
          </a:prstGeom>
          <a:noFill/>
        </p:spPr>
        <p:txBody>
          <a:bodyPr wrap="square" lIns="18288" tIns="9144" rIns="36576" bIns="9144" anchor="ctr">
            <a:noAutofit/>
          </a:bodyPr>
          <a:lstStyle/>
          <a:p>
            <a:pPr algn="l"/>
            <a:r>
              <a:rPr sz="900" b="1" i="0">
                <a:solidFill>
                  <a:srgbClr val="140C12"/>
                </a:solidFill>
                <a:latin typeface="Aptos"/>
              </a:rPr>
              <a:t>Duplicates </a:t>
            </a:r>
            <a:r>
              <a:rPr sz="900" b="0" i="0">
                <a:solidFill>
                  <a:srgbClr val="140C12"/>
                </a:solidFill>
                <a:latin typeface="Aptos"/>
              </a:rPr>
              <a:t>pile up when the same issue is filed again by many citizens</a:t>
            </a:r>
          </a:p>
        </p:txBody>
      </p:sp>
      <p:sp>
        <p:nvSpPr>
          <p:cNvPr id="42" name="Rounded Rectangle 41"/>
          <p:cNvSpPr/>
          <p:nvPr/>
        </p:nvSpPr>
        <p:spPr>
          <a:xfrm>
            <a:off x="4526280" y="4206240"/>
            <a:ext cx="7223760" cy="274320"/>
          </a:xfrm>
          <a:prstGeom prst="roundRect">
            <a:avLst>
              <a:gd name="adj" fmla="val 26666"/>
            </a:avLst>
          </a:prstGeom>
          <a:solidFill>
            <a:srgbClr val="FBE9E9"/>
          </a:solidFill>
          <a:ln w="9525">
            <a:solidFill>
              <a:srgbClr val="F2B8B5"/>
            </a:solidFill>
          </a:ln>
          <a:effectLst/>
        </p:spPr>
        <p:txBody>
          <a:bodyPr rtlCol="0" anchor="ctr"/>
          <a:lstStyle/>
          <a:p>
            <a:pPr algn="ctr"/>
            <a:endParaRPr/>
          </a:p>
        </p:txBody>
      </p:sp>
      <p:sp>
        <p:nvSpPr>
          <p:cNvPr id="43" name="Oval 42"/>
          <p:cNvSpPr/>
          <p:nvPr/>
        </p:nvSpPr>
        <p:spPr>
          <a:xfrm>
            <a:off x="4617720" y="4242816"/>
            <a:ext cx="201167" cy="201167"/>
          </a:xfrm>
          <a:prstGeom prst="ellipse">
            <a:avLst/>
          </a:prstGeom>
          <a:solidFill>
            <a:srgbClr val="E0262D"/>
          </a:solidFill>
          <a:ln>
            <a:noFill/>
          </a:ln>
          <a:effectLst/>
        </p:spPr>
        <p:txBody>
          <a:bodyPr rtlCol="0" anchor="ctr"/>
          <a:lstStyle/>
          <a:p>
            <a:pPr algn="ctr"/>
            <a:endParaRPr/>
          </a:p>
        </p:txBody>
      </p:sp>
      <p:sp>
        <p:nvSpPr>
          <p:cNvPr id="44" name="TextBox 43"/>
          <p:cNvSpPr txBox="1"/>
          <p:nvPr/>
        </p:nvSpPr>
        <p:spPr>
          <a:xfrm>
            <a:off x="4617720" y="4242816"/>
            <a:ext cx="201167" cy="201167"/>
          </a:xfrm>
          <a:prstGeom prst="rect">
            <a:avLst/>
          </a:prstGeom>
          <a:noFill/>
        </p:spPr>
        <p:txBody>
          <a:bodyPr wrap="square" lIns="0" tIns="0" rIns="0" bIns="0" anchor="ctr">
            <a:noAutofit/>
          </a:bodyPr>
          <a:lstStyle/>
          <a:p>
            <a:pPr algn="ctr"/>
            <a:r>
              <a:rPr sz="750" b="1" i="0">
                <a:solidFill>
                  <a:srgbClr val="FFFFFF"/>
                </a:solidFill>
                <a:latin typeface="Aptos"/>
              </a:rPr>
              <a:t>04</a:t>
            </a:r>
          </a:p>
        </p:txBody>
      </p:sp>
      <p:sp>
        <p:nvSpPr>
          <p:cNvPr id="45" name="TextBox 44"/>
          <p:cNvSpPr txBox="1"/>
          <p:nvPr/>
        </p:nvSpPr>
        <p:spPr>
          <a:xfrm>
            <a:off x="4892040" y="4206240"/>
            <a:ext cx="6766560" cy="274320"/>
          </a:xfrm>
          <a:prstGeom prst="rect">
            <a:avLst/>
          </a:prstGeom>
          <a:noFill/>
        </p:spPr>
        <p:txBody>
          <a:bodyPr wrap="square" lIns="18288" tIns="9144" rIns="36576" bIns="9144" anchor="ctr">
            <a:noAutofit/>
          </a:bodyPr>
          <a:lstStyle/>
          <a:p>
            <a:pPr algn="l"/>
            <a:r>
              <a:rPr sz="900" b="1" i="0">
                <a:solidFill>
                  <a:srgbClr val="140C12"/>
                </a:solidFill>
                <a:latin typeface="Aptos"/>
              </a:rPr>
              <a:t>Informal or non-English writers </a:t>
            </a:r>
            <a:r>
              <a:rPr sz="900" b="0" i="0">
                <a:solidFill>
                  <a:srgbClr val="140C12"/>
                </a:solidFill>
                <a:latin typeface="Aptos"/>
              </a:rPr>
              <a:t>get slower and worse service than fluent English complainants</a:t>
            </a:r>
          </a:p>
        </p:txBody>
      </p:sp>
      <p:sp>
        <p:nvSpPr>
          <p:cNvPr id="46" name="Rounded Rectangle 45"/>
          <p:cNvSpPr/>
          <p:nvPr/>
        </p:nvSpPr>
        <p:spPr>
          <a:xfrm>
            <a:off x="4526280" y="4526279"/>
            <a:ext cx="7223760" cy="274320"/>
          </a:xfrm>
          <a:prstGeom prst="roundRect">
            <a:avLst>
              <a:gd name="adj" fmla="val 26666"/>
            </a:avLst>
          </a:prstGeom>
          <a:solidFill>
            <a:srgbClr val="FBE9E9"/>
          </a:solidFill>
          <a:ln w="9525">
            <a:solidFill>
              <a:srgbClr val="F2B8B5"/>
            </a:solidFill>
          </a:ln>
          <a:effectLst/>
        </p:spPr>
        <p:txBody>
          <a:bodyPr rtlCol="0" anchor="ctr"/>
          <a:lstStyle/>
          <a:p>
            <a:pPr algn="ctr"/>
            <a:endParaRPr/>
          </a:p>
        </p:txBody>
      </p:sp>
      <p:sp>
        <p:nvSpPr>
          <p:cNvPr id="47" name="Oval 46"/>
          <p:cNvSpPr/>
          <p:nvPr/>
        </p:nvSpPr>
        <p:spPr>
          <a:xfrm>
            <a:off x="4617720" y="4562855"/>
            <a:ext cx="201167" cy="201167"/>
          </a:xfrm>
          <a:prstGeom prst="ellipse">
            <a:avLst/>
          </a:prstGeom>
          <a:solidFill>
            <a:srgbClr val="E0262D"/>
          </a:solidFill>
          <a:ln>
            <a:noFill/>
          </a:ln>
          <a:effectLst/>
        </p:spPr>
        <p:txBody>
          <a:bodyPr rtlCol="0" anchor="ctr"/>
          <a:lstStyle/>
          <a:p>
            <a:pPr algn="ctr"/>
            <a:endParaRPr/>
          </a:p>
        </p:txBody>
      </p:sp>
      <p:sp>
        <p:nvSpPr>
          <p:cNvPr id="48" name="TextBox 47"/>
          <p:cNvSpPr txBox="1"/>
          <p:nvPr/>
        </p:nvSpPr>
        <p:spPr>
          <a:xfrm>
            <a:off x="4617720" y="4562855"/>
            <a:ext cx="201167" cy="201167"/>
          </a:xfrm>
          <a:prstGeom prst="rect">
            <a:avLst/>
          </a:prstGeom>
          <a:noFill/>
        </p:spPr>
        <p:txBody>
          <a:bodyPr wrap="square" lIns="0" tIns="0" rIns="0" bIns="0" anchor="ctr">
            <a:noAutofit/>
          </a:bodyPr>
          <a:lstStyle/>
          <a:p>
            <a:pPr algn="ctr"/>
            <a:r>
              <a:rPr sz="750" b="1" i="0">
                <a:solidFill>
                  <a:srgbClr val="FFFFFF"/>
                </a:solidFill>
                <a:latin typeface="Aptos"/>
              </a:rPr>
              <a:t>05</a:t>
            </a:r>
          </a:p>
        </p:txBody>
      </p:sp>
      <p:sp>
        <p:nvSpPr>
          <p:cNvPr id="49" name="TextBox 48"/>
          <p:cNvSpPr txBox="1"/>
          <p:nvPr/>
        </p:nvSpPr>
        <p:spPr>
          <a:xfrm>
            <a:off x="4892040" y="4526279"/>
            <a:ext cx="6766560" cy="274320"/>
          </a:xfrm>
          <a:prstGeom prst="rect">
            <a:avLst/>
          </a:prstGeom>
          <a:noFill/>
        </p:spPr>
        <p:txBody>
          <a:bodyPr wrap="square" lIns="18288" tIns="9144" rIns="36576" bIns="9144" anchor="ctr">
            <a:noAutofit/>
          </a:bodyPr>
          <a:lstStyle/>
          <a:p>
            <a:pPr algn="l"/>
            <a:r>
              <a:rPr sz="900" b="1" i="0">
                <a:solidFill>
                  <a:srgbClr val="140C12"/>
                </a:solidFill>
                <a:latin typeface="Aptos"/>
              </a:rPr>
              <a:t>Silence after filing: </a:t>
            </a:r>
            <a:r>
              <a:rPr sz="900" b="0" i="0">
                <a:solidFill>
                  <a:srgbClr val="140C12"/>
                </a:solidFill>
                <a:latin typeface="Aptos"/>
              </a:rPr>
              <a:t>no acknowledgement, no status, no idea who is handling the case</a:t>
            </a:r>
          </a:p>
        </p:txBody>
      </p:sp>
      <p:sp>
        <p:nvSpPr>
          <p:cNvPr id="50" name="Rounded Rectangle 49"/>
          <p:cNvSpPr/>
          <p:nvPr/>
        </p:nvSpPr>
        <p:spPr>
          <a:xfrm>
            <a:off x="411480" y="4892040"/>
            <a:ext cx="11338560" cy="292608"/>
          </a:xfrm>
          <a:prstGeom prst="roundRect">
            <a:avLst>
              <a:gd name="adj" fmla="val 18750"/>
            </a:avLst>
          </a:prstGeom>
          <a:solidFill>
            <a:srgbClr val="9B1C24"/>
          </a:solidFill>
          <a:ln>
            <a:noFill/>
          </a:ln>
          <a:effectLst/>
        </p:spPr>
        <p:txBody>
          <a:bodyPr rtlCol="0" anchor="ctr"/>
          <a:lstStyle/>
          <a:p>
            <a:pPr algn="ctr"/>
            <a:endParaRPr/>
          </a:p>
        </p:txBody>
      </p:sp>
      <p:pic>
        <p:nvPicPr>
          <p:cNvPr id="51" name="Picture 50" descr="image28.png"/>
          <p:cNvPicPr>
            <a:picLocks noChangeAspect="1"/>
          </p:cNvPicPr>
          <p:nvPr/>
        </p:nvPicPr>
        <p:blipFill>
          <a:blip r:embed="rId7"/>
          <a:stretch>
            <a:fillRect/>
          </a:stretch>
        </p:blipFill>
        <p:spPr>
          <a:xfrm>
            <a:off x="544068" y="4946903"/>
            <a:ext cx="137160" cy="182880"/>
          </a:xfrm>
          <a:prstGeom prst="rect">
            <a:avLst/>
          </a:prstGeom>
        </p:spPr>
      </p:pic>
      <p:sp>
        <p:nvSpPr>
          <p:cNvPr id="52" name="TextBox 51"/>
          <p:cNvSpPr txBox="1"/>
          <p:nvPr/>
        </p:nvSpPr>
        <p:spPr>
          <a:xfrm>
            <a:off x="795528" y="4892040"/>
            <a:ext cx="10863072" cy="292608"/>
          </a:xfrm>
          <a:prstGeom prst="rect">
            <a:avLst/>
          </a:prstGeom>
          <a:noFill/>
        </p:spPr>
        <p:txBody>
          <a:bodyPr wrap="square" lIns="18288" tIns="0" rIns="18288" bIns="0" anchor="ctr">
            <a:noAutofit/>
          </a:bodyPr>
          <a:lstStyle/>
          <a:p>
            <a:pPr algn="l"/>
            <a:r>
              <a:rPr sz="1000" b="1" i="0">
                <a:solidFill>
                  <a:srgbClr val="FFFFFF"/>
                </a:solidFill>
                <a:latin typeface="Aptos"/>
              </a:rPr>
              <a:t>SUCCESS OUTCOME  ·  measured on the build laptop, 15 October 2026</a:t>
            </a:r>
          </a:p>
        </p:txBody>
      </p:sp>
      <p:sp>
        <p:nvSpPr>
          <p:cNvPr id="53" name="Rounded Rectangle 52"/>
          <p:cNvSpPr/>
          <p:nvPr/>
        </p:nvSpPr>
        <p:spPr>
          <a:xfrm>
            <a:off x="411480" y="5257800"/>
            <a:ext cx="1798320" cy="1097280"/>
          </a:xfrm>
          <a:prstGeom prst="roundRect">
            <a:avLst>
              <a:gd name="adj" fmla="val 8333"/>
            </a:avLst>
          </a:prstGeom>
          <a:solidFill>
            <a:srgbClr val="FFFFFF"/>
          </a:solidFill>
          <a:ln w="9525">
            <a:solidFill>
              <a:srgbClr val="E3DBCF"/>
            </a:solidFill>
          </a:ln>
          <a:effectLst/>
        </p:spPr>
        <p:txBody>
          <a:bodyPr rtlCol="0" anchor="ctr"/>
          <a:lstStyle/>
          <a:p>
            <a:pPr algn="ctr"/>
            <a:endParaRPr/>
          </a:p>
        </p:txBody>
      </p:sp>
      <p:sp>
        <p:nvSpPr>
          <p:cNvPr id="54" name="Rectangle 53"/>
          <p:cNvSpPr/>
          <p:nvPr/>
        </p:nvSpPr>
        <p:spPr>
          <a:xfrm>
            <a:off x="521208" y="5257800"/>
            <a:ext cx="1578864" cy="45720"/>
          </a:xfrm>
          <a:prstGeom prst="rect">
            <a:avLst/>
          </a:prstGeom>
          <a:solidFill>
            <a:srgbClr val="9B1C24"/>
          </a:solidFill>
          <a:ln>
            <a:noFill/>
          </a:ln>
          <a:effectLst/>
        </p:spPr>
        <p:txBody>
          <a:bodyPr rtlCol="0" anchor="ctr"/>
          <a:lstStyle/>
          <a:p>
            <a:pPr algn="ctr"/>
            <a:endParaRPr/>
          </a:p>
        </p:txBody>
      </p:sp>
      <p:sp>
        <p:nvSpPr>
          <p:cNvPr id="55" name="TextBox 54"/>
          <p:cNvSpPr txBox="1"/>
          <p:nvPr/>
        </p:nvSpPr>
        <p:spPr>
          <a:xfrm>
            <a:off x="411480" y="5349240"/>
            <a:ext cx="1798320" cy="457200"/>
          </a:xfrm>
          <a:prstGeom prst="rect">
            <a:avLst/>
          </a:prstGeom>
          <a:noFill/>
        </p:spPr>
        <p:txBody>
          <a:bodyPr wrap="square" lIns="18288" tIns="0" rIns="18288" bIns="0" anchor="ctr">
            <a:noAutofit/>
          </a:bodyPr>
          <a:lstStyle/>
          <a:p>
            <a:pPr algn="ctr"/>
            <a:r>
              <a:rPr sz="2000" b="1" i="0">
                <a:solidFill>
                  <a:srgbClr val="9B1C24"/>
                </a:solidFill>
                <a:latin typeface="Aptos"/>
              </a:rPr>
              <a:t>&lt; 1 s</a:t>
            </a:r>
          </a:p>
        </p:txBody>
      </p:sp>
      <p:sp>
        <p:nvSpPr>
          <p:cNvPr id="56" name="TextBox 55"/>
          <p:cNvSpPr txBox="1"/>
          <p:nvPr/>
        </p:nvSpPr>
        <p:spPr>
          <a:xfrm>
            <a:off x="457200" y="5806440"/>
            <a:ext cx="1706880" cy="502919"/>
          </a:xfrm>
          <a:prstGeom prst="rect">
            <a:avLst/>
          </a:prstGeom>
          <a:noFill/>
        </p:spPr>
        <p:txBody>
          <a:bodyPr wrap="square" lIns="18288" tIns="0" rIns="18288" bIns="0" anchor="t">
            <a:noAutofit/>
          </a:bodyPr>
          <a:lstStyle/>
          <a:p>
            <a:pPr algn="ctr"/>
            <a:r>
              <a:rPr sz="850" b="0" i="0">
                <a:solidFill>
                  <a:srgbClr val="140C12"/>
                </a:solidFill>
                <a:latin typeface="Aptos"/>
              </a:rPr>
              <a:t>acknowledgement with a tracking ID, in the citizen's language</a:t>
            </a:r>
          </a:p>
        </p:txBody>
      </p:sp>
      <p:sp>
        <p:nvSpPr>
          <p:cNvPr id="57" name="Rounded Rectangle 56"/>
          <p:cNvSpPr/>
          <p:nvPr/>
        </p:nvSpPr>
        <p:spPr>
          <a:xfrm>
            <a:off x="2319528" y="5257800"/>
            <a:ext cx="1798320" cy="1097280"/>
          </a:xfrm>
          <a:prstGeom prst="roundRect">
            <a:avLst>
              <a:gd name="adj" fmla="val 8333"/>
            </a:avLst>
          </a:prstGeom>
          <a:solidFill>
            <a:srgbClr val="FFFFFF"/>
          </a:solidFill>
          <a:ln w="9525">
            <a:solidFill>
              <a:srgbClr val="E3DBCF"/>
            </a:solidFill>
          </a:ln>
          <a:effectLst/>
        </p:spPr>
        <p:txBody>
          <a:bodyPr rtlCol="0" anchor="ctr"/>
          <a:lstStyle/>
          <a:p>
            <a:pPr algn="ctr"/>
            <a:endParaRPr/>
          </a:p>
        </p:txBody>
      </p:sp>
      <p:sp>
        <p:nvSpPr>
          <p:cNvPr id="58" name="Rectangle 57"/>
          <p:cNvSpPr/>
          <p:nvPr/>
        </p:nvSpPr>
        <p:spPr>
          <a:xfrm>
            <a:off x="2429256" y="5257800"/>
            <a:ext cx="1578864" cy="45720"/>
          </a:xfrm>
          <a:prstGeom prst="rect">
            <a:avLst/>
          </a:prstGeom>
          <a:solidFill>
            <a:srgbClr val="B7791F"/>
          </a:solidFill>
          <a:ln>
            <a:noFill/>
          </a:ln>
          <a:effectLst/>
        </p:spPr>
        <p:txBody>
          <a:bodyPr rtlCol="0" anchor="ctr"/>
          <a:lstStyle/>
          <a:p>
            <a:pPr algn="ctr"/>
            <a:endParaRPr/>
          </a:p>
        </p:txBody>
      </p:sp>
      <p:sp>
        <p:nvSpPr>
          <p:cNvPr id="59" name="TextBox 58"/>
          <p:cNvSpPr txBox="1"/>
          <p:nvPr/>
        </p:nvSpPr>
        <p:spPr>
          <a:xfrm>
            <a:off x="2319528" y="5349240"/>
            <a:ext cx="1798320" cy="457200"/>
          </a:xfrm>
          <a:prstGeom prst="rect">
            <a:avLst/>
          </a:prstGeom>
          <a:noFill/>
        </p:spPr>
        <p:txBody>
          <a:bodyPr wrap="square" lIns="18288" tIns="0" rIns="18288" bIns="0" anchor="ctr">
            <a:noAutofit/>
          </a:bodyPr>
          <a:lstStyle/>
          <a:p>
            <a:pPr algn="ctr"/>
            <a:r>
              <a:rPr sz="2000" b="1" i="0">
                <a:solidFill>
                  <a:srgbClr val="B7791F"/>
                </a:solidFill>
                <a:latin typeface="Aptos"/>
              </a:rPr>
              <a:t>~20 s</a:t>
            </a:r>
          </a:p>
        </p:txBody>
      </p:sp>
      <p:sp>
        <p:nvSpPr>
          <p:cNvPr id="60" name="TextBox 59"/>
          <p:cNvSpPr txBox="1"/>
          <p:nvPr/>
        </p:nvSpPr>
        <p:spPr>
          <a:xfrm>
            <a:off x="2365248" y="5806440"/>
            <a:ext cx="1706880" cy="502919"/>
          </a:xfrm>
          <a:prstGeom prst="rect">
            <a:avLst/>
          </a:prstGeom>
          <a:noFill/>
        </p:spPr>
        <p:txBody>
          <a:bodyPr wrap="square" lIns="18288" tIns="0" rIns="18288" bIns="0" anchor="t">
            <a:noAutofit/>
          </a:bodyPr>
          <a:lstStyle/>
          <a:p>
            <a:pPr algn="ctr"/>
            <a:r>
              <a:rPr sz="850" b="0" i="0">
                <a:solidFill>
                  <a:srgbClr val="140C12"/>
                </a:solidFill>
                <a:latin typeface="Aptos"/>
              </a:rPr>
              <a:t>full analysis of text and photo on local hardware, no cloud</a:t>
            </a:r>
          </a:p>
        </p:txBody>
      </p:sp>
      <p:sp>
        <p:nvSpPr>
          <p:cNvPr id="61" name="Rounded Rectangle 60"/>
          <p:cNvSpPr/>
          <p:nvPr/>
        </p:nvSpPr>
        <p:spPr>
          <a:xfrm>
            <a:off x="4227576" y="5257800"/>
            <a:ext cx="1798320" cy="1097280"/>
          </a:xfrm>
          <a:prstGeom prst="roundRect">
            <a:avLst>
              <a:gd name="adj" fmla="val 8333"/>
            </a:avLst>
          </a:prstGeom>
          <a:solidFill>
            <a:srgbClr val="FFFFFF"/>
          </a:solidFill>
          <a:ln w="9525">
            <a:solidFill>
              <a:srgbClr val="E3DBCF"/>
            </a:solidFill>
          </a:ln>
          <a:effectLst/>
        </p:spPr>
        <p:txBody>
          <a:bodyPr rtlCol="0" anchor="ctr"/>
          <a:lstStyle/>
          <a:p>
            <a:pPr algn="ctr"/>
            <a:endParaRPr/>
          </a:p>
        </p:txBody>
      </p:sp>
      <p:sp>
        <p:nvSpPr>
          <p:cNvPr id="62" name="Rectangle 61"/>
          <p:cNvSpPr/>
          <p:nvPr/>
        </p:nvSpPr>
        <p:spPr>
          <a:xfrm>
            <a:off x="4337304" y="5257800"/>
            <a:ext cx="1578864" cy="45720"/>
          </a:xfrm>
          <a:prstGeom prst="rect">
            <a:avLst/>
          </a:prstGeom>
          <a:solidFill>
            <a:srgbClr val="B7791F"/>
          </a:solidFill>
          <a:ln>
            <a:noFill/>
          </a:ln>
          <a:effectLst/>
        </p:spPr>
        <p:txBody>
          <a:bodyPr rtlCol="0" anchor="ctr"/>
          <a:lstStyle/>
          <a:p>
            <a:pPr algn="ctr"/>
            <a:endParaRPr/>
          </a:p>
        </p:txBody>
      </p:sp>
      <p:sp>
        <p:nvSpPr>
          <p:cNvPr id="63" name="TextBox 62"/>
          <p:cNvSpPr txBox="1"/>
          <p:nvPr/>
        </p:nvSpPr>
        <p:spPr>
          <a:xfrm>
            <a:off x="4227576" y="5349240"/>
            <a:ext cx="1798320" cy="457200"/>
          </a:xfrm>
          <a:prstGeom prst="rect">
            <a:avLst/>
          </a:prstGeom>
          <a:noFill/>
        </p:spPr>
        <p:txBody>
          <a:bodyPr wrap="square" lIns="18288" tIns="0" rIns="18288" bIns="0" anchor="ctr">
            <a:noAutofit/>
          </a:bodyPr>
          <a:lstStyle/>
          <a:p>
            <a:pPr algn="ctr"/>
            <a:r>
              <a:rPr sz="2000" b="1" i="0">
                <a:solidFill>
                  <a:srgbClr val="B7791F"/>
                </a:solidFill>
                <a:latin typeface="Aptos"/>
              </a:rPr>
              <a:t>100%</a:t>
            </a:r>
          </a:p>
        </p:txBody>
      </p:sp>
      <p:sp>
        <p:nvSpPr>
          <p:cNvPr id="64" name="TextBox 63"/>
          <p:cNvSpPr txBox="1"/>
          <p:nvPr/>
        </p:nvSpPr>
        <p:spPr>
          <a:xfrm>
            <a:off x="4273296" y="5806440"/>
            <a:ext cx="1706880" cy="502919"/>
          </a:xfrm>
          <a:prstGeom prst="rect">
            <a:avLst/>
          </a:prstGeom>
          <a:noFill/>
        </p:spPr>
        <p:txBody>
          <a:bodyPr wrap="square" lIns="18288" tIns="0" rIns="18288" bIns="0" anchor="t">
            <a:noAutofit/>
          </a:bodyPr>
          <a:lstStyle/>
          <a:p>
            <a:pPr algn="ctr"/>
            <a:r>
              <a:rPr sz="850" b="0" i="0">
                <a:solidFill>
                  <a:srgbClr val="140C12"/>
                </a:solidFill>
                <a:latin typeface="Aptos"/>
              </a:rPr>
              <a:t>Critical cases reach a human (gold set, 4 of 4)</a:t>
            </a:r>
          </a:p>
        </p:txBody>
      </p:sp>
      <p:sp>
        <p:nvSpPr>
          <p:cNvPr id="65" name="Rounded Rectangle 64"/>
          <p:cNvSpPr/>
          <p:nvPr/>
        </p:nvSpPr>
        <p:spPr>
          <a:xfrm>
            <a:off x="6135624" y="5257800"/>
            <a:ext cx="1798320" cy="1097280"/>
          </a:xfrm>
          <a:prstGeom prst="roundRect">
            <a:avLst>
              <a:gd name="adj" fmla="val 8333"/>
            </a:avLst>
          </a:prstGeom>
          <a:solidFill>
            <a:srgbClr val="FFFFFF"/>
          </a:solidFill>
          <a:ln w="9525">
            <a:solidFill>
              <a:srgbClr val="E3DBCF"/>
            </a:solidFill>
          </a:ln>
          <a:effectLst/>
        </p:spPr>
        <p:txBody>
          <a:bodyPr rtlCol="0" anchor="ctr"/>
          <a:lstStyle/>
          <a:p>
            <a:pPr algn="ctr"/>
            <a:endParaRPr/>
          </a:p>
        </p:txBody>
      </p:sp>
      <p:sp>
        <p:nvSpPr>
          <p:cNvPr id="66" name="Rectangle 65"/>
          <p:cNvSpPr/>
          <p:nvPr/>
        </p:nvSpPr>
        <p:spPr>
          <a:xfrm>
            <a:off x="6245352" y="5257800"/>
            <a:ext cx="1578864" cy="45720"/>
          </a:xfrm>
          <a:prstGeom prst="rect">
            <a:avLst/>
          </a:prstGeom>
          <a:solidFill>
            <a:srgbClr val="B7791F"/>
          </a:solidFill>
          <a:ln>
            <a:noFill/>
          </a:ln>
          <a:effectLst/>
        </p:spPr>
        <p:txBody>
          <a:bodyPr rtlCol="0" anchor="ctr"/>
          <a:lstStyle/>
          <a:p>
            <a:pPr algn="ctr"/>
            <a:endParaRPr/>
          </a:p>
        </p:txBody>
      </p:sp>
      <p:sp>
        <p:nvSpPr>
          <p:cNvPr id="67" name="TextBox 66"/>
          <p:cNvSpPr txBox="1"/>
          <p:nvPr/>
        </p:nvSpPr>
        <p:spPr>
          <a:xfrm>
            <a:off x="6135624" y="5349240"/>
            <a:ext cx="1798320" cy="457200"/>
          </a:xfrm>
          <a:prstGeom prst="rect">
            <a:avLst/>
          </a:prstGeom>
          <a:noFill/>
        </p:spPr>
        <p:txBody>
          <a:bodyPr wrap="square" lIns="18288" tIns="0" rIns="18288" bIns="0" anchor="ctr">
            <a:noAutofit/>
          </a:bodyPr>
          <a:lstStyle/>
          <a:p>
            <a:pPr algn="ctr"/>
            <a:r>
              <a:rPr lang="en-US" sz="2000" b="1" dirty="0">
                <a:solidFill>
                  <a:srgbClr val="B7791F"/>
                </a:solidFill>
                <a:latin typeface="Aptos"/>
              </a:rPr>
              <a:t>99</a:t>
            </a:r>
            <a:r>
              <a:rPr sz="2000" b="1" i="0" dirty="0">
                <a:solidFill>
                  <a:srgbClr val="B7791F"/>
                </a:solidFill>
                <a:latin typeface="Aptos"/>
              </a:rPr>
              <a:t>%</a:t>
            </a:r>
          </a:p>
        </p:txBody>
      </p:sp>
      <p:sp>
        <p:nvSpPr>
          <p:cNvPr id="68" name="TextBox 67"/>
          <p:cNvSpPr txBox="1"/>
          <p:nvPr/>
        </p:nvSpPr>
        <p:spPr>
          <a:xfrm>
            <a:off x="6181344" y="5806440"/>
            <a:ext cx="1706880" cy="502919"/>
          </a:xfrm>
          <a:prstGeom prst="rect">
            <a:avLst/>
          </a:prstGeom>
          <a:noFill/>
        </p:spPr>
        <p:txBody>
          <a:bodyPr wrap="square" lIns="18288" tIns="0" rIns="18288" bIns="0" anchor="t">
            <a:noAutofit/>
          </a:bodyPr>
          <a:lstStyle/>
          <a:p>
            <a:pPr algn="ctr"/>
            <a:r>
              <a:rPr sz="850" b="0" i="0">
                <a:solidFill>
                  <a:srgbClr val="140C12"/>
                </a:solidFill>
                <a:latin typeface="Aptos"/>
              </a:rPr>
              <a:t>department accuracy with rules on the gold set (model alone 75%)</a:t>
            </a:r>
          </a:p>
        </p:txBody>
      </p:sp>
      <p:sp>
        <p:nvSpPr>
          <p:cNvPr id="69" name="Rounded Rectangle 68"/>
          <p:cNvSpPr/>
          <p:nvPr/>
        </p:nvSpPr>
        <p:spPr>
          <a:xfrm>
            <a:off x="8043672" y="5257800"/>
            <a:ext cx="1798320" cy="1097280"/>
          </a:xfrm>
          <a:prstGeom prst="roundRect">
            <a:avLst>
              <a:gd name="adj" fmla="val 8333"/>
            </a:avLst>
          </a:prstGeom>
          <a:solidFill>
            <a:srgbClr val="FFFFFF"/>
          </a:solidFill>
          <a:ln w="9525">
            <a:solidFill>
              <a:srgbClr val="E3DBCF"/>
            </a:solidFill>
          </a:ln>
          <a:effectLst/>
        </p:spPr>
        <p:txBody>
          <a:bodyPr rtlCol="0" anchor="ctr"/>
          <a:lstStyle/>
          <a:p>
            <a:pPr algn="ctr"/>
            <a:endParaRPr/>
          </a:p>
        </p:txBody>
      </p:sp>
      <p:sp>
        <p:nvSpPr>
          <p:cNvPr id="70" name="Rectangle 69"/>
          <p:cNvSpPr/>
          <p:nvPr/>
        </p:nvSpPr>
        <p:spPr>
          <a:xfrm>
            <a:off x="8153399" y="5257800"/>
            <a:ext cx="1578864" cy="45720"/>
          </a:xfrm>
          <a:prstGeom prst="rect">
            <a:avLst/>
          </a:prstGeom>
          <a:solidFill>
            <a:srgbClr val="3A3335"/>
          </a:solidFill>
          <a:ln>
            <a:noFill/>
          </a:ln>
          <a:effectLst/>
        </p:spPr>
        <p:txBody>
          <a:bodyPr rtlCol="0" anchor="ctr"/>
          <a:lstStyle/>
          <a:p>
            <a:pPr algn="ctr"/>
            <a:endParaRPr/>
          </a:p>
        </p:txBody>
      </p:sp>
      <p:sp>
        <p:nvSpPr>
          <p:cNvPr id="71" name="TextBox 70"/>
          <p:cNvSpPr txBox="1"/>
          <p:nvPr/>
        </p:nvSpPr>
        <p:spPr>
          <a:xfrm>
            <a:off x="8043672" y="5349240"/>
            <a:ext cx="1798320" cy="457200"/>
          </a:xfrm>
          <a:prstGeom prst="rect">
            <a:avLst/>
          </a:prstGeom>
          <a:noFill/>
        </p:spPr>
        <p:txBody>
          <a:bodyPr wrap="square" lIns="18288" tIns="0" rIns="18288" bIns="0" anchor="ctr">
            <a:noAutofit/>
          </a:bodyPr>
          <a:lstStyle/>
          <a:p>
            <a:pPr algn="ctr"/>
            <a:r>
              <a:rPr sz="2000" b="1" i="0">
                <a:solidFill>
                  <a:srgbClr val="3A3335"/>
                </a:solidFill>
                <a:latin typeface="Aptos"/>
              </a:rPr>
              <a:t>92%</a:t>
            </a:r>
          </a:p>
        </p:txBody>
      </p:sp>
      <p:sp>
        <p:nvSpPr>
          <p:cNvPr id="72" name="TextBox 71"/>
          <p:cNvSpPr txBox="1"/>
          <p:nvPr/>
        </p:nvSpPr>
        <p:spPr>
          <a:xfrm>
            <a:off x="8089392" y="5806440"/>
            <a:ext cx="1706880" cy="502919"/>
          </a:xfrm>
          <a:prstGeom prst="rect">
            <a:avLst/>
          </a:prstGeom>
          <a:noFill/>
        </p:spPr>
        <p:txBody>
          <a:bodyPr wrap="square" lIns="18288" tIns="0" rIns="18288" bIns="0" anchor="t">
            <a:noAutofit/>
          </a:bodyPr>
          <a:lstStyle/>
          <a:p>
            <a:pPr algn="ctr"/>
            <a:r>
              <a:rPr sz="850" b="0" i="0">
                <a:solidFill>
                  <a:srgbClr val="140C12"/>
                </a:solidFill>
                <a:latin typeface="Aptos"/>
              </a:rPr>
              <a:t>language identification across Tamil, Hindi, English and mixes</a:t>
            </a:r>
          </a:p>
        </p:txBody>
      </p:sp>
      <p:sp>
        <p:nvSpPr>
          <p:cNvPr id="73" name="Rounded Rectangle 72"/>
          <p:cNvSpPr/>
          <p:nvPr/>
        </p:nvSpPr>
        <p:spPr>
          <a:xfrm>
            <a:off x="9951720" y="5257800"/>
            <a:ext cx="1798320" cy="1097280"/>
          </a:xfrm>
          <a:prstGeom prst="roundRect">
            <a:avLst>
              <a:gd name="adj" fmla="val 8333"/>
            </a:avLst>
          </a:prstGeom>
          <a:solidFill>
            <a:srgbClr val="FFFFFF"/>
          </a:solidFill>
          <a:ln w="9525">
            <a:solidFill>
              <a:srgbClr val="E3DBCF"/>
            </a:solidFill>
          </a:ln>
          <a:effectLst/>
        </p:spPr>
        <p:txBody>
          <a:bodyPr rtlCol="0" anchor="ctr"/>
          <a:lstStyle/>
          <a:p>
            <a:pPr algn="ctr"/>
            <a:endParaRPr/>
          </a:p>
        </p:txBody>
      </p:sp>
      <p:sp>
        <p:nvSpPr>
          <p:cNvPr id="74" name="Rectangle 73"/>
          <p:cNvSpPr/>
          <p:nvPr/>
        </p:nvSpPr>
        <p:spPr>
          <a:xfrm>
            <a:off x="10061447" y="5257800"/>
            <a:ext cx="1578864" cy="45720"/>
          </a:xfrm>
          <a:prstGeom prst="rect">
            <a:avLst/>
          </a:prstGeom>
          <a:solidFill>
            <a:srgbClr val="E0262D"/>
          </a:solidFill>
          <a:ln>
            <a:noFill/>
          </a:ln>
          <a:effectLst/>
        </p:spPr>
        <p:txBody>
          <a:bodyPr rtlCol="0" anchor="ctr"/>
          <a:lstStyle/>
          <a:p>
            <a:pPr algn="ctr"/>
            <a:endParaRPr/>
          </a:p>
        </p:txBody>
      </p:sp>
      <p:sp>
        <p:nvSpPr>
          <p:cNvPr id="75" name="TextBox 74"/>
          <p:cNvSpPr txBox="1"/>
          <p:nvPr/>
        </p:nvSpPr>
        <p:spPr>
          <a:xfrm>
            <a:off x="9951720" y="5349240"/>
            <a:ext cx="1798320" cy="457200"/>
          </a:xfrm>
          <a:prstGeom prst="rect">
            <a:avLst/>
          </a:prstGeom>
          <a:noFill/>
        </p:spPr>
        <p:txBody>
          <a:bodyPr wrap="square" lIns="18288" tIns="0" rIns="18288" bIns="0" anchor="ctr">
            <a:noAutofit/>
          </a:bodyPr>
          <a:lstStyle/>
          <a:p>
            <a:pPr algn="ctr"/>
            <a:r>
              <a:rPr sz="2000" b="1" i="0">
                <a:solidFill>
                  <a:srgbClr val="E0262D"/>
                </a:solidFill>
                <a:latin typeface="Aptos"/>
              </a:rPr>
              <a:t>0</a:t>
            </a:r>
          </a:p>
        </p:txBody>
      </p:sp>
      <p:sp>
        <p:nvSpPr>
          <p:cNvPr id="76" name="TextBox 75"/>
          <p:cNvSpPr txBox="1"/>
          <p:nvPr/>
        </p:nvSpPr>
        <p:spPr>
          <a:xfrm>
            <a:off x="9997440" y="5806440"/>
            <a:ext cx="1706880" cy="502919"/>
          </a:xfrm>
          <a:prstGeom prst="rect">
            <a:avLst/>
          </a:prstGeom>
          <a:noFill/>
        </p:spPr>
        <p:txBody>
          <a:bodyPr wrap="square" lIns="18288" tIns="0" rIns="18288" bIns="0" anchor="t">
            <a:noAutofit/>
          </a:bodyPr>
          <a:lstStyle/>
          <a:p>
            <a:pPr algn="ctr"/>
            <a:r>
              <a:rPr sz="850" b="0" i="0">
                <a:solidFill>
                  <a:srgbClr val="140C12"/>
                </a:solidFill>
                <a:latin typeface="Aptos"/>
              </a:rPr>
              <a:t>complaints ever auto-closed; every decision carries a reason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4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E0262D"/>
          </a:solidFill>
          <a:ln>
            <a:solidFill>
              <a:srgbClr val="E0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56032"/>
            <a:ext cx="8046720" cy="274320"/>
          </a:xfrm>
          <a:prstGeom prst="rect">
            <a:avLst/>
          </a:prstGeom>
          <a:noFill/>
        </p:spPr>
        <p:txBody>
          <a:bodyPr wrap="none" lIns="54864" tIns="54864" rIns="54864" bIns="54864" anchor="t">
            <a:spAutoFit/>
          </a:bodyPr>
          <a:lstStyle/>
          <a:p>
            <a:pPr algn="l">
              <a:defRPr sz="1000" b="1" i="0">
                <a:solidFill>
                  <a:srgbClr val="E0262D"/>
                </a:solidFill>
                <a:latin typeface="Aptos"/>
              </a:defRPr>
            </a:pPr>
            <a:r>
              <a:t>SYNAPSE '26  |  24-HOUR HACKATHON</a:t>
            </a:r>
          </a:p>
        </p:txBody>
      </p:sp>
      <p:sp>
        <p:nvSpPr>
          <p:cNvPr id="4" name="TextBox 3"/>
          <p:cNvSpPr txBox="1"/>
          <p:nvPr/>
        </p:nvSpPr>
        <p:spPr>
          <a:xfrm>
            <a:off x="411480" y="594360"/>
            <a:ext cx="11155680" cy="502920"/>
          </a:xfrm>
          <a:prstGeom prst="rect">
            <a:avLst/>
          </a:prstGeom>
          <a:noFill/>
        </p:spPr>
        <p:txBody>
          <a:bodyPr wrap="none" lIns="54864" tIns="54864" rIns="54864" bIns="54864" anchor="t">
            <a:spAutoFit/>
          </a:bodyPr>
          <a:lstStyle/>
          <a:p>
            <a:pPr algn="l">
              <a:defRPr sz="2500" b="1" i="0">
                <a:solidFill>
                  <a:srgbClr val="140C12"/>
                </a:solidFill>
                <a:latin typeface="Aptos"/>
              </a:defRPr>
            </a:pPr>
            <a:r>
              <a:t>PROPOSED SOLUTION</a:t>
            </a:r>
          </a:p>
        </p:txBody>
      </p:sp>
      <p:sp>
        <p:nvSpPr>
          <p:cNvPr id="6" name="TextBox 5"/>
          <p:cNvSpPr txBox="1"/>
          <p:nvPr/>
        </p:nvSpPr>
        <p:spPr>
          <a:xfrm>
            <a:off x="7589520" y="6510528"/>
            <a:ext cx="4160520" cy="182880"/>
          </a:xfrm>
          <a:prstGeom prst="rect">
            <a:avLst/>
          </a:prstGeom>
          <a:noFill/>
        </p:spPr>
        <p:txBody>
          <a:bodyPr wrap="none" lIns="54864" tIns="54864" rIns="54864" bIns="54864" anchor="t">
            <a:spAutoFit/>
          </a:bodyPr>
          <a:lstStyle/>
          <a:p>
            <a:pPr algn="r">
              <a:defRPr sz="800" b="0" i="0">
                <a:solidFill>
                  <a:srgbClr val="5A5555"/>
                </a:solidFill>
                <a:latin typeface="Aptos"/>
              </a:defRPr>
            </a:pPr>
            <a:r>
              <a:t>V.S.B. Engineering College  •  04</a:t>
            </a:r>
          </a:p>
        </p:txBody>
      </p:sp>
      <p:sp>
        <p:nvSpPr>
          <p:cNvPr id="7" name="Rounded Rectangle 6"/>
          <p:cNvSpPr/>
          <p:nvPr/>
        </p:nvSpPr>
        <p:spPr>
          <a:xfrm>
            <a:off x="411480" y="1371600"/>
            <a:ext cx="11338560" cy="566928"/>
          </a:xfrm>
          <a:prstGeom prst="roundRect">
            <a:avLst>
              <a:gd name="adj" fmla="val 16129"/>
            </a:avLst>
          </a:prstGeom>
          <a:solidFill>
            <a:srgbClr val="F3EDE3"/>
          </a:solidFill>
          <a:ln w="9525">
            <a:solidFill>
              <a:srgbClr val="E3DBCF"/>
            </a:solidFill>
          </a:ln>
          <a:effectLst/>
        </p:spPr>
        <p:txBody>
          <a:bodyPr rtlCol="0" anchor="ctr"/>
          <a:lstStyle/>
          <a:p>
            <a:pPr algn="ctr"/>
            <a:endParaRPr/>
          </a:p>
        </p:txBody>
      </p:sp>
      <p:sp>
        <p:nvSpPr>
          <p:cNvPr id="8" name="Rounded Rectangle 7"/>
          <p:cNvSpPr/>
          <p:nvPr/>
        </p:nvSpPr>
        <p:spPr>
          <a:xfrm>
            <a:off x="411480" y="1371600"/>
            <a:ext cx="64008" cy="566928"/>
          </a:xfrm>
          <a:prstGeom prst="roundRect">
            <a:avLst>
              <a:gd name="adj" fmla="val 42857"/>
            </a:avLst>
          </a:prstGeom>
          <a:solidFill>
            <a:srgbClr val="E0262D"/>
          </a:solidFill>
          <a:ln>
            <a:noFill/>
          </a:ln>
          <a:effectLst/>
        </p:spPr>
        <p:txBody>
          <a:bodyPr rtlCol="0" anchor="ctr"/>
          <a:lstStyle/>
          <a:p>
            <a:pPr algn="ctr"/>
            <a:endParaRPr/>
          </a:p>
        </p:txBody>
      </p:sp>
      <p:sp>
        <p:nvSpPr>
          <p:cNvPr id="9" name="Oval 8"/>
          <p:cNvSpPr/>
          <p:nvPr/>
        </p:nvSpPr>
        <p:spPr>
          <a:xfrm>
            <a:off x="603504" y="1463040"/>
            <a:ext cx="384048" cy="384048"/>
          </a:xfrm>
          <a:prstGeom prst="ellipse">
            <a:avLst/>
          </a:prstGeom>
          <a:solidFill>
            <a:srgbClr val="E0262D"/>
          </a:solidFill>
          <a:ln>
            <a:noFill/>
          </a:ln>
          <a:effectLst/>
        </p:spPr>
        <p:txBody>
          <a:bodyPr rtlCol="0" anchor="ctr"/>
          <a:lstStyle/>
          <a:p>
            <a:pPr algn="ctr"/>
            <a:endParaRPr/>
          </a:p>
        </p:txBody>
      </p:sp>
      <p:pic>
        <p:nvPicPr>
          <p:cNvPr id="10" name="Picture 9" descr="image3.png"/>
          <p:cNvPicPr>
            <a:picLocks noChangeAspect="1"/>
          </p:cNvPicPr>
          <p:nvPr/>
        </p:nvPicPr>
        <p:blipFill>
          <a:blip r:embed="rId2"/>
          <a:stretch>
            <a:fillRect/>
          </a:stretch>
        </p:blipFill>
        <p:spPr>
          <a:xfrm>
            <a:off x="723519" y="1559052"/>
            <a:ext cx="144018" cy="192024"/>
          </a:xfrm>
          <a:prstGeom prst="rect">
            <a:avLst/>
          </a:prstGeom>
        </p:spPr>
      </p:pic>
      <p:sp>
        <p:nvSpPr>
          <p:cNvPr id="11" name="TextBox 10"/>
          <p:cNvSpPr txBox="1"/>
          <p:nvPr/>
        </p:nvSpPr>
        <p:spPr>
          <a:xfrm>
            <a:off x="1097280" y="1371600"/>
            <a:ext cx="10561320" cy="566928"/>
          </a:xfrm>
          <a:prstGeom prst="rect">
            <a:avLst/>
          </a:prstGeom>
          <a:noFill/>
        </p:spPr>
        <p:txBody>
          <a:bodyPr wrap="square" lIns="36576" tIns="18288" rIns="54864" bIns="18288" anchor="ctr">
            <a:noAutofit/>
          </a:bodyPr>
          <a:lstStyle/>
          <a:p>
            <a:pPr algn="l"/>
            <a:r>
              <a:rPr sz="1150" b="1" i="0">
                <a:solidFill>
                  <a:srgbClr val="3A3335"/>
                </a:solidFill>
                <a:latin typeface="Aptos"/>
              </a:rPr>
              <a:t>Vindex</a:t>
            </a:r>
            <a:r>
              <a:rPr sz="1150" b="0" i="0">
                <a:solidFill>
                  <a:srgbClr val="140C12"/>
                </a:solidFill>
                <a:latin typeface="Aptos"/>
              </a:rPr>
              <a:t> is a local-AI triage layer for grievance portals: every complaint is </a:t>
            </a:r>
            <a:r>
              <a:rPr sz="1150" b="1" i="0">
                <a:solidFill>
                  <a:srgbClr val="E0262D"/>
                </a:solidFill>
                <a:latin typeface="Aptos"/>
              </a:rPr>
              <a:t>understood in its own language, routed with evidence and never closed without a human</a:t>
            </a:r>
            <a:r>
              <a:rPr sz="1150" b="0" i="0">
                <a:solidFill>
                  <a:srgbClr val="140C12"/>
                </a:solidFill>
                <a:latin typeface="Aptos"/>
              </a:rPr>
              <a:t>. Text, photo and GPS go in; department, urgency, office, due time and a status email come out.</a:t>
            </a:r>
          </a:p>
        </p:txBody>
      </p:sp>
      <p:graphicFrame>
        <p:nvGraphicFramePr>
          <p:cNvPr id="12" name="Table 11"/>
          <p:cNvGraphicFramePr>
            <a:graphicFrameLocks noGrp="1"/>
          </p:cNvGraphicFramePr>
          <p:nvPr/>
        </p:nvGraphicFramePr>
        <p:xfrm>
          <a:off x="411480" y="2075688"/>
          <a:ext cx="7498080" cy="3090672"/>
        </p:xfrm>
        <a:graphic>
          <a:graphicData uri="http://schemas.openxmlformats.org/drawingml/2006/table">
            <a:tbl>
              <a:tblPr>
                <a:tableStyleId>{5C22544A-7EE6-4342-B048-85BDC9FD1C3A}</a:tableStyleId>
              </a:tblPr>
              <a:tblGrid>
                <a:gridCol w="1554480">
                  <a:extLst>
                    <a:ext uri="{9D8B030D-6E8A-4147-A177-3AD203B41FA5}">
                      <a16:colId xmlns:a16="http://schemas.microsoft.com/office/drawing/2014/main" val="20000"/>
                    </a:ext>
                  </a:extLst>
                </a:gridCol>
                <a:gridCol w="361188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tblGrid>
              <a:tr h="347472">
                <a:tc>
                  <a:txBody>
                    <a:bodyPr/>
                    <a:lstStyle/>
                    <a:p>
                      <a:pPr algn="l"/>
                      <a:r>
                        <a:rPr sz="900" b="1" i="0">
                          <a:solidFill>
                            <a:srgbClr val="FFFFFF"/>
                          </a:solidFill>
                          <a:latin typeface="Aptos"/>
                        </a:rPr>
                        <a:t>Core feature</a:t>
                      </a:r>
                    </a:p>
                  </a:txBody>
                  <a:tcPr marL="64008" marR="64008" marT="27432" marB="27432" anchor="ctr">
                    <a:lnL w="6350">
                      <a:solidFill>
                        <a:srgbClr val="E3DBCF"/>
                      </a:solidFill>
                    </a:lnL>
                    <a:lnR w="6350">
                      <a:solidFill>
                        <a:srgbClr val="E3DBCF"/>
                      </a:solidFill>
                    </a:lnR>
                    <a:lnT w="6350">
                      <a:solidFill>
                        <a:srgbClr val="E3DBCF"/>
                      </a:solidFill>
                    </a:lnT>
                    <a:lnB w="6350">
                      <a:solidFill>
                        <a:srgbClr val="E3DBCF"/>
                      </a:solidFill>
                    </a:lnB>
                    <a:solidFill>
                      <a:srgbClr val="E0262D"/>
                    </a:solidFill>
                  </a:tcPr>
                </a:tc>
                <a:tc>
                  <a:txBody>
                    <a:bodyPr/>
                    <a:lstStyle/>
                    <a:p>
                      <a:pPr algn="l"/>
                      <a:r>
                        <a:rPr sz="900" b="1" i="0">
                          <a:solidFill>
                            <a:srgbClr val="FFFFFF"/>
                          </a:solidFill>
                          <a:latin typeface="Aptos"/>
                        </a:rPr>
                        <a:t>What it does</a:t>
                      </a:r>
                    </a:p>
                  </a:txBody>
                  <a:tcPr marL="64008" marR="64008" marT="27432" marB="27432" anchor="ctr">
                    <a:lnL w="6350">
                      <a:solidFill>
                        <a:srgbClr val="E3DBCF"/>
                      </a:solidFill>
                    </a:lnL>
                    <a:lnR w="6350">
                      <a:solidFill>
                        <a:srgbClr val="E3DBCF"/>
                      </a:solidFill>
                    </a:lnR>
                    <a:lnT w="6350">
                      <a:solidFill>
                        <a:srgbClr val="E3DBCF"/>
                      </a:solidFill>
                    </a:lnT>
                    <a:lnB w="6350">
                      <a:solidFill>
                        <a:srgbClr val="E3DBCF"/>
                      </a:solidFill>
                    </a:lnB>
                    <a:solidFill>
                      <a:srgbClr val="E0262D"/>
                    </a:solidFill>
                  </a:tcPr>
                </a:tc>
                <a:tc>
                  <a:txBody>
                    <a:bodyPr/>
                    <a:lstStyle/>
                    <a:p>
                      <a:pPr algn="l"/>
                      <a:r>
                        <a:rPr sz="900" b="1" i="0">
                          <a:solidFill>
                            <a:srgbClr val="FFFFFF"/>
                          </a:solidFill>
                          <a:latin typeface="Aptos"/>
                        </a:rPr>
                        <a:t>How it addresses the problem</a:t>
                      </a:r>
                    </a:p>
                  </a:txBody>
                  <a:tcPr marL="64008" marR="64008" marT="27432" marB="27432" anchor="ctr">
                    <a:lnL w="6350">
                      <a:solidFill>
                        <a:srgbClr val="E3DBCF"/>
                      </a:solidFill>
                    </a:lnL>
                    <a:lnR w="6350">
                      <a:solidFill>
                        <a:srgbClr val="E3DBCF"/>
                      </a:solidFill>
                    </a:lnR>
                    <a:lnT w="6350">
                      <a:solidFill>
                        <a:srgbClr val="E3DBCF"/>
                      </a:solidFill>
                    </a:lnT>
                    <a:lnB w="6350">
                      <a:solidFill>
                        <a:srgbClr val="E3DBCF"/>
                      </a:solidFill>
                    </a:lnB>
                    <a:solidFill>
                      <a:srgbClr val="E0262D"/>
                    </a:solidFill>
                  </a:tcPr>
                </a:tc>
                <a:extLst>
                  <a:ext uri="{0D108BD9-81ED-4DB2-BD59-A6C34878D82A}">
                    <a16:rowId xmlns:a16="http://schemas.microsoft.com/office/drawing/2014/main" val="10000"/>
                  </a:ext>
                </a:extLst>
              </a:tr>
              <a:tr h="457200">
                <a:tc>
                  <a:txBody>
                    <a:bodyPr/>
                    <a:lstStyle/>
                    <a:p>
                      <a:pPr algn="l"/>
                      <a:r>
                        <a:rPr sz="900" b="1" i="0">
                          <a:solidFill>
                            <a:srgbClr val="3A3335"/>
                          </a:solidFill>
                          <a:latin typeface="Aptos"/>
                        </a:rPr>
                        <a:t>Multilingual intake</a:t>
                      </a:r>
                    </a:p>
                  </a:txBody>
                  <a:tcPr marL="64008" marR="64008" marT="27432" marB="27432" anchor="ctr">
                    <a:lnL w="6350">
                      <a:solidFill>
                        <a:srgbClr val="E3DBCF"/>
                      </a:solidFill>
                    </a:lnL>
                    <a:lnR w="6350">
                      <a:solidFill>
                        <a:srgbClr val="E3DBCF"/>
                      </a:solidFill>
                    </a:lnR>
                    <a:lnT w="6350">
                      <a:solidFill>
                        <a:srgbClr val="E3DBCF"/>
                      </a:solidFill>
                    </a:lnT>
                    <a:lnB w="6350">
                      <a:solidFill>
                        <a:srgbClr val="E3DBCF"/>
                      </a:solidFill>
                    </a:lnB>
                    <a:solidFill>
                      <a:srgbClr val="FFFFFF"/>
                    </a:solidFill>
                  </a:tcPr>
                </a:tc>
                <a:tc>
                  <a:txBody>
                    <a:bodyPr/>
                    <a:lstStyle/>
                    <a:p>
                      <a:pPr algn="l"/>
                      <a:r>
                        <a:rPr sz="900" b="0" i="0">
                          <a:solidFill>
                            <a:srgbClr val="140C12"/>
                          </a:solidFill>
                          <a:latin typeface="Aptos"/>
                        </a:rPr>
                        <a:t>Text in Tamil, Hindi, English or a mix, with photo, in-app camera and GPS or a typed address; original text never altered</a:t>
                      </a:r>
                    </a:p>
                  </a:txBody>
                  <a:tcPr marL="64008" marR="64008" marT="27432" marB="27432" anchor="ctr">
                    <a:lnL w="6350">
                      <a:solidFill>
                        <a:srgbClr val="E3DBCF"/>
                      </a:solidFill>
                    </a:lnL>
                    <a:lnR w="6350">
                      <a:solidFill>
                        <a:srgbClr val="E3DBCF"/>
                      </a:solidFill>
                    </a:lnR>
                    <a:lnT w="6350">
                      <a:solidFill>
                        <a:srgbClr val="E3DBCF"/>
                      </a:solidFill>
                    </a:lnT>
                    <a:lnB w="6350">
                      <a:solidFill>
                        <a:srgbClr val="E3DBCF"/>
                      </a:solidFill>
                    </a:lnB>
                    <a:solidFill>
                      <a:srgbClr val="FFFFFF"/>
                    </a:solidFill>
                  </a:tcPr>
                </a:tc>
                <a:tc>
                  <a:txBody>
                    <a:bodyPr/>
                    <a:lstStyle/>
                    <a:p>
                      <a:pPr algn="l"/>
                      <a:r>
                        <a:rPr sz="900" b="0" i="0">
                          <a:solidFill>
                            <a:srgbClr val="140C12"/>
                          </a:solidFill>
                          <a:latin typeface="Aptos"/>
                        </a:rPr>
                        <a:t>Language and format barriers</a:t>
                      </a:r>
                    </a:p>
                  </a:txBody>
                  <a:tcPr marL="64008" marR="64008" marT="27432" marB="27432" anchor="ctr">
                    <a:lnL w="6350">
                      <a:solidFill>
                        <a:srgbClr val="E3DBCF"/>
                      </a:solidFill>
                    </a:lnL>
                    <a:lnR w="6350">
                      <a:solidFill>
                        <a:srgbClr val="E3DBCF"/>
                      </a:solidFill>
                    </a:lnR>
                    <a:lnT w="6350">
                      <a:solidFill>
                        <a:srgbClr val="E3DBCF"/>
                      </a:solidFill>
                    </a:lnT>
                    <a:lnB w="6350">
                      <a:solidFill>
                        <a:srgbClr val="E3DBCF"/>
                      </a:solidFill>
                    </a:lnB>
                    <a:solidFill>
                      <a:srgbClr val="FFFFFF"/>
                    </a:solidFill>
                  </a:tcPr>
                </a:tc>
                <a:extLst>
                  <a:ext uri="{0D108BD9-81ED-4DB2-BD59-A6C34878D82A}">
                    <a16:rowId xmlns:a16="http://schemas.microsoft.com/office/drawing/2014/main" val="10001"/>
                  </a:ext>
                </a:extLst>
              </a:tr>
              <a:tr h="457200">
                <a:tc>
                  <a:txBody>
                    <a:bodyPr/>
                    <a:lstStyle/>
                    <a:p>
                      <a:pPr algn="l"/>
                      <a:r>
                        <a:rPr sz="900" b="1" i="0">
                          <a:solidFill>
                            <a:srgbClr val="3A3335"/>
                          </a:solidFill>
                          <a:latin typeface="Aptos"/>
                        </a:rPr>
                        <a:t>Local AI analysis</a:t>
                      </a:r>
                    </a:p>
                  </a:txBody>
                  <a:tcPr marL="64008" marR="64008" marT="27432" marB="27432" anchor="ctr">
                    <a:lnL w="6350">
                      <a:solidFill>
                        <a:srgbClr val="E3DBCF"/>
                      </a:solidFill>
                    </a:lnL>
                    <a:lnR w="6350">
                      <a:solidFill>
                        <a:srgbClr val="E3DBCF"/>
                      </a:solidFill>
                    </a:lnR>
                    <a:lnT w="6350">
                      <a:solidFill>
                        <a:srgbClr val="E3DBCF"/>
                      </a:solidFill>
                    </a:lnT>
                    <a:lnB w="6350">
                      <a:solidFill>
                        <a:srgbClr val="E3DBCF"/>
                      </a:solidFill>
                    </a:lnB>
                    <a:solidFill>
                      <a:srgbClr val="F3EDE3"/>
                    </a:solidFill>
                  </a:tcPr>
                </a:tc>
                <a:tc>
                  <a:txBody>
                    <a:bodyPr/>
                    <a:lstStyle/>
                    <a:p>
                      <a:pPr algn="l"/>
                      <a:r>
                        <a:rPr sz="900" b="0" i="0">
                          <a:solidFill>
                            <a:srgbClr val="140C12"/>
                          </a:solidFill>
                          <a:latin typeface="Aptos"/>
                        </a:rPr>
                        <a:t>Gemma 3 4B on our own GPU returns language, department, urgency, entities and quoted evidence in one call</a:t>
                      </a:r>
                    </a:p>
                  </a:txBody>
                  <a:tcPr marL="64008" marR="64008" marT="27432" marB="27432" anchor="ctr">
                    <a:lnL w="6350">
                      <a:solidFill>
                        <a:srgbClr val="E3DBCF"/>
                      </a:solidFill>
                    </a:lnL>
                    <a:lnR w="6350">
                      <a:solidFill>
                        <a:srgbClr val="E3DBCF"/>
                      </a:solidFill>
                    </a:lnR>
                    <a:lnT w="6350">
                      <a:solidFill>
                        <a:srgbClr val="E3DBCF"/>
                      </a:solidFill>
                    </a:lnT>
                    <a:lnB w="6350">
                      <a:solidFill>
                        <a:srgbClr val="E3DBCF"/>
                      </a:solidFill>
                    </a:lnB>
                    <a:solidFill>
                      <a:srgbClr val="F3EDE3"/>
                    </a:solidFill>
                  </a:tcPr>
                </a:tc>
                <a:tc>
                  <a:txBody>
                    <a:bodyPr/>
                    <a:lstStyle/>
                    <a:p>
                      <a:pPr algn="l"/>
                      <a:r>
                        <a:rPr sz="900" b="0" i="0">
                          <a:solidFill>
                            <a:srgbClr val="140C12"/>
                          </a:solidFill>
                          <a:latin typeface="Aptos"/>
                        </a:rPr>
                        <a:t>Urgency buried in long text; no cloud</a:t>
                      </a:r>
                    </a:p>
                  </a:txBody>
                  <a:tcPr marL="64008" marR="64008" marT="27432" marB="27432" anchor="ctr">
                    <a:lnL w="6350">
                      <a:solidFill>
                        <a:srgbClr val="E3DBCF"/>
                      </a:solidFill>
                    </a:lnL>
                    <a:lnR w="6350">
                      <a:solidFill>
                        <a:srgbClr val="E3DBCF"/>
                      </a:solidFill>
                    </a:lnR>
                    <a:lnT w="6350">
                      <a:solidFill>
                        <a:srgbClr val="E3DBCF"/>
                      </a:solidFill>
                    </a:lnT>
                    <a:lnB w="6350">
                      <a:solidFill>
                        <a:srgbClr val="E3DBCF"/>
                      </a:solidFill>
                    </a:lnB>
                    <a:solidFill>
                      <a:srgbClr val="F3EDE3"/>
                    </a:solidFill>
                  </a:tcPr>
                </a:tc>
                <a:extLst>
                  <a:ext uri="{0D108BD9-81ED-4DB2-BD59-A6C34878D82A}">
                    <a16:rowId xmlns:a16="http://schemas.microsoft.com/office/drawing/2014/main" val="10002"/>
                  </a:ext>
                </a:extLst>
              </a:tr>
              <a:tr h="457200">
                <a:tc>
                  <a:txBody>
                    <a:bodyPr/>
                    <a:lstStyle/>
                    <a:p>
                      <a:pPr algn="l"/>
                      <a:r>
                        <a:rPr sz="900" b="1" i="0">
                          <a:solidFill>
                            <a:srgbClr val="3A3335"/>
                          </a:solidFill>
                          <a:latin typeface="Aptos"/>
                        </a:rPr>
                        <a:t>Rules + second opinion</a:t>
                      </a:r>
                    </a:p>
                  </a:txBody>
                  <a:tcPr marL="64008" marR="64008" marT="27432" marB="27432" anchor="ctr">
                    <a:lnL w="6350">
                      <a:solidFill>
                        <a:srgbClr val="E3DBCF"/>
                      </a:solidFill>
                    </a:lnL>
                    <a:lnR w="6350">
                      <a:solidFill>
                        <a:srgbClr val="E3DBCF"/>
                      </a:solidFill>
                    </a:lnR>
                    <a:lnT w="6350">
                      <a:solidFill>
                        <a:srgbClr val="E3DBCF"/>
                      </a:solidFill>
                    </a:lnT>
                    <a:lnB w="6350">
                      <a:solidFill>
                        <a:srgbClr val="E3DBCF"/>
                      </a:solidFill>
                    </a:lnB>
                    <a:solidFill>
                      <a:srgbClr val="FFFFFF"/>
                    </a:solidFill>
                  </a:tcPr>
                </a:tc>
                <a:tc>
                  <a:txBody>
                    <a:bodyPr/>
                    <a:lstStyle/>
                    <a:p>
                      <a:pPr algn="l"/>
                      <a:r>
                        <a:rPr sz="900" b="0" i="0">
                          <a:solidFill>
                            <a:srgbClr val="140C12"/>
                          </a:solidFill>
                          <a:latin typeface="Aptos"/>
                        </a:rPr>
                        <a:t>YAML rules override the model; a NumPy classifier votes; any disagreement goes to a human</a:t>
                      </a:r>
                    </a:p>
                  </a:txBody>
                  <a:tcPr marL="64008" marR="64008" marT="27432" marB="27432" anchor="ctr">
                    <a:lnL w="6350">
                      <a:solidFill>
                        <a:srgbClr val="E3DBCF"/>
                      </a:solidFill>
                    </a:lnL>
                    <a:lnR w="6350">
                      <a:solidFill>
                        <a:srgbClr val="E3DBCF"/>
                      </a:solidFill>
                    </a:lnR>
                    <a:lnT w="6350">
                      <a:solidFill>
                        <a:srgbClr val="E3DBCF"/>
                      </a:solidFill>
                    </a:lnT>
                    <a:lnB w="6350">
                      <a:solidFill>
                        <a:srgbClr val="E3DBCF"/>
                      </a:solidFill>
                    </a:lnB>
                    <a:solidFill>
                      <a:srgbClr val="FFFFFF"/>
                    </a:solidFill>
                  </a:tcPr>
                </a:tc>
                <a:tc>
                  <a:txBody>
                    <a:bodyPr/>
                    <a:lstStyle/>
                    <a:p>
                      <a:pPr algn="l"/>
                      <a:r>
                        <a:rPr sz="900" b="0" i="0">
                          <a:solidFill>
                            <a:srgbClr val="140C12"/>
                          </a:solidFill>
                          <a:latin typeface="Aptos"/>
                        </a:rPr>
                        <a:t>Misrouting, model blind spots</a:t>
                      </a:r>
                    </a:p>
                  </a:txBody>
                  <a:tcPr marL="64008" marR="64008" marT="27432" marB="27432" anchor="ctr">
                    <a:lnL w="6350">
                      <a:solidFill>
                        <a:srgbClr val="E3DBCF"/>
                      </a:solidFill>
                    </a:lnL>
                    <a:lnR w="6350">
                      <a:solidFill>
                        <a:srgbClr val="E3DBCF"/>
                      </a:solidFill>
                    </a:lnR>
                    <a:lnT w="6350">
                      <a:solidFill>
                        <a:srgbClr val="E3DBCF"/>
                      </a:solidFill>
                    </a:lnT>
                    <a:lnB w="6350">
                      <a:solidFill>
                        <a:srgbClr val="E3DBCF"/>
                      </a:solidFill>
                    </a:lnB>
                    <a:solidFill>
                      <a:srgbClr val="FFFFFF"/>
                    </a:solidFill>
                  </a:tcPr>
                </a:tc>
                <a:extLst>
                  <a:ext uri="{0D108BD9-81ED-4DB2-BD59-A6C34878D82A}">
                    <a16:rowId xmlns:a16="http://schemas.microsoft.com/office/drawing/2014/main" val="10003"/>
                  </a:ext>
                </a:extLst>
              </a:tr>
              <a:tr h="457200">
                <a:tc>
                  <a:txBody>
                    <a:bodyPr/>
                    <a:lstStyle/>
                    <a:p>
                      <a:pPr algn="l"/>
                      <a:r>
                        <a:rPr sz="900" b="1" i="0">
                          <a:solidFill>
                            <a:srgbClr val="3A3335"/>
                          </a:solidFill>
                          <a:latin typeface="Aptos"/>
                        </a:rPr>
                        <a:t>District-office routing</a:t>
                      </a:r>
                    </a:p>
                  </a:txBody>
                  <a:tcPr marL="64008" marR="64008" marT="27432" marB="27432" anchor="ctr">
                    <a:lnL w="6350">
                      <a:solidFill>
                        <a:srgbClr val="E3DBCF"/>
                      </a:solidFill>
                    </a:lnL>
                    <a:lnR w="6350">
                      <a:solidFill>
                        <a:srgbClr val="E3DBCF"/>
                      </a:solidFill>
                    </a:lnR>
                    <a:lnT w="6350">
                      <a:solidFill>
                        <a:srgbClr val="E3DBCF"/>
                      </a:solidFill>
                    </a:lnT>
                    <a:lnB w="6350">
                      <a:solidFill>
                        <a:srgbClr val="E3DBCF"/>
                      </a:solidFill>
                    </a:lnB>
                    <a:solidFill>
                      <a:srgbClr val="F3EDE3"/>
                    </a:solidFill>
                  </a:tcPr>
                </a:tc>
                <a:tc>
                  <a:txBody>
                    <a:bodyPr/>
                    <a:lstStyle/>
                    <a:p>
                      <a:pPr algn="l"/>
                      <a:r>
                        <a:rPr sz="900" b="0" i="0">
                          <a:solidFill>
                            <a:srgbClr val="140C12"/>
                          </a:solidFill>
                          <a:latin typeface="Aptos"/>
                        </a:rPr>
                        <a:t>38 districts, 760 offices with SLA; due time scaled by urgency; duplicates linked via pgvector</a:t>
                      </a:r>
                    </a:p>
                  </a:txBody>
                  <a:tcPr marL="64008" marR="64008" marT="27432" marB="27432" anchor="ctr">
                    <a:lnL w="6350">
                      <a:solidFill>
                        <a:srgbClr val="E3DBCF"/>
                      </a:solidFill>
                    </a:lnL>
                    <a:lnR w="6350">
                      <a:solidFill>
                        <a:srgbClr val="E3DBCF"/>
                      </a:solidFill>
                    </a:lnR>
                    <a:lnT w="6350">
                      <a:solidFill>
                        <a:srgbClr val="E3DBCF"/>
                      </a:solidFill>
                    </a:lnT>
                    <a:lnB w="6350">
                      <a:solidFill>
                        <a:srgbClr val="E3DBCF"/>
                      </a:solidFill>
                    </a:lnB>
                    <a:solidFill>
                      <a:srgbClr val="F3EDE3"/>
                    </a:solidFill>
                  </a:tcPr>
                </a:tc>
                <a:tc>
                  <a:txBody>
                    <a:bodyPr/>
                    <a:lstStyle/>
                    <a:p>
                      <a:pPr algn="l"/>
                      <a:r>
                        <a:rPr sz="900" b="0" i="0">
                          <a:solidFill>
                            <a:srgbClr val="140C12"/>
                          </a:solidFill>
                          <a:latin typeface="Aptos"/>
                        </a:rPr>
                        <a:t>Wrong team, duplicates, delays</a:t>
                      </a:r>
                    </a:p>
                  </a:txBody>
                  <a:tcPr marL="64008" marR="64008" marT="27432" marB="27432" anchor="ctr">
                    <a:lnL w="6350">
                      <a:solidFill>
                        <a:srgbClr val="E3DBCF"/>
                      </a:solidFill>
                    </a:lnL>
                    <a:lnR w="6350">
                      <a:solidFill>
                        <a:srgbClr val="E3DBCF"/>
                      </a:solidFill>
                    </a:lnR>
                    <a:lnT w="6350">
                      <a:solidFill>
                        <a:srgbClr val="E3DBCF"/>
                      </a:solidFill>
                    </a:lnT>
                    <a:lnB w="6350">
                      <a:solidFill>
                        <a:srgbClr val="E3DBCF"/>
                      </a:solidFill>
                    </a:lnB>
                    <a:solidFill>
                      <a:srgbClr val="F3EDE3"/>
                    </a:solidFill>
                  </a:tcPr>
                </a:tc>
                <a:extLst>
                  <a:ext uri="{0D108BD9-81ED-4DB2-BD59-A6C34878D82A}">
                    <a16:rowId xmlns:a16="http://schemas.microsoft.com/office/drawing/2014/main" val="10004"/>
                  </a:ext>
                </a:extLst>
              </a:tr>
              <a:tr h="457200">
                <a:tc>
                  <a:txBody>
                    <a:bodyPr/>
                    <a:lstStyle/>
                    <a:p>
                      <a:pPr algn="l"/>
                      <a:r>
                        <a:rPr sz="900" b="1" i="0">
                          <a:solidFill>
                            <a:srgbClr val="3A3335"/>
                          </a:solidFill>
                          <a:latin typeface="Aptos"/>
                        </a:rPr>
                        <a:t>Human review queue</a:t>
                      </a:r>
                    </a:p>
                  </a:txBody>
                  <a:tcPr marL="64008" marR="64008" marT="27432" marB="27432" anchor="ctr">
                    <a:lnL w="6350">
                      <a:solidFill>
                        <a:srgbClr val="E3DBCF"/>
                      </a:solidFill>
                    </a:lnL>
                    <a:lnR w="6350">
                      <a:solidFill>
                        <a:srgbClr val="E3DBCF"/>
                      </a:solidFill>
                    </a:lnR>
                    <a:lnT w="6350">
                      <a:solidFill>
                        <a:srgbClr val="E3DBCF"/>
                      </a:solidFill>
                    </a:lnT>
                    <a:lnB w="6350">
                      <a:solidFill>
                        <a:srgbClr val="E3DBCF"/>
                      </a:solidFill>
                    </a:lnB>
                    <a:solidFill>
                      <a:srgbClr val="FFFFFF"/>
                    </a:solidFill>
                  </a:tcPr>
                </a:tc>
                <a:tc>
                  <a:txBody>
                    <a:bodyPr/>
                    <a:lstStyle/>
                    <a:p>
                      <a:pPr algn="l"/>
                      <a:r>
                        <a:rPr sz="900" b="0" i="0">
                          <a:solidFill>
                            <a:srgbClr val="140C12"/>
                          </a:solidFill>
                          <a:latin typeface="Aptos"/>
                        </a:rPr>
                        <a:t>District admin reviews Critical, low-confidence, disagreeing or duplicate cases; reason mandatory; no auto-close</a:t>
                      </a:r>
                    </a:p>
                  </a:txBody>
                  <a:tcPr marL="64008" marR="64008" marT="27432" marB="27432" anchor="ctr">
                    <a:lnL w="6350">
                      <a:solidFill>
                        <a:srgbClr val="E3DBCF"/>
                      </a:solidFill>
                    </a:lnL>
                    <a:lnR w="6350">
                      <a:solidFill>
                        <a:srgbClr val="E3DBCF"/>
                      </a:solidFill>
                    </a:lnR>
                    <a:lnT w="6350">
                      <a:solidFill>
                        <a:srgbClr val="E3DBCF"/>
                      </a:solidFill>
                    </a:lnT>
                    <a:lnB w="6350">
                      <a:solidFill>
                        <a:srgbClr val="E3DBCF"/>
                      </a:solidFill>
                    </a:lnB>
                    <a:solidFill>
                      <a:srgbClr val="FFFFFF"/>
                    </a:solidFill>
                  </a:tcPr>
                </a:tc>
                <a:tc>
                  <a:txBody>
                    <a:bodyPr/>
                    <a:lstStyle/>
                    <a:p>
                      <a:pPr algn="l"/>
                      <a:r>
                        <a:rPr sz="900" b="0" i="0">
                          <a:solidFill>
                            <a:srgbClr val="140C12"/>
                          </a:solidFill>
                          <a:latin typeface="Aptos"/>
                        </a:rPr>
                        <a:t>Over-automation, unfair rejection</a:t>
                      </a:r>
                    </a:p>
                  </a:txBody>
                  <a:tcPr marL="64008" marR="64008" marT="27432" marB="27432" anchor="ctr">
                    <a:lnL w="6350">
                      <a:solidFill>
                        <a:srgbClr val="E3DBCF"/>
                      </a:solidFill>
                    </a:lnL>
                    <a:lnR w="6350">
                      <a:solidFill>
                        <a:srgbClr val="E3DBCF"/>
                      </a:solidFill>
                    </a:lnR>
                    <a:lnT w="6350">
                      <a:solidFill>
                        <a:srgbClr val="E3DBCF"/>
                      </a:solidFill>
                    </a:lnT>
                    <a:lnB w="6350">
                      <a:solidFill>
                        <a:srgbClr val="E3DBCF"/>
                      </a:solidFill>
                    </a:lnB>
                    <a:solidFill>
                      <a:srgbClr val="FFFFFF"/>
                    </a:solidFill>
                  </a:tcPr>
                </a:tc>
                <a:extLst>
                  <a:ext uri="{0D108BD9-81ED-4DB2-BD59-A6C34878D82A}">
                    <a16:rowId xmlns:a16="http://schemas.microsoft.com/office/drawing/2014/main" val="10005"/>
                  </a:ext>
                </a:extLst>
              </a:tr>
              <a:tr h="457200">
                <a:tc>
                  <a:txBody>
                    <a:bodyPr/>
                    <a:lstStyle/>
                    <a:p>
                      <a:pPr algn="l"/>
                      <a:r>
                        <a:rPr sz="900" b="1" i="0">
                          <a:solidFill>
                            <a:srgbClr val="3A3335"/>
                          </a:solidFill>
                          <a:latin typeface="Aptos"/>
                        </a:rPr>
                        <a:t>Tracking, reply + email</a:t>
                      </a:r>
                    </a:p>
                  </a:txBody>
                  <a:tcPr marL="64008" marR="64008" marT="27432" marB="27432" anchor="ctr">
                    <a:lnL w="6350">
                      <a:solidFill>
                        <a:srgbClr val="E3DBCF"/>
                      </a:solidFill>
                    </a:lnL>
                    <a:lnR w="6350">
                      <a:solidFill>
                        <a:srgbClr val="E3DBCF"/>
                      </a:solidFill>
                    </a:lnR>
                    <a:lnT w="6350">
                      <a:solidFill>
                        <a:srgbClr val="E3DBCF"/>
                      </a:solidFill>
                    </a:lnT>
                    <a:lnB w="6350">
                      <a:solidFill>
                        <a:srgbClr val="E3DBCF"/>
                      </a:solidFill>
                    </a:lnB>
                    <a:solidFill>
                      <a:srgbClr val="F3EDE3"/>
                    </a:solidFill>
                  </a:tcPr>
                </a:tc>
                <a:tc>
                  <a:txBody>
                    <a:bodyPr/>
                    <a:lstStyle/>
                    <a:p>
                      <a:pPr algn="l"/>
                      <a:r>
                        <a:rPr sz="900" b="0" i="0">
                          <a:solidFill>
                            <a:srgbClr val="140C12"/>
                          </a:solidFill>
                          <a:latin typeface="Aptos"/>
                        </a:rPr>
                        <a:t>Tracking ID at once; status emails to citizen, department and district; citizen replies with photo or video</a:t>
                      </a:r>
                    </a:p>
                  </a:txBody>
                  <a:tcPr marL="64008" marR="64008" marT="27432" marB="27432" anchor="ctr">
                    <a:lnL w="6350">
                      <a:solidFill>
                        <a:srgbClr val="E3DBCF"/>
                      </a:solidFill>
                    </a:lnL>
                    <a:lnR w="6350">
                      <a:solidFill>
                        <a:srgbClr val="E3DBCF"/>
                      </a:solidFill>
                    </a:lnR>
                    <a:lnT w="6350">
                      <a:solidFill>
                        <a:srgbClr val="E3DBCF"/>
                      </a:solidFill>
                    </a:lnT>
                    <a:lnB w="6350">
                      <a:solidFill>
                        <a:srgbClr val="E3DBCF"/>
                      </a:solidFill>
                    </a:lnB>
                    <a:solidFill>
                      <a:srgbClr val="F3EDE3"/>
                    </a:solidFill>
                  </a:tcPr>
                </a:tc>
                <a:tc>
                  <a:txBody>
                    <a:bodyPr/>
                    <a:lstStyle/>
                    <a:p>
                      <a:pPr algn="l"/>
                      <a:r>
                        <a:rPr sz="900" b="0" i="0">
                          <a:solidFill>
                            <a:srgbClr val="140C12"/>
                          </a:solidFill>
                          <a:latin typeface="Aptos"/>
                        </a:rPr>
                        <a:t>Complainant left in the dark</a:t>
                      </a:r>
                    </a:p>
                  </a:txBody>
                  <a:tcPr marL="64008" marR="64008" marT="27432" marB="27432" anchor="ctr">
                    <a:lnL w="6350">
                      <a:solidFill>
                        <a:srgbClr val="E3DBCF"/>
                      </a:solidFill>
                    </a:lnL>
                    <a:lnR w="6350">
                      <a:solidFill>
                        <a:srgbClr val="E3DBCF"/>
                      </a:solidFill>
                    </a:lnR>
                    <a:lnT w="6350">
                      <a:solidFill>
                        <a:srgbClr val="E3DBCF"/>
                      </a:solidFill>
                    </a:lnT>
                    <a:lnB w="6350">
                      <a:solidFill>
                        <a:srgbClr val="E3DBCF"/>
                      </a:solidFill>
                    </a:lnB>
                    <a:solidFill>
                      <a:srgbClr val="F3EDE3"/>
                    </a:solidFill>
                  </a:tcPr>
                </a:tc>
                <a:extLst>
                  <a:ext uri="{0D108BD9-81ED-4DB2-BD59-A6C34878D82A}">
                    <a16:rowId xmlns:a16="http://schemas.microsoft.com/office/drawing/2014/main" val="10006"/>
                  </a:ext>
                </a:extLst>
              </a:tr>
            </a:tbl>
          </a:graphicData>
        </a:graphic>
      </p:graphicFrame>
      <p:sp>
        <p:nvSpPr>
          <p:cNvPr id="13" name="Rounded Rectangle 12"/>
          <p:cNvSpPr/>
          <p:nvPr/>
        </p:nvSpPr>
        <p:spPr>
          <a:xfrm>
            <a:off x="8092440" y="2075688"/>
            <a:ext cx="3657600" cy="274320"/>
          </a:xfrm>
          <a:prstGeom prst="roundRect">
            <a:avLst>
              <a:gd name="adj" fmla="val 20000"/>
            </a:avLst>
          </a:prstGeom>
          <a:solidFill>
            <a:srgbClr val="9B1C24"/>
          </a:solidFill>
          <a:ln>
            <a:noFill/>
          </a:ln>
          <a:effectLst/>
        </p:spPr>
        <p:txBody>
          <a:bodyPr rtlCol="0" anchor="ctr"/>
          <a:lstStyle/>
          <a:p>
            <a:pPr algn="ctr"/>
            <a:endParaRPr/>
          </a:p>
        </p:txBody>
      </p:sp>
      <p:sp>
        <p:nvSpPr>
          <p:cNvPr id="14" name="TextBox 13"/>
          <p:cNvSpPr txBox="1"/>
          <p:nvPr/>
        </p:nvSpPr>
        <p:spPr>
          <a:xfrm>
            <a:off x="8202167" y="2075688"/>
            <a:ext cx="3456432" cy="274320"/>
          </a:xfrm>
          <a:prstGeom prst="rect">
            <a:avLst/>
          </a:prstGeom>
          <a:noFill/>
        </p:spPr>
        <p:txBody>
          <a:bodyPr wrap="square" lIns="18288" tIns="0" rIns="18288" bIns="0" anchor="ctr">
            <a:noAutofit/>
          </a:bodyPr>
          <a:lstStyle/>
          <a:p>
            <a:pPr algn="l"/>
            <a:r>
              <a:rPr sz="900" b="1" i="0">
                <a:solidFill>
                  <a:srgbClr val="FFFFFF"/>
                </a:solidFill>
                <a:latin typeface="Aptos"/>
              </a:rPr>
              <a:t>TARGET USERS / STAKEHOLDERS</a:t>
            </a:r>
          </a:p>
        </p:txBody>
      </p:sp>
      <p:sp>
        <p:nvSpPr>
          <p:cNvPr id="15" name="Rounded Rectangle 14"/>
          <p:cNvSpPr/>
          <p:nvPr/>
        </p:nvSpPr>
        <p:spPr>
          <a:xfrm>
            <a:off x="8092440" y="2377440"/>
            <a:ext cx="3657600" cy="1325880"/>
          </a:xfrm>
          <a:prstGeom prst="roundRect">
            <a:avLst>
              <a:gd name="adj" fmla="val 5517"/>
            </a:avLst>
          </a:prstGeom>
          <a:solidFill>
            <a:srgbClr val="FFFFFF"/>
          </a:solidFill>
          <a:ln w="9525">
            <a:solidFill>
              <a:srgbClr val="E3DBCF"/>
            </a:solidFill>
          </a:ln>
          <a:effectLst/>
        </p:spPr>
        <p:txBody>
          <a:bodyPr rtlCol="0" anchor="ctr"/>
          <a:lstStyle/>
          <a:p>
            <a:pPr algn="ctr"/>
            <a:endParaRPr/>
          </a:p>
        </p:txBody>
      </p:sp>
      <p:pic>
        <p:nvPicPr>
          <p:cNvPr id="16" name="Picture 15" descr="image38.png"/>
          <p:cNvPicPr>
            <a:picLocks noChangeAspect="1"/>
          </p:cNvPicPr>
          <p:nvPr/>
        </p:nvPicPr>
        <p:blipFill>
          <a:blip r:embed="rId3"/>
          <a:stretch>
            <a:fillRect/>
          </a:stretch>
        </p:blipFill>
        <p:spPr>
          <a:xfrm>
            <a:off x="8183879" y="2459736"/>
            <a:ext cx="182880" cy="182880"/>
          </a:xfrm>
          <a:prstGeom prst="rect">
            <a:avLst/>
          </a:prstGeom>
        </p:spPr>
      </p:pic>
      <p:sp>
        <p:nvSpPr>
          <p:cNvPr id="17" name="TextBox 16"/>
          <p:cNvSpPr txBox="1"/>
          <p:nvPr/>
        </p:nvSpPr>
        <p:spPr>
          <a:xfrm>
            <a:off x="8412480" y="2432304"/>
            <a:ext cx="3291840" cy="246888"/>
          </a:xfrm>
          <a:prstGeom prst="rect">
            <a:avLst/>
          </a:prstGeom>
          <a:noFill/>
        </p:spPr>
        <p:txBody>
          <a:bodyPr wrap="square" lIns="18288" tIns="0" rIns="18288" bIns="0" anchor="ctr">
            <a:noAutofit/>
          </a:bodyPr>
          <a:lstStyle/>
          <a:p>
            <a:pPr algn="l"/>
            <a:r>
              <a:rPr sz="850" b="1" i="0">
                <a:solidFill>
                  <a:srgbClr val="9B1C24"/>
                </a:solidFill>
                <a:latin typeface="Aptos"/>
              </a:rPr>
              <a:t>Citizens</a:t>
            </a:r>
            <a:r>
              <a:rPr sz="850" b="0" i="0">
                <a:solidFill>
                  <a:srgbClr val="140C12"/>
                </a:solidFill>
                <a:latin typeface="Aptos"/>
              </a:rPr>
              <a:t> - any language, phone-first, track and reply</a:t>
            </a:r>
          </a:p>
        </p:txBody>
      </p:sp>
      <p:pic>
        <p:nvPicPr>
          <p:cNvPr id="18" name="Picture 17" descr="image12_3A3335.png"/>
          <p:cNvPicPr>
            <a:picLocks noChangeAspect="1"/>
          </p:cNvPicPr>
          <p:nvPr/>
        </p:nvPicPr>
        <p:blipFill>
          <a:blip r:embed="rId4"/>
          <a:stretch>
            <a:fillRect/>
          </a:stretch>
        </p:blipFill>
        <p:spPr>
          <a:xfrm>
            <a:off x="8195309" y="2706624"/>
            <a:ext cx="160020" cy="182880"/>
          </a:xfrm>
          <a:prstGeom prst="rect">
            <a:avLst/>
          </a:prstGeom>
        </p:spPr>
      </p:pic>
      <p:sp>
        <p:nvSpPr>
          <p:cNvPr id="19" name="TextBox 18"/>
          <p:cNvSpPr txBox="1"/>
          <p:nvPr/>
        </p:nvSpPr>
        <p:spPr>
          <a:xfrm>
            <a:off x="8412480" y="2679192"/>
            <a:ext cx="3291840" cy="246888"/>
          </a:xfrm>
          <a:prstGeom prst="rect">
            <a:avLst/>
          </a:prstGeom>
          <a:noFill/>
        </p:spPr>
        <p:txBody>
          <a:bodyPr wrap="square" lIns="18288" tIns="0" rIns="18288" bIns="0" anchor="ctr">
            <a:noAutofit/>
          </a:bodyPr>
          <a:lstStyle/>
          <a:p>
            <a:pPr algn="l"/>
            <a:r>
              <a:rPr sz="850" b="1" i="0">
                <a:solidFill>
                  <a:srgbClr val="9B1C24"/>
                </a:solidFill>
                <a:latin typeface="Aptos"/>
              </a:rPr>
              <a:t>Department admins</a:t>
            </a:r>
            <a:r>
              <a:rPr sz="850" b="0" i="0">
                <a:solidFill>
                  <a:srgbClr val="140C12"/>
                </a:solidFill>
                <a:latin typeface="Aptos"/>
              </a:rPr>
              <a:t> - only their department's cases, with due times</a:t>
            </a:r>
          </a:p>
        </p:txBody>
      </p:sp>
      <p:pic>
        <p:nvPicPr>
          <p:cNvPr id="20" name="Picture 19" descr="image36.png"/>
          <p:cNvPicPr>
            <a:picLocks noChangeAspect="1"/>
          </p:cNvPicPr>
          <p:nvPr/>
        </p:nvPicPr>
        <p:blipFill>
          <a:blip r:embed="rId5"/>
          <a:stretch>
            <a:fillRect/>
          </a:stretch>
        </p:blipFill>
        <p:spPr>
          <a:xfrm>
            <a:off x="8183879" y="2953512"/>
            <a:ext cx="182880" cy="182880"/>
          </a:xfrm>
          <a:prstGeom prst="rect">
            <a:avLst/>
          </a:prstGeom>
        </p:spPr>
      </p:pic>
      <p:sp>
        <p:nvSpPr>
          <p:cNvPr id="21" name="TextBox 20"/>
          <p:cNvSpPr txBox="1"/>
          <p:nvPr/>
        </p:nvSpPr>
        <p:spPr>
          <a:xfrm>
            <a:off x="8412480" y="2926080"/>
            <a:ext cx="3291840" cy="246888"/>
          </a:xfrm>
          <a:prstGeom prst="rect">
            <a:avLst/>
          </a:prstGeom>
          <a:noFill/>
        </p:spPr>
        <p:txBody>
          <a:bodyPr wrap="square" lIns="18288" tIns="0" rIns="18288" bIns="0" anchor="ctr">
            <a:noAutofit/>
          </a:bodyPr>
          <a:lstStyle/>
          <a:p>
            <a:pPr algn="l"/>
            <a:r>
              <a:rPr sz="850" b="1" i="0">
                <a:solidFill>
                  <a:srgbClr val="9B1C24"/>
                </a:solidFill>
                <a:latin typeface="Aptos"/>
              </a:rPr>
              <a:t>District admins</a:t>
            </a:r>
            <a:r>
              <a:rPr sz="850" b="0" i="0">
                <a:solidFill>
                  <a:srgbClr val="140C12"/>
                </a:solidFill>
                <a:latin typeface="Aptos"/>
              </a:rPr>
              <a:t> - review queue, add department admins</a:t>
            </a:r>
          </a:p>
        </p:txBody>
      </p:sp>
      <p:pic>
        <p:nvPicPr>
          <p:cNvPr id="22" name="Picture 21" descr="image15_5A5555.png"/>
          <p:cNvPicPr>
            <a:picLocks noChangeAspect="1"/>
          </p:cNvPicPr>
          <p:nvPr/>
        </p:nvPicPr>
        <p:blipFill>
          <a:blip r:embed="rId6"/>
          <a:stretch>
            <a:fillRect/>
          </a:stretch>
        </p:blipFill>
        <p:spPr>
          <a:xfrm>
            <a:off x="8183879" y="3218616"/>
            <a:ext cx="182880" cy="146446"/>
          </a:xfrm>
          <a:prstGeom prst="rect">
            <a:avLst/>
          </a:prstGeom>
        </p:spPr>
      </p:pic>
      <p:sp>
        <p:nvSpPr>
          <p:cNvPr id="23" name="TextBox 22"/>
          <p:cNvSpPr txBox="1"/>
          <p:nvPr/>
        </p:nvSpPr>
        <p:spPr>
          <a:xfrm>
            <a:off x="8412480" y="3172968"/>
            <a:ext cx="3291840" cy="246888"/>
          </a:xfrm>
          <a:prstGeom prst="rect">
            <a:avLst/>
          </a:prstGeom>
          <a:noFill/>
        </p:spPr>
        <p:txBody>
          <a:bodyPr wrap="square" lIns="18288" tIns="0" rIns="18288" bIns="0" anchor="ctr">
            <a:noAutofit/>
          </a:bodyPr>
          <a:lstStyle/>
          <a:p>
            <a:pPr algn="l"/>
            <a:r>
              <a:rPr sz="850" b="1" i="0">
                <a:solidFill>
                  <a:srgbClr val="9B1C24"/>
                </a:solidFill>
                <a:latin typeface="Aptos"/>
              </a:rPr>
              <a:t>Super admin</a:t>
            </a:r>
            <a:r>
              <a:rPr sz="850" b="0" i="0">
                <a:solidFill>
                  <a:srgbClr val="140C12"/>
                </a:solidFill>
                <a:latin typeface="Aptos"/>
              </a:rPr>
              <a:t> - all districts, rules, metrics, staff</a:t>
            </a:r>
          </a:p>
        </p:txBody>
      </p:sp>
      <p:pic>
        <p:nvPicPr>
          <p:cNvPr id="24" name="Picture 23" descr="image39.png"/>
          <p:cNvPicPr>
            <a:picLocks noChangeAspect="1"/>
          </p:cNvPicPr>
          <p:nvPr/>
        </p:nvPicPr>
        <p:blipFill>
          <a:blip r:embed="rId7"/>
          <a:stretch>
            <a:fillRect/>
          </a:stretch>
        </p:blipFill>
        <p:spPr>
          <a:xfrm>
            <a:off x="8183879" y="3447288"/>
            <a:ext cx="182880" cy="182880"/>
          </a:xfrm>
          <a:prstGeom prst="rect">
            <a:avLst/>
          </a:prstGeom>
        </p:spPr>
      </p:pic>
      <p:sp>
        <p:nvSpPr>
          <p:cNvPr id="25" name="TextBox 24"/>
          <p:cNvSpPr txBox="1"/>
          <p:nvPr/>
        </p:nvSpPr>
        <p:spPr>
          <a:xfrm>
            <a:off x="8412480" y="3419856"/>
            <a:ext cx="3291840" cy="246888"/>
          </a:xfrm>
          <a:prstGeom prst="rect">
            <a:avLst/>
          </a:prstGeom>
          <a:noFill/>
        </p:spPr>
        <p:txBody>
          <a:bodyPr wrap="square" lIns="18288" tIns="0" rIns="18288" bIns="0" anchor="ctr">
            <a:noAutofit/>
          </a:bodyPr>
          <a:lstStyle/>
          <a:p>
            <a:pPr algn="l"/>
            <a:r>
              <a:rPr sz="850" b="1" i="0">
                <a:solidFill>
                  <a:srgbClr val="9B1C24"/>
                </a:solidFill>
                <a:latin typeface="Aptos"/>
              </a:rPr>
              <a:t>Auditors</a:t>
            </a:r>
            <a:r>
              <a:rPr sz="850" b="0" i="0">
                <a:solidFill>
                  <a:srgbClr val="140C12"/>
                </a:solidFill>
                <a:latin typeface="Aptos"/>
              </a:rPr>
              <a:t> - every decision and override with a reason</a:t>
            </a:r>
          </a:p>
        </p:txBody>
      </p:sp>
      <p:sp>
        <p:nvSpPr>
          <p:cNvPr id="26" name="Rounded Rectangle 25"/>
          <p:cNvSpPr/>
          <p:nvPr/>
        </p:nvSpPr>
        <p:spPr>
          <a:xfrm>
            <a:off x="8092440" y="3840480"/>
            <a:ext cx="3657600" cy="274320"/>
          </a:xfrm>
          <a:prstGeom prst="roundRect">
            <a:avLst>
              <a:gd name="adj" fmla="val 20000"/>
            </a:avLst>
          </a:prstGeom>
          <a:solidFill>
            <a:srgbClr val="B7791F"/>
          </a:solidFill>
          <a:ln>
            <a:noFill/>
          </a:ln>
          <a:effectLst/>
        </p:spPr>
        <p:txBody>
          <a:bodyPr rtlCol="0" anchor="ctr"/>
          <a:lstStyle/>
          <a:p>
            <a:pPr algn="ctr"/>
            <a:endParaRPr/>
          </a:p>
        </p:txBody>
      </p:sp>
      <p:sp>
        <p:nvSpPr>
          <p:cNvPr id="27" name="TextBox 26"/>
          <p:cNvSpPr txBox="1"/>
          <p:nvPr/>
        </p:nvSpPr>
        <p:spPr>
          <a:xfrm>
            <a:off x="8202167" y="3840480"/>
            <a:ext cx="3456432" cy="274320"/>
          </a:xfrm>
          <a:prstGeom prst="rect">
            <a:avLst/>
          </a:prstGeom>
          <a:noFill/>
        </p:spPr>
        <p:txBody>
          <a:bodyPr wrap="square" lIns="18288" tIns="0" rIns="18288" bIns="0" anchor="ctr">
            <a:noAutofit/>
          </a:bodyPr>
          <a:lstStyle/>
          <a:p>
            <a:pPr algn="l"/>
            <a:r>
              <a:rPr sz="900" b="1" i="0">
                <a:solidFill>
                  <a:srgbClr val="FFFFFF"/>
                </a:solidFill>
                <a:latin typeface="Aptos"/>
              </a:rPr>
              <a:t>WHAT IS DIFFERENT</a:t>
            </a:r>
          </a:p>
        </p:txBody>
      </p:sp>
      <p:sp>
        <p:nvSpPr>
          <p:cNvPr id="28" name="Rounded Rectangle 27"/>
          <p:cNvSpPr/>
          <p:nvPr/>
        </p:nvSpPr>
        <p:spPr>
          <a:xfrm>
            <a:off x="8092440" y="4142232"/>
            <a:ext cx="3657600" cy="1024128"/>
          </a:xfrm>
          <a:prstGeom prst="roundRect">
            <a:avLst>
              <a:gd name="adj" fmla="val 7142"/>
            </a:avLst>
          </a:prstGeom>
          <a:solidFill>
            <a:srgbClr val="FFFFFF"/>
          </a:solidFill>
          <a:ln w="9525">
            <a:solidFill>
              <a:srgbClr val="E3DBCF"/>
            </a:solidFill>
          </a:ln>
          <a:effectLst/>
        </p:spPr>
        <p:txBody>
          <a:bodyPr rtlCol="0" anchor="ctr"/>
          <a:lstStyle/>
          <a:p>
            <a:pPr algn="ctr"/>
            <a:endParaRPr/>
          </a:p>
        </p:txBody>
      </p:sp>
      <p:sp>
        <p:nvSpPr>
          <p:cNvPr id="29" name="TextBox 28"/>
          <p:cNvSpPr txBox="1"/>
          <p:nvPr/>
        </p:nvSpPr>
        <p:spPr>
          <a:xfrm>
            <a:off x="8183879" y="4178808"/>
            <a:ext cx="3520440" cy="237744"/>
          </a:xfrm>
          <a:prstGeom prst="rect">
            <a:avLst/>
          </a:prstGeom>
          <a:noFill/>
        </p:spPr>
        <p:txBody>
          <a:bodyPr wrap="square" lIns="18288" tIns="0" rIns="18288" bIns="0" anchor="ctr">
            <a:noAutofit/>
          </a:bodyPr>
          <a:lstStyle/>
          <a:p>
            <a:pPr algn="l"/>
            <a:r>
              <a:rPr sz="850" b="1" i="0">
                <a:solidFill>
                  <a:srgbClr val="B7791F"/>
                </a:solidFill>
                <a:latin typeface="Aptos"/>
              </a:rPr>
              <a:t>✓  </a:t>
            </a:r>
            <a:r>
              <a:rPr sz="850" b="1" i="0">
                <a:solidFill>
                  <a:srgbClr val="9B1C24"/>
                </a:solidFill>
                <a:latin typeface="Aptos"/>
              </a:rPr>
              <a:t>All inference local: </a:t>
            </a:r>
            <a:r>
              <a:rPr sz="850" b="0" i="0">
                <a:solidFill>
                  <a:srgbClr val="140C12"/>
                </a:solidFill>
                <a:latin typeface="Aptos"/>
              </a:rPr>
              <a:t>privacy and zero per-request cost</a:t>
            </a:r>
          </a:p>
        </p:txBody>
      </p:sp>
      <p:sp>
        <p:nvSpPr>
          <p:cNvPr id="30" name="TextBox 29"/>
          <p:cNvSpPr txBox="1"/>
          <p:nvPr/>
        </p:nvSpPr>
        <p:spPr>
          <a:xfrm>
            <a:off x="8183879" y="4416552"/>
            <a:ext cx="3520440" cy="237744"/>
          </a:xfrm>
          <a:prstGeom prst="rect">
            <a:avLst/>
          </a:prstGeom>
          <a:noFill/>
        </p:spPr>
        <p:txBody>
          <a:bodyPr wrap="square" lIns="18288" tIns="0" rIns="18288" bIns="0" anchor="ctr">
            <a:noAutofit/>
          </a:bodyPr>
          <a:lstStyle/>
          <a:p>
            <a:pPr algn="l"/>
            <a:r>
              <a:rPr sz="850" b="1" i="0">
                <a:solidFill>
                  <a:srgbClr val="B7791F"/>
                </a:solidFill>
                <a:latin typeface="Aptos"/>
              </a:rPr>
              <a:t>✓  </a:t>
            </a:r>
            <a:r>
              <a:rPr sz="850" b="1" i="0">
                <a:solidFill>
                  <a:srgbClr val="9B1C24"/>
                </a:solidFill>
                <a:latin typeface="Aptos"/>
              </a:rPr>
              <a:t>Explainable by construction: </a:t>
            </a:r>
            <a:r>
              <a:rPr sz="850" b="0" i="0">
                <a:solidFill>
                  <a:srgbClr val="140C12"/>
                </a:solidFill>
                <a:latin typeface="Aptos"/>
              </a:rPr>
              <a:t>evidence spans, rules, second opinion</a:t>
            </a:r>
          </a:p>
        </p:txBody>
      </p:sp>
      <p:sp>
        <p:nvSpPr>
          <p:cNvPr id="31" name="TextBox 30"/>
          <p:cNvSpPr txBox="1"/>
          <p:nvPr/>
        </p:nvSpPr>
        <p:spPr>
          <a:xfrm>
            <a:off x="8183879" y="4654296"/>
            <a:ext cx="3520440" cy="237744"/>
          </a:xfrm>
          <a:prstGeom prst="rect">
            <a:avLst/>
          </a:prstGeom>
          <a:noFill/>
        </p:spPr>
        <p:txBody>
          <a:bodyPr wrap="square" lIns="18288" tIns="0" rIns="18288" bIns="0" anchor="ctr">
            <a:noAutofit/>
          </a:bodyPr>
          <a:lstStyle/>
          <a:p>
            <a:pPr algn="l"/>
            <a:r>
              <a:rPr sz="850" b="1" i="0">
                <a:solidFill>
                  <a:srgbClr val="B7791F"/>
                </a:solidFill>
                <a:latin typeface="Aptos"/>
              </a:rPr>
              <a:t>✓  </a:t>
            </a:r>
            <a:r>
              <a:rPr sz="850" b="1" i="0">
                <a:solidFill>
                  <a:srgbClr val="9B1C24"/>
                </a:solidFill>
                <a:latin typeface="Aptos"/>
              </a:rPr>
              <a:t>Never auto-closes: </a:t>
            </a:r>
            <a:r>
              <a:rPr sz="850" b="0" i="0">
                <a:solidFill>
                  <a:srgbClr val="140C12"/>
                </a:solidFill>
                <a:latin typeface="Aptos"/>
              </a:rPr>
              <a:t>a human decides every uncertain case</a:t>
            </a:r>
          </a:p>
        </p:txBody>
      </p:sp>
      <p:sp>
        <p:nvSpPr>
          <p:cNvPr id="32" name="TextBox 31"/>
          <p:cNvSpPr txBox="1"/>
          <p:nvPr/>
        </p:nvSpPr>
        <p:spPr>
          <a:xfrm>
            <a:off x="8183879" y="4892040"/>
            <a:ext cx="3520440" cy="237744"/>
          </a:xfrm>
          <a:prstGeom prst="rect">
            <a:avLst/>
          </a:prstGeom>
          <a:noFill/>
        </p:spPr>
        <p:txBody>
          <a:bodyPr wrap="square" lIns="18288" tIns="0" rIns="18288" bIns="0" anchor="ctr">
            <a:noAutofit/>
          </a:bodyPr>
          <a:lstStyle/>
          <a:p>
            <a:pPr algn="l"/>
            <a:r>
              <a:rPr sz="850" b="1" i="0">
                <a:solidFill>
                  <a:srgbClr val="B7791F"/>
                </a:solidFill>
                <a:latin typeface="Aptos"/>
              </a:rPr>
              <a:t>✓  </a:t>
            </a:r>
            <a:r>
              <a:rPr sz="850" b="1" i="0">
                <a:solidFill>
                  <a:srgbClr val="9B1C24"/>
                </a:solidFill>
                <a:latin typeface="Aptos"/>
              </a:rPr>
              <a:t>Fairness measured, </a:t>
            </a:r>
            <a:r>
              <a:rPr sz="850" b="0" i="0">
                <a:solidFill>
                  <a:srgbClr val="140C12"/>
                </a:solidFill>
                <a:latin typeface="Aptos"/>
              </a:rPr>
              <a:t>not assumed: accuracy per language</a:t>
            </a:r>
          </a:p>
        </p:txBody>
      </p:sp>
      <p:sp>
        <p:nvSpPr>
          <p:cNvPr id="33" name="Rounded Rectangle 32"/>
          <p:cNvSpPr/>
          <p:nvPr/>
        </p:nvSpPr>
        <p:spPr>
          <a:xfrm>
            <a:off x="411480" y="5303519"/>
            <a:ext cx="11539530" cy="1136609"/>
          </a:xfrm>
          <a:prstGeom prst="roundRect">
            <a:avLst>
              <a:gd name="adj" fmla="val 10434"/>
            </a:avLst>
          </a:prstGeom>
          <a:solidFill>
            <a:srgbClr val="FFFFFF"/>
          </a:solidFill>
          <a:ln w="12700">
            <a:solidFill>
              <a:srgbClr val="3A3335"/>
            </a:solidFill>
          </a:ln>
          <a:effectLst/>
        </p:spPr>
        <p:txBody>
          <a:bodyPr rtlCol="0" anchor="ctr"/>
          <a:lstStyle/>
          <a:p>
            <a:pPr algn="ctr"/>
            <a:endParaRPr/>
          </a:p>
        </p:txBody>
      </p:sp>
      <p:sp>
        <p:nvSpPr>
          <p:cNvPr id="34" name="TextBox 33"/>
          <p:cNvSpPr txBox="1"/>
          <p:nvPr/>
        </p:nvSpPr>
        <p:spPr>
          <a:xfrm>
            <a:off x="548640" y="5422392"/>
            <a:ext cx="914400" cy="292608"/>
          </a:xfrm>
          <a:prstGeom prst="rect">
            <a:avLst/>
          </a:prstGeom>
          <a:noFill/>
        </p:spPr>
        <p:txBody>
          <a:bodyPr wrap="square" lIns="18288" tIns="0" rIns="18288" bIns="0" anchor="ctr">
            <a:noAutofit/>
          </a:bodyPr>
          <a:lstStyle/>
          <a:p>
            <a:pPr algn="l"/>
            <a:r>
              <a:rPr sz="950" b="1" i="0">
                <a:solidFill>
                  <a:srgbClr val="3A3335"/>
                </a:solidFill>
                <a:latin typeface="Aptos"/>
              </a:rPr>
              <a:t>Languages</a:t>
            </a:r>
          </a:p>
        </p:txBody>
      </p:sp>
      <p:sp>
        <p:nvSpPr>
          <p:cNvPr id="35" name="Rounded Rectangle 34"/>
          <p:cNvSpPr/>
          <p:nvPr/>
        </p:nvSpPr>
        <p:spPr>
          <a:xfrm>
            <a:off x="1417319" y="5440679"/>
            <a:ext cx="502920" cy="256032"/>
          </a:xfrm>
          <a:prstGeom prst="roundRect">
            <a:avLst>
              <a:gd name="adj" fmla="val 50000"/>
            </a:avLst>
          </a:prstGeom>
          <a:solidFill>
            <a:srgbClr val="9B1C24"/>
          </a:solidFill>
          <a:ln>
            <a:noFill/>
          </a:ln>
          <a:effectLst/>
        </p:spPr>
        <p:txBody>
          <a:bodyPr rtlCol="0" anchor="ctr"/>
          <a:lstStyle/>
          <a:p>
            <a:pPr algn="ctr"/>
            <a:endParaRPr/>
          </a:p>
        </p:txBody>
      </p:sp>
      <p:sp>
        <p:nvSpPr>
          <p:cNvPr id="36" name="TextBox 35"/>
          <p:cNvSpPr txBox="1"/>
          <p:nvPr/>
        </p:nvSpPr>
        <p:spPr>
          <a:xfrm>
            <a:off x="1417319" y="5440679"/>
            <a:ext cx="502920" cy="256032"/>
          </a:xfrm>
          <a:prstGeom prst="rect">
            <a:avLst/>
          </a:prstGeom>
          <a:noFill/>
        </p:spPr>
        <p:txBody>
          <a:bodyPr wrap="square" lIns="18288" tIns="0" rIns="18288" bIns="0" anchor="ctr">
            <a:noAutofit/>
          </a:bodyPr>
          <a:lstStyle/>
          <a:p>
            <a:pPr algn="ctr"/>
            <a:r>
              <a:rPr sz="800" b="1" i="0">
                <a:solidFill>
                  <a:srgbClr val="FFFFFF"/>
                </a:solidFill>
                <a:latin typeface="Aptos"/>
              </a:rPr>
              <a:t>Tamil</a:t>
            </a:r>
          </a:p>
        </p:txBody>
      </p:sp>
      <p:sp>
        <p:nvSpPr>
          <p:cNvPr id="37" name="Rounded Rectangle 36"/>
          <p:cNvSpPr/>
          <p:nvPr/>
        </p:nvSpPr>
        <p:spPr>
          <a:xfrm>
            <a:off x="1993391" y="5440679"/>
            <a:ext cx="502920" cy="256032"/>
          </a:xfrm>
          <a:prstGeom prst="roundRect">
            <a:avLst>
              <a:gd name="adj" fmla="val 50000"/>
            </a:avLst>
          </a:prstGeom>
          <a:solidFill>
            <a:srgbClr val="3A3335"/>
          </a:solidFill>
          <a:ln>
            <a:noFill/>
          </a:ln>
          <a:effectLst/>
        </p:spPr>
        <p:txBody>
          <a:bodyPr rtlCol="0" anchor="ctr"/>
          <a:lstStyle/>
          <a:p>
            <a:pPr algn="ctr"/>
            <a:endParaRPr/>
          </a:p>
        </p:txBody>
      </p:sp>
      <p:sp>
        <p:nvSpPr>
          <p:cNvPr id="38" name="TextBox 37"/>
          <p:cNvSpPr txBox="1"/>
          <p:nvPr/>
        </p:nvSpPr>
        <p:spPr>
          <a:xfrm>
            <a:off x="1993391" y="5440679"/>
            <a:ext cx="502920" cy="256032"/>
          </a:xfrm>
          <a:prstGeom prst="rect">
            <a:avLst/>
          </a:prstGeom>
          <a:noFill/>
        </p:spPr>
        <p:txBody>
          <a:bodyPr wrap="square" lIns="18288" tIns="0" rIns="18288" bIns="0" anchor="ctr">
            <a:noAutofit/>
          </a:bodyPr>
          <a:lstStyle/>
          <a:p>
            <a:pPr algn="ctr"/>
            <a:r>
              <a:rPr sz="800" b="1" i="0">
                <a:solidFill>
                  <a:srgbClr val="FFFFFF"/>
                </a:solidFill>
                <a:latin typeface="Aptos"/>
              </a:rPr>
              <a:t>Hindi</a:t>
            </a:r>
          </a:p>
        </p:txBody>
      </p:sp>
      <p:sp>
        <p:nvSpPr>
          <p:cNvPr id="39" name="Rounded Rectangle 38"/>
          <p:cNvSpPr/>
          <p:nvPr/>
        </p:nvSpPr>
        <p:spPr>
          <a:xfrm>
            <a:off x="2569463" y="5440679"/>
            <a:ext cx="612648" cy="256032"/>
          </a:xfrm>
          <a:prstGeom prst="roundRect">
            <a:avLst>
              <a:gd name="adj" fmla="val 50000"/>
            </a:avLst>
          </a:prstGeom>
          <a:solidFill>
            <a:srgbClr val="B7791F"/>
          </a:solidFill>
          <a:ln>
            <a:noFill/>
          </a:ln>
          <a:effectLst/>
        </p:spPr>
        <p:txBody>
          <a:bodyPr rtlCol="0" anchor="ctr"/>
          <a:lstStyle/>
          <a:p>
            <a:pPr algn="ctr"/>
            <a:endParaRPr/>
          </a:p>
        </p:txBody>
      </p:sp>
      <p:sp>
        <p:nvSpPr>
          <p:cNvPr id="40" name="TextBox 39"/>
          <p:cNvSpPr txBox="1"/>
          <p:nvPr/>
        </p:nvSpPr>
        <p:spPr>
          <a:xfrm>
            <a:off x="2569463" y="5440679"/>
            <a:ext cx="612648" cy="256032"/>
          </a:xfrm>
          <a:prstGeom prst="rect">
            <a:avLst/>
          </a:prstGeom>
          <a:noFill/>
        </p:spPr>
        <p:txBody>
          <a:bodyPr wrap="square" lIns="18288" tIns="0" rIns="18288" bIns="0" anchor="ctr">
            <a:noAutofit/>
          </a:bodyPr>
          <a:lstStyle/>
          <a:p>
            <a:pPr algn="ctr"/>
            <a:r>
              <a:rPr sz="800" b="1" i="0">
                <a:solidFill>
                  <a:srgbClr val="FFFFFF"/>
                </a:solidFill>
                <a:latin typeface="Aptos"/>
              </a:rPr>
              <a:t>English</a:t>
            </a:r>
          </a:p>
        </p:txBody>
      </p:sp>
      <p:sp>
        <p:nvSpPr>
          <p:cNvPr id="41" name="Rounded Rectangle 40"/>
          <p:cNvSpPr/>
          <p:nvPr/>
        </p:nvSpPr>
        <p:spPr>
          <a:xfrm>
            <a:off x="3255263" y="5440679"/>
            <a:ext cx="1088136" cy="256032"/>
          </a:xfrm>
          <a:prstGeom prst="roundRect">
            <a:avLst>
              <a:gd name="adj" fmla="val 50000"/>
            </a:avLst>
          </a:prstGeom>
          <a:solidFill>
            <a:srgbClr val="E0262D"/>
          </a:solidFill>
          <a:ln>
            <a:noFill/>
          </a:ln>
          <a:effectLst/>
        </p:spPr>
        <p:txBody>
          <a:bodyPr rtlCol="0" anchor="ctr"/>
          <a:lstStyle/>
          <a:p>
            <a:pPr algn="ctr"/>
            <a:endParaRPr/>
          </a:p>
        </p:txBody>
      </p:sp>
      <p:sp>
        <p:nvSpPr>
          <p:cNvPr id="42" name="TextBox 41"/>
          <p:cNvSpPr txBox="1"/>
          <p:nvPr/>
        </p:nvSpPr>
        <p:spPr>
          <a:xfrm>
            <a:off x="3255263" y="5440679"/>
            <a:ext cx="1088136" cy="256032"/>
          </a:xfrm>
          <a:prstGeom prst="rect">
            <a:avLst/>
          </a:prstGeom>
          <a:noFill/>
        </p:spPr>
        <p:txBody>
          <a:bodyPr wrap="square" lIns="18288" tIns="0" rIns="18288" bIns="0" anchor="ctr">
            <a:noAutofit/>
          </a:bodyPr>
          <a:lstStyle/>
          <a:p>
            <a:pPr algn="ctr"/>
            <a:r>
              <a:rPr sz="800" b="1" i="0">
                <a:solidFill>
                  <a:srgbClr val="FFFFFF"/>
                </a:solidFill>
                <a:latin typeface="Aptos"/>
              </a:rPr>
              <a:t>Tanglish (ta+en)</a:t>
            </a:r>
          </a:p>
        </p:txBody>
      </p:sp>
      <p:sp>
        <p:nvSpPr>
          <p:cNvPr id="43" name="Rounded Rectangle 42"/>
          <p:cNvSpPr/>
          <p:nvPr/>
        </p:nvSpPr>
        <p:spPr>
          <a:xfrm>
            <a:off x="4416552" y="5440679"/>
            <a:ext cx="1088136" cy="256032"/>
          </a:xfrm>
          <a:prstGeom prst="roundRect">
            <a:avLst>
              <a:gd name="adj" fmla="val 50000"/>
            </a:avLst>
          </a:prstGeom>
          <a:solidFill>
            <a:srgbClr val="7A5C2E"/>
          </a:solidFill>
          <a:ln>
            <a:noFill/>
          </a:ln>
          <a:effectLst/>
        </p:spPr>
        <p:txBody>
          <a:bodyPr rtlCol="0" anchor="ctr"/>
          <a:lstStyle/>
          <a:p>
            <a:pPr algn="ctr"/>
            <a:endParaRPr/>
          </a:p>
        </p:txBody>
      </p:sp>
      <p:sp>
        <p:nvSpPr>
          <p:cNvPr id="44" name="TextBox 43"/>
          <p:cNvSpPr txBox="1"/>
          <p:nvPr/>
        </p:nvSpPr>
        <p:spPr>
          <a:xfrm>
            <a:off x="4416552" y="5440679"/>
            <a:ext cx="1088136" cy="256032"/>
          </a:xfrm>
          <a:prstGeom prst="rect">
            <a:avLst/>
          </a:prstGeom>
          <a:noFill/>
        </p:spPr>
        <p:txBody>
          <a:bodyPr wrap="square" lIns="18288" tIns="0" rIns="18288" bIns="0" anchor="ctr">
            <a:noAutofit/>
          </a:bodyPr>
          <a:lstStyle/>
          <a:p>
            <a:pPr algn="ctr"/>
            <a:r>
              <a:rPr sz="800" b="1" i="0">
                <a:solidFill>
                  <a:srgbClr val="FFFFFF"/>
                </a:solidFill>
                <a:latin typeface="Aptos"/>
              </a:rPr>
              <a:t>Hinglish (hi+en)</a:t>
            </a:r>
          </a:p>
        </p:txBody>
      </p:sp>
      <p:sp>
        <p:nvSpPr>
          <p:cNvPr id="45" name="TextBox 44"/>
          <p:cNvSpPr txBox="1"/>
          <p:nvPr/>
        </p:nvSpPr>
        <p:spPr>
          <a:xfrm>
            <a:off x="6126480" y="5422392"/>
            <a:ext cx="914400" cy="292608"/>
          </a:xfrm>
          <a:prstGeom prst="rect">
            <a:avLst/>
          </a:prstGeom>
          <a:noFill/>
        </p:spPr>
        <p:txBody>
          <a:bodyPr wrap="square" lIns="18288" tIns="0" rIns="18288" bIns="0" anchor="ctr">
            <a:noAutofit/>
          </a:bodyPr>
          <a:lstStyle/>
          <a:p>
            <a:pPr algn="l"/>
            <a:r>
              <a:rPr sz="950" b="1" i="0">
                <a:solidFill>
                  <a:srgbClr val="3A3335"/>
                </a:solidFill>
                <a:latin typeface="Aptos"/>
              </a:rPr>
              <a:t>Outputs</a:t>
            </a:r>
          </a:p>
        </p:txBody>
      </p:sp>
      <p:sp>
        <p:nvSpPr>
          <p:cNvPr id="46" name="Rounded Rectangle 45"/>
          <p:cNvSpPr/>
          <p:nvPr/>
        </p:nvSpPr>
        <p:spPr>
          <a:xfrm>
            <a:off x="6995160" y="5440679"/>
            <a:ext cx="768096" cy="256032"/>
          </a:xfrm>
          <a:prstGeom prst="roundRect">
            <a:avLst>
              <a:gd name="adj" fmla="val 50000"/>
            </a:avLst>
          </a:prstGeom>
          <a:solidFill>
            <a:srgbClr val="3A3335"/>
          </a:solidFill>
          <a:ln>
            <a:noFill/>
          </a:ln>
          <a:effectLst/>
        </p:spPr>
        <p:txBody>
          <a:bodyPr rtlCol="0" anchor="ctr"/>
          <a:lstStyle/>
          <a:p>
            <a:pPr algn="ctr"/>
            <a:endParaRPr/>
          </a:p>
        </p:txBody>
      </p:sp>
      <p:sp>
        <p:nvSpPr>
          <p:cNvPr id="47" name="TextBox 46"/>
          <p:cNvSpPr txBox="1"/>
          <p:nvPr/>
        </p:nvSpPr>
        <p:spPr>
          <a:xfrm>
            <a:off x="6995160" y="5440679"/>
            <a:ext cx="768096" cy="256032"/>
          </a:xfrm>
          <a:prstGeom prst="rect">
            <a:avLst/>
          </a:prstGeom>
          <a:noFill/>
        </p:spPr>
        <p:txBody>
          <a:bodyPr wrap="square" lIns="18288" tIns="0" rIns="18288" bIns="0" anchor="ctr">
            <a:noAutofit/>
          </a:bodyPr>
          <a:lstStyle/>
          <a:p>
            <a:pPr algn="ctr"/>
            <a:r>
              <a:rPr sz="800" b="1" i="0">
                <a:solidFill>
                  <a:srgbClr val="FFFFFF"/>
                </a:solidFill>
                <a:latin typeface="Aptos"/>
              </a:rPr>
              <a:t>Department</a:t>
            </a:r>
          </a:p>
        </p:txBody>
      </p:sp>
      <p:sp>
        <p:nvSpPr>
          <p:cNvPr id="48" name="Rounded Rectangle 47"/>
          <p:cNvSpPr/>
          <p:nvPr/>
        </p:nvSpPr>
        <p:spPr>
          <a:xfrm>
            <a:off x="7836408" y="5440679"/>
            <a:ext cx="612648" cy="256032"/>
          </a:xfrm>
          <a:prstGeom prst="roundRect">
            <a:avLst>
              <a:gd name="adj" fmla="val 50000"/>
            </a:avLst>
          </a:prstGeom>
          <a:solidFill>
            <a:srgbClr val="3A3335"/>
          </a:solidFill>
          <a:ln>
            <a:noFill/>
          </a:ln>
          <a:effectLst/>
        </p:spPr>
        <p:txBody>
          <a:bodyPr rtlCol="0" anchor="ctr"/>
          <a:lstStyle/>
          <a:p>
            <a:pPr algn="ctr"/>
            <a:endParaRPr/>
          </a:p>
        </p:txBody>
      </p:sp>
      <p:sp>
        <p:nvSpPr>
          <p:cNvPr id="49" name="TextBox 48"/>
          <p:cNvSpPr txBox="1"/>
          <p:nvPr/>
        </p:nvSpPr>
        <p:spPr>
          <a:xfrm>
            <a:off x="7836408" y="5440679"/>
            <a:ext cx="612648" cy="256032"/>
          </a:xfrm>
          <a:prstGeom prst="rect">
            <a:avLst/>
          </a:prstGeom>
          <a:noFill/>
        </p:spPr>
        <p:txBody>
          <a:bodyPr wrap="square" lIns="18288" tIns="0" rIns="18288" bIns="0" anchor="ctr">
            <a:noAutofit/>
          </a:bodyPr>
          <a:lstStyle/>
          <a:p>
            <a:pPr algn="ctr"/>
            <a:r>
              <a:rPr sz="800" b="1" i="0">
                <a:solidFill>
                  <a:srgbClr val="FFFFFF"/>
                </a:solidFill>
                <a:latin typeface="Aptos"/>
              </a:rPr>
              <a:t>Urgency</a:t>
            </a:r>
          </a:p>
        </p:txBody>
      </p:sp>
      <p:sp>
        <p:nvSpPr>
          <p:cNvPr id="50" name="Rounded Rectangle 49"/>
          <p:cNvSpPr/>
          <p:nvPr/>
        </p:nvSpPr>
        <p:spPr>
          <a:xfrm>
            <a:off x="8522208" y="5440679"/>
            <a:ext cx="987552" cy="256032"/>
          </a:xfrm>
          <a:prstGeom prst="roundRect">
            <a:avLst>
              <a:gd name="adj" fmla="val 50000"/>
            </a:avLst>
          </a:prstGeom>
          <a:solidFill>
            <a:srgbClr val="3A3335"/>
          </a:solidFill>
          <a:ln>
            <a:noFill/>
          </a:ln>
          <a:effectLst/>
        </p:spPr>
        <p:txBody>
          <a:bodyPr rtlCol="0" anchor="ctr"/>
          <a:lstStyle/>
          <a:p>
            <a:pPr algn="ctr"/>
            <a:endParaRPr/>
          </a:p>
        </p:txBody>
      </p:sp>
      <p:sp>
        <p:nvSpPr>
          <p:cNvPr id="51" name="TextBox 50"/>
          <p:cNvSpPr txBox="1"/>
          <p:nvPr/>
        </p:nvSpPr>
        <p:spPr>
          <a:xfrm>
            <a:off x="8522208" y="5440679"/>
            <a:ext cx="987552" cy="256032"/>
          </a:xfrm>
          <a:prstGeom prst="rect">
            <a:avLst/>
          </a:prstGeom>
          <a:noFill/>
        </p:spPr>
        <p:txBody>
          <a:bodyPr wrap="square" lIns="18288" tIns="0" rIns="18288" bIns="0" anchor="ctr">
            <a:noAutofit/>
          </a:bodyPr>
          <a:lstStyle/>
          <a:p>
            <a:pPr algn="ctr"/>
            <a:r>
              <a:rPr sz="800" b="1" i="0">
                <a:solidFill>
                  <a:srgbClr val="FFFFFF"/>
                </a:solidFill>
                <a:latin typeface="Aptos"/>
              </a:rPr>
              <a:t>Evidence spans</a:t>
            </a:r>
          </a:p>
        </p:txBody>
      </p:sp>
      <p:sp>
        <p:nvSpPr>
          <p:cNvPr id="52" name="Rounded Rectangle 51"/>
          <p:cNvSpPr/>
          <p:nvPr/>
        </p:nvSpPr>
        <p:spPr>
          <a:xfrm>
            <a:off x="9582912" y="5440679"/>
            <a:ext cx="1362456" cy="256032"/>
          </a:xfrm>
          <a:prstGeom prst="roundRect">
            <a:avLst>
              <a:gd name="adj" fmla="val 50000"/>
            </a:avLst>
          </a:prstGeom>
          <a:solidFill>
            <a:srgbClr val="3A3335"/>
          </a:solidFill>
          <a:ln>
            <a:noFill/>
          </a:ln>
          <a:effectLst/>
        </p:spPr>
        <p:txBody>
          <a:bodyPr rtlCol="0" anchor="ctr"/>
          <a:lstStyle/>
          <a:p>
            <a:pPr algn="ctr"/>
            <a:endParaRPr/>
          </a:p>
        </p:txBody>
      </p:sp>
      <p:sp>
        <p:nvSpPr>
          <p:cNvPr id="53" name="TextBox 52"/>
          <p:cNvSpPr txBox="1"/>
          <p:nvPr/>
        </p:nvSpPr>
        <p:spPr>
          <a:xfrm>
            <a:off x="9582912" y="5440679"/>
            <a:ext cx="1362456" cy="256032"/>
          </a:xfrm>
          <a:prstGeom prst="rect">
            <a:avLst/>
          </a:prstGeom>
          <a:noFill/>
        </p:spPr>
        <p:txBody>
          <a:bodyPr wrap="square" lIns="18288" tIns="0" rIns="18288" bIns="0" anchor="ctr">
            <a:noAutofit/>
          </a:bodyPr>
          <a:lstStyle/>
          <a:p>
            <a:pPr algn="ctr"/>
            <a:r>
              <a:rPr sz="800" b="1" i="0">
                <a:solidFill>
                  <a:srgbClr val="FFFFFF"/>
                </a:solidFill>
                <a:latin typeface="Aptos"/>
              </a:rPr>
              <a:t>Office + SLA due time</a:t>
            </a:r>
          </a:p>
        </p:txBody>
      </p:sp>
      <p:sp>
        <p:nvSpPr>
          <p:cNvPr id="54" name="Rounded Rectangle 53"/>
          <p:cNvSpPr/>
          <p:nvPr/>
        </p:nvSpPr>
        <p:spPr>
          <a:xfrm>
            <a:off x="11018520" y="5440679"/>
            <a:ext cx="877824" cy="256032"/>
          </a:xfrm>
          <a:prstGeom prst="roundRect">
            <a:avLst>
              <a:gd name="adj" fmla="val 50000"/>
            </a:avLst>
          </a:prstGeom>
          <a:solidFill>
            <a:srgbClr val="3A3335"/>
          </a:solidFill>
          <a:ln>
            <a:noFill/>
          </a:ln>
          <a:effectLst/>
        </p:spPr>
        <p:txBody>
          <a:bodyPr rtlCol="0" anchor="ctr"/>
          <a:lstStyle/>
          <a:p>
            <a:pPr algn="ctr"/>
            <a:endParaRPr/>
          </a:p>
        </p:txBody>
      </p:sp>
      <p:sp>
        <p:nvSpPr>
          <p:cNvPr id="55" name="TextBox 54"/>
          <p:cNvSpPr txBox="1"/>
          <p:nvPr/>
        </p:nvSpPr>
        <p:spPr>
          <a:xfrm>
            <a:off x="11018520" y="5440679"/>
            <a:ext cx="877824" cy="256032"/>
          </a:xfrm>
          <a:prstGeom prst="rect">
            <a:avLst/>
          </a:prstGeom>
          <a:noFill/>
        </p:spPr>
        <p:txBody>
          <a:bodyPr wrap="square" lIns="18288" tIns="0" rIns="18288" bIns="0" anchor="ctr">
            <a:noAutofit/>
          </a:bodyPr>
          <a:lstStyle/>
          <a:p>
            <a:pPr algn="ctr"/>
            <a:r>
              <a:rPr sz="800" b="1" i="0">
                <a:solidFill>
                  <a:srgbClr val="FFFFFF"/>
                </a:solidFill>
                <a:latin typeface="Aptos"/>
              </a:rPr>
              <a:t>Status email</a:t>
            </a:r>
          </a:p>
        </p:txBody>
      </p:sp>
      <p:sp>
        <p:nvSpPr>
          <p:cNvPr id="56" name="TextBox 55"/>
          <p:cNvSpPr txBox="1"/>
          <p:nvPr/>
        </p:nvSpPr>
        <p:spPr>
          <a:xfrm>
            <a:off x="548640" y="5897880"/>
            <a:ext cx="914400" cy="292608"/>
          </a:xfrm>
          <a:prstGeom prst="rect">
            <a:avLst/>
          </a:prstGeom>
          <a:noFill/>
        </p:spPr>
        <p:txBody>
          <a:bodyPr wrap="square" lIns="18288" tIns="0" rIns="18288" bIns="0" anchor="ctr">
            <a:noAutofit/>
          </a:bodyPr>
          <a:lstStyle/>
          <a:p>
            <a:pPr algn="l"/>
            <a:r>
              <a:rPr sz="950" b="1" i="0">
                <a:solidFill>
                  <a:srgbClr val="3A3335"/>
                </a:solidFill>
                <a:latin typeface="Aptos"/>
              </a:rPr>
              <a:t>Inputs</a:t>
            </a:r>
          </a:p>
        </p:txBody>
      </p:sp>
      <p:sp>
        <p:nvSpPr>
          <p:cNvPr id="57" name="Rounded Rectangle 56"/>
          <p:cNvSpPr/>
          <p:nvPr/>
        </p:nvSpPr>
        <p:spPr>
          <a:xfrm>
            <a:off x="1417319" y="5916168"/>
            <a:ext cx="722376" cy="256032"/>
          </a:xfrm>
          <a:prstGeom prst="roundRect">
            <a:avLst>
              <a:gd name="adj" fmla="val 50000"/>
            </a:avLst>
          </a:prstGeom>
          <a:solidFill>
            <a:srgbClr val="B7791F"/>
          </a:solidFill>
          <a:ln>
            <a:noFill/>
          </a:ln>
          <a:effectLst/>
        </p:spPr>
        <p:txBody>
          <a:bodyPr rtlCol="0" anchor="ctr"/>
          <a:lstStyle/>
          <a:p>
            <a:pPr algn="ctr"/>
            <a:endParaRPr/>
          </a:p>
        </p:txBody>
      </p:sp>
      <p:sp>
        <p:nvSpPr>
          <p:cNvPr id="58" name="TextBox 57"/>
          <p:cNvSpPr txBox="1"/>
          <p:nvPr/>
        </p:nvSpPr>
        <p:spPr>
          <a:xfrm>
            <a:off x="1417319" y="5916168"/>
            <a:ext cx="722376" cy="256032"/>
          </a:xfrm>
          <a:prstGeom prst="rect">
            <a:avLst/>
          </a:prstGeom>
          <a:noFill/>
        </p:spPr>
        <p:txBody>
          <a:bodyPr wrap="square" lIns="18288" tIns="0" rIns="18288" bIns="0" anchor="ctr">
            <a:noAutofit/>
          </a:bodyPr>
          <a:lstStyle/>
          <a:p>
            <a:pPr algn="ctr"/>
            <a:r>
              <a:rPr sz="800" b="1" i="0">
                <a:solidFill>
                  <a:srgbClr val="FFFFFF"/>
                </a:solidFill>
                <a:latin typeface="Aptos"/>
              </a:rPr>
              <a:t>Free text</a:t>
            </a:r>
          </a:p>
        </p:txBody>
      </p:sp>
      <p:sp>
        <p:nvSpPr>
          <p:cNvPr id="59" name="Rounded Rectangle 58"/>
          <p:cNvSpPr/>
          <p:nvPr/>
        </p:nvSpPr>
        <p:spPr>
          <a:xfrm>
            <a:off x="2212848" y="5916168"/>
            <a:ext cx="877824" cy="256032"/>
          </a:xfrm>
          <a:prstGeom prst="roundRect">
            <a:avLst>
              <a:gd name="adj" fmla="val 50000"/>
            </a:avLst>
          </a:prstGeom>
          <a:solidFill>
            <a:srgbClr val="B7791F"/>
          </a:solidFill>
          <a:ln>
            <a:noFill/>
          </a:ln>
          <a:effectLst/>
        </p:spPr>
        <p:txBody>
          <a:bodyPr rtlCol="0" anchor="ctr"/>
          <a:lstStyle/>
          <a:p>
            <a:pPr algn="ctr"/>
            <a:endParaRPr/>
          </a:p>
        </p:txBody>
      </p:sp>
      <p:sp>
        <p:nvSpPr>
          <p:cNvPr id="60" name="TextBox 59"/>
          <p:cNvSpPr txBox="1"/>
          <p:nvPr/>
        </p:nvSpPr>
        <p:spPr>
          <a:xfrm>
            <a:off x="2212848" y="5916168"/>
            <a:ext cx="877824" cy="256032"/>
          </a:xfrm>
          <a:prstGeom prst="rect">
            <a:avLst/>
          </a:prstGeom>
          <a:noFill/>
        </p:spPr>
        <p:txBody>
          <a:bodyPr wrap="square" lIns="18288" tIns="0" rIns="18288" bIns="0" anchor="ctr">
            <a:noAutofit/>
          </a:bodyPr>
          <a:lstStyle/>
          <a:p>
            <a:pPr algn="ctr"/>
            <a:r>
              <a:rPr sz="800" b="1" i="0">
                <a:solidFill>
                  <a:srgbClr val="FFFFFF"/>
                </a:solidFill>
                <a:latin typeface="Aptos"/>
              </a:rPr>
              <a:t>Photo upload</a:t>
            </a:r>
          </a:p>
        </p:txBody>
      </p:sp>
      <p:sp>
        <p:nvSpPr>
          <p:cNvPr id="61" name="Rounded Rectangle 60"/>
          <p:cNvSpPr/>
          <p:nvPr/>
        </p:nvSpPr>
        <p:spPr>
          <a:xfrm>
            <a:off x="3163824" y="5916168"/>
            <a:ext cx="932688" cy="256032"/>
          </a:xfrm>
          <a:prstGeom prst="roundRect">
            <a:avLst>
              <a:gd name="adj" fmla="val 50000"/>
            </a:avLst>
          </a:prstGeom>
          <a:solidFill>
            <a:srgbClr val="B7791F"/>
          </a:solidFill>
          <a:ln>
            <a:noFill/>
          </a:ln>
          <a:effectLst/>
        </p:spPr>
        <p:txBody>
          <a:bodyPr rtlCol="0" anchor="ctr"/>
          <a:lstStyle/>
          <a:p>
            <a:pPr algn="ctr"/>
            <a:endParaRPr/>
          </a:p>
        </p:txBody>
      </p:sp>
      <p:sp>
        <p:nvSpPr>
          <p:cNvPr id="62" name="TextBox 61"/>
          <p:cNvSpPr txBox="1"/>
          <p:nvPr/>
        </p:nvSpPr>
        <p:spPr>
          <a:xfrm>
            <a:off x="3163824" y="5916168"/>
            <a:ext cx="932688" cy="256032"/>
          </a:xfrm>
          <a:prstGeom prst="rect">
            <a:avLst/>
          </a:prstGeom>
          <a:noFill/>
        </p:spPr>
        <p:txBody>
          <a:bodyPr wrap="square" lIns="18288" tIns="0" rIns="18288" bIns="0" anchor="ctr">
            <a:noAutofit/>
          </a:bodyPr>
          <a:lstStyle/>
          <a:p>
            <a:pPr algn="ctr"/>
            <a:r>
              <a:rPr sz="800" b="1" i="0">
                <a:solidFill>
                  <a:srgbClr val="FFFFFF"/>
                </a:solidFill>
                <a:latin typeface="Aptos"/>
              </a:rPr>
              <a:t>In-app camera</a:t>
            </a:r>
          </a:p>
        </p:txBody>
      </p:sp>
      <p:sp>
        <p:nvSpPr>
          <p:cNvPr id="63" name="Rounded Rectangle 62"/>
          <p:cNvSpPr/>
          <p:nvPr/>
        </p:nvSpPr>
        <p:spPr>
          <a:xfrm>
            <a:off x="4169664" y="5916168"/>
            <a:ext cx="877824" cy="256032"/>
          </a:xfrm>
          <a:prstGeom prst="roundRect">
            <a:avLst>
              <a:gd name="adj" fmla="val 50000"/>
            </a:avLst>
          </a:prstGeom>
          <a:solidFill>
            <a:srgbClr val="B7791F"/>
          </a:solidFill>
          <a:ln>
            <a:noFill/>
          </a:ln>
          <a:effectLst/>
        </p:spPr>
        <p:txBody>
          <a:bodyPr rtlCol="0" anchor="ctr"/>
          <a:lstStyle/>
          <a:p>
            <a:pPr algn="ctr"/>
            <a:endParaRPr/>
          </a:p>
        </p:txBody>
      </p:sp>
      <p:sp>
        <p:nvSpPr>
          <p:cNvPr id="64" name="TextBox 63"/>
          <p:cNvSpPr txBox="1"/>
          <p:nvPr/>
        </p:nvSpPr>
        <p:spPr>
          <a:xfrm>
            <a:off x="4169664" y="5916168"/>
            <a:ext cx="877824" cy="256032"/>
          </a:xfrm>
          <a:prstGeom prst="rect">
            <a:avLst/>
          </a:prstGeom>
          <a:noFill/>
        </p:spPr>
        <p:txBody>
          <a:bodyPr wrap="square" lIns="18288" tIns="0" rIns="18288" bIns="0" anchor="ctr">
            <a:noAutofit/>
          </a:bodyPr>
          <a:lstStyle/>
          <a:p>
            <a:pPr algn="ctr"/>
            <a:r>
              <a:rPr sz="800" b="1" i="0">
                <a:solidFill>
                  <a:srgbClr val="FFFFFF"/>
                </a:solidFill>
                <a:latin typeface="Aptos"/>
              </a:rPr>
              <a:t>GPS location</a:t>
            </a:r>
          </a:p>
        </p:txBody>
      </p:sp>
      <p:sp>
        <p:nvSpPr>
          <p:cNvPr id="65" name="Rounded Rectangle 64"/>
          <p:cNvSpPr/>
          <p:nvPr/>
        </p:nvSpPr>
        <p:spPr>
          <a:xfrm>
            <a:off x="5120640" y="5916168"/>
            <a:ext cx="987552" cy="256032"/>
          </a:xfrm>
          <a:prstGeom prst="roundRect">
            <a:avLst>
              <a:gd name="adj" fmla="val 50000"/>
            </a:avLst>
          </a:prstGeom>
          <a:solidFill>
            <a:srgbClr val="B7791F"/>
          </a:solidFill>
          <a:ln>
            <a:noFill/>
          </a:ln>
          <a:effectLst/>
        </p:spPr>
        <p:txBody>
          <a:bodyPr rtlCol="0" anchor="ctr"/>
          <a:lstStyle/>
          <a:p>
            <a:pPr algn="ctr"/>
            <a:endParaRPr/>
          </a:p>
        </p:txBody>
      </p:sp>
      <p:sp>
        <p:nvSpPr>
          <p:cNvPr id="66" name="TextBox 65"/>
          <p:cNvSpPr txBox="1"/>
          <p:nvPr/>
        </p:nvSpPr>
        <p:spPr>
          <a:xfrm>
            <a:off x="5120640" y="5916168"/>
            <a:ext cx="987552" cy="256032"/>
          </a:xfrm>
          <a:prstGeom prst="rect">
            <a:avLst/>
          </a:prstGeom>
          <a:noFill/>
        </p:spPr>
        <p:txBody>
          <a:bodyPr wrap="square" lIns="18288" tIns="0" rIns="18288" bIns="0" anchor="ctr">
            <a:noAutofit/>
          </a:bodyPr>
          <a:lstStyle/>
          <a:p>
            <a:pPr algn="ctr"/>
            <a:r>
              <a:rPr sz="800" b="1" i="0">
                <a:solidFill>
                  <a:srgbClr val="FFFFFF"/>
                </a:solidFill>
                <a:latin typeface="Aptos"/>
              </a:rPr>
              <a:t>Manual address</a:t>
            </a:r>
          </a:p>
        </p:txBody>
      </p:sp>
      <p:sp>
        <p:nvSpPr>
          <p:cNvPr id="67" name="TextBox 66"/>
          <p:cNvSpPr txBox="1"/>
          <p:nvPr/>
        </p:nvSpPr>
        <p:spPr>
          <a:xfrm>
            <a:off x="6126480" y="5897880"/>
            <a:ext cx="914400" cy="292608"/>
          </a:xfrm>
          <a:prstGeom prst="rect">
            <a:avLst/>
          </a:prstGeom>
          <a:noFill/>
        </p:spPr>
        <p:txBody>
          <a:bodyPr wrap="square" lIns="18288" tIns="0" rIns="18288" bIns="0" anchor="ctr">
            <a:noAutofit/>
          </a:bodyPr>
          <a:lstStyle/>
          <a:p>
            <a:pPr algn="l"/>
            <a:r>
              <a:rPr sz="950" b="1" i="0">
                <a:solidFill>
                  <a:srgbClr val="3A3335"/>
                </a:solidFill>
                <a:latin typeface="Aptos"/>
              </a:rPr>
              <a:t>Guarantees</a:t>
            </a:r>
          </a:p>
        </p:txBody>
      </p:sp>
      <p:sp>
        <p:nvSpPr>
          <p:cNvPr id="68" name="Rounded Rectangle 67"/>
          <p:cNvSpPr/>
          <p:nvPr/>
        </p:nvSpPr>
        <p:spPr>
          <a:xfrm>
            <a:off x="6995160" y="5916168"/>
            <a:ext cx="1143000" cy="256032"/>
          </a:xfrm>
          <a:prstGeom prst="roundRect">
            <a:avLst>
              <a:gd name="adj" fmla="val 50000"/>
            </a:avLst>
          </a:prstGeom>
          <a:solidFill>
            <a:srgbClr val="7A5C2E"/>
          </a:solidFill>
          <a:ln>
            <a:noFill/>
          </a:ln>
          <a:effectLst/>
        </p:spPr>
        <p:txBody>
          <a:bodyPr rtlCol="0" anchor="ctr"/>
          <a:lstStyle/>
          <a:p>
            <a:pPr algn="ctr"/>
            <a:endParaRPr/>
          </a:p>
        </p:txBody>
      </p:sp>
      <p:sp>
        <p:nvSpPr>
          <p:cNvPr id="69" name="TextBox 68"/>
          <p:cNvSpPr txBox="1"/>
          <p:nvPr/>
        </p:nvSpPr>
        <p:spPr>
          <a:xfrm>
            <a:off x="6995160" y="5916168"/>
            <a:ext cx="1143000" cy="256032"/>
          </a:xfrm>
          <a:prstGeom prst="rect">
            <a:avLst/>
          </a:prstGeom>
          <a:noFill/>
        </p:spPr>
        <p:txBody>
          <a:bodyPr wrap="square" lIns="18288" tIns="0" rIns="18288" bIns="0" anchor="ctr">
            <a:noAutofit/>
          </a:bodyPr>
          <a:lstStyle/>
          <a:p>
            <a:pPr algn="ctr"/>
            <a:r>
              <a:rPr sz="800" b="1" i="0">
                <a:solidFill>
                  <a:srgbClr val="FFFFFF"/>
                </a:solidFill>
                <a:latin typeface="Aptos"/>
              </a:rPr>
              <a:t>Tracking ID &lt; 1 s</a:t>
            </a:r>
          </a:p>
        </p:txBody>
      </p:sp>
      <p:sp>
        <p:nvSpPr>
          <p:cNvPr id="70" name="Rounded Rectangle 69"/>
          <p:cNvSpPr/>
          <p:nvPr/>
        </p:nvSpPr>
        <p:spPr>
          <a:xfrm>
            <a:off x="8211312" y="5916168"/>
            <a:ext cx="877824" cy="256032"/>
          </a:xfrm>
          <a:prstGeom prst="roundRect">
            <a:avLst>
              <a:gd name="adj" fmla="val 50000"/>
            </a:avLst>
          </a:prstGeom>
          <a:solidFill>
            <a:srgbClr val="7A5C2E"/>
          </a:solidFill>
          <a:ln>
            <a:noFill/>
          </a:ln>
          <a:effectLst/>
        </p:spPr>
        <p:txBody>
          <a:bodyPr rtlCol="0" anchor="ctr"/>
          <a:lstStyle/>
          <a:p>
            <a:pPr algn="ctr"/>
            <a:endParaRPr/>
          </a:p>
        </p:txBody>
      </p:sp>
      <p:sp>
        <p:nvSpPr>
          <p:cNvPr id="71" name="TextBox 70"/>
          <p:cNvSpPr txBox="1"/>
          <p:nvPr/>
        </p:nvSpPr>
        <p:spPr>
          <a:xfrm>
            <a:off x="8211312" y="5916168"/>
            <a:ext cx="877824" cy="256032"/>
          </a:xfrm>
          <a:prstGeom prst="rect">
            <a:avLst/>
          </a:prstGeom>
          <a:noFill/>
        </p:spPr>
        <p:txBody>
          <a:bodyPr wrap="square" lIns="18288" tIns="0" rIns="18288" bIns="0" anchor="ctr">
            <a:noAutofit/>
          </a:bodyPr>
          <a:lstStyle/>
          <a:p>
            <a:pPr algn="ctr"/>
            <a:r>
              <a:rPr sz="800" b="1" i="0">
                <a:solidFill>
                  <a:srgbClr val="FFFFFF"/>
                </a:solidFill>
                <a:latin typeface="Aptos"/>
              </a:rPr>
              <a:t>Human review</a:t>
            </a:r>
          </a:p>
        </p:txBody>
      </p:sp>
      <p:sp>
        <p:nvSpPr>
          <p:cNvPr id="72" name="Rounded Rectangle 71"/>
          <p:cNvSpPr/>
          <p:nvPr/>
        </p:nvSpPr>
        <p:spPr>
          <a:xfrm>
            <a:off x="9162288" y="5916168"/>
            <a:ext cx="987552" cy="256032"/>
          </a:xfrm>
          <a:prstGeom prst="roundRect">
            <a:avLst>
              <a:gd name="adj" fmla="val 50000"/>
            </a:avLst>
          </a:prstGeom>
          <a:solidFill>
            <a:srgbClr val="7A5C2E"/>
          </a:solidFill>
          <a:ln>
            <a:noFill/>
          </a:ln>
          <a:effectLst/>
        </p:spPr>
        <p:txBody>
          <a:bodyPr rtlCol="0" anchor="ctr"/>
          <a:lstStyle/>
          <a:p>
            <a:pPr algn="ctr"/>
            <a:endParaRPr/>
          </a:p>
        </p:txBody>
      </p:sp>
      <p:sp>
        <p:nvSpPr>
          <p:cNvPr id="73" name="TextBox 72"/>
          <p:cNvSpPr txBox="1"/>
          <p:nvPr/>
        </p:nvSpPr>
        <p:spPr>
          <a:xfrm>
            <a:off x="9162288" y="5916168"/>
            <a:ext cx="987552" cy="256032"/>
          </a:xfrm>
          <a:prstGeom prst="rect">
            <a:avLst/>
          </a:prstGeom>
          <a:noFill/>
        </p:spPr>
        <p:txBody>
          <a:bodyPr wrap="square" lIns="18288" tIns="0" rIns="18288" bIns="0" anchor="ctr">
            <a:noAutofit/>
          </a:bodyPr>
          <a:lstStyle/>
          <a:p>
            <a:pPr algn="ctr"/>
            <a:r>
              <a:rPr sz="800" b="1" i="0">
                <a:solidFill>
                  <a:srgbClr val="FFFFFF"/>
                </a:solidFill>
                <a:latin typeface="Aptos"/>
              </a:rPr>
              <a:t>Reply + rating</a:t>
            </a:r>
          </a:p>
        </p:txBody>
      </p:sp>
      <p:sp>
        <p:nvSpPr>
          <p:cNvPr id="74" name="Rounded Rectangle 73"/>
          <p:cNvSpPr/>
          <p:nvPr/>
        </p:nvSpPr>
        <p:spPr>
          <a:xfrm>
            <a:off x="10222992" y="5916168"/>
            <a:ext cx="557784" cy="256032"/>
          </a:xfrm>
          <a:prstGeom prst="roundRect">
            <a:avLst>
              <a:gd name="adj" fmla="val 50000"/>
            </a:avLst>
          </a:prstGeom>
          <a:solidFill>
            <a:srgbClr val="7A5C2E"/>
          </a:solidFill>
          <a:ln>
            <a:noFill/>
          </a:ln>
          <a:effectLst/>
        </p:spPr>
        <p:txBody>
          <a:bodyPr rtlCol="0" anchor="ctr"/>
          <a:lstStyle/>
          <a:p>
            <a:pPr algn="ctr"/>
            <a:endParaRPr/>
          </a:p>
        </p:txBody>
      </p:sp>
      <p:sp>
        <p:nvSpPr>
          <p:cNvPr id="75" name="TextBox 74"/>
          <p:cNvSpPr txBox="1"/>
          <p:nvPr/>
        </p:nvSpPr>
        <p:spPr>
          <a:xfrm>
            <a:off x="10222992" y="5916168"/>
            <a:ext cx="557784" cy="256032"/>
          </a:xfrm>
          <a:prstGeom prst="rect">
            <a:avLst/>
          </a:prstGeom>
          <a:noFill/>
        </p:spPr>
        <p:txBody>
          <a:bodyPr wrap="square" lIns="18288" tIns="0" rIns="18288" bIns="0" anchor="ctr">
            <a:noAutofit/>
          </a:bodyPr>
          <a:lstStyle/>
          <a:p>
            <a:pPr algn="ctr"/>
            <a:r>
              <a:rPr sz="800" b="1" i="0">
                <a:solidFill>
                  <a:srgbClr val="FFFFFF"/>
                </a:solidFill>
                <a:latin typeface="Aptos"/>
              </a:rPr>
              <a:t>Me-too</a:t>
            </a:r>
          </a:p>
        </p:txBody>
      </p:sp>
      <p:sp>
        <p:nvSpPr>
          <p:cNvPr id="76" name="Rounded Rectangle 75"/>
          <p:cNvSpPr/>
          <p:nvPr/>
        </p:nvSpPr>
        <p:spPr>
          <a:xfrm>
            <a:off x="10853928" y="5916168"/>
            <a:ext cx="768096" cy="256032"/>
          </a:xfrm>
          <a:prstGeom prst="roundRect">
            <a:avLst>
              <a:gd name="adj" fmla="val 50000"/>
            </a:avLst>
          </a:prstGeom>
          <a:solidFill>
            <a:srgbClr val="7A5C2E"/>
          </a:solidFill>
          <a:ln>
            <a:noFill/>
          </a:ln>
          <a:effectLst/>
        </p:spPr>
        <p:txBody>
          <a:bodyPr rtlCol="0" anchor="ctr"/>
          <a:lstStyle/>
          <a:p>
            <a:pPr algn="ctr"/>
            <a:endParaRPr/>
          </a:p>
        </p:txBody>
      </p:sp>
      <p:sp>
        <p:nvSpPr>
          <p:cNvPr id="77" name="TextBox 76"/>
          <p:cNvSpPr txBox="1"/>
          <p:nvPr/>
        </p:nvSpPr>
        <p:spPr>
          <a:xfrm>
            <a:off x="10853928" y="5916168"/>
            <a:ext cx="768096" cy="256032"/>
          </a:xfrm>
          <a:prstGeom prst="rect">
            <a:avLst/>
          </a:prstGeom>
          <a:noFill/>
        </p:spPr>
        <p:txBody>
          <a:bodyPr wrap="square" lIns="18288" tIns="0" rIns="18288" bIns="0" anchor="ctr">
            <a:noAutofit/>
          </a:bodyPr>
          <a:lstStyle/>
          <a:p>
            <a:pPr algn="ctr"/>
            <a:r>
              <a:rPr sz="800" b="1" i="0">
                <a:solidFill>
                  <a:srgbClr val="FFFFFF"/>
                </a:solidFill>
                <a:latin typeface="Aptos"/>
              </a:rPr>
              <a:t>SLA alerts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4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E0262D"/>
          </a:solidFill>
          <a:ln>
            <a:solidFill>
              <a:srgbClr val="E0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56032"/>
            <a:ext cx="8046720" cy="274320"/>
          </a:xfrm>
          <a:prstGeom prst="rect">
            <a:avLst/>
          </a:prstGeom>
          <a:noFill/>
        </p:spPr>
        <p:txBody>
          <a:bodyPr wrap="none" lIns="54864" tIns="54864" rIns="54864" bIns="54864" anchor="t">
            <a:spAutoFit/>
          </a:bodyPr>
          <a:lstStyle/>
          <a:p>
            <a:pPr algn="l">
              <a:defRPr sz="1000" b="1" i="0">
                <a:solidFill>
                  <a:srgbClr val="E0262D"/>
                </a:solidFill>
                <a:latin typeface="Aptos"/>
              </a:defRPr>
            </a:pPr>
            <a:r>
              <a:t>SYNAPSE '26  |  24-HOUR HACKATHON</a:t>
            </a:r>
          </a:p>
        </p:txBody>
      </p:sp>
      <p:sp>
        <p:nvSpPr>
          <p:cNvPr id="4" name="TextBox 3"/>
          <p:cNvSpPr txBox="1"/>
          <p:nvPr/>
        </p:nvSpPr>
        <p:spPr>
          <a:xfrm>
            <a:off x="411480" y="594360"/>
            <a:ext cx="11155680" cy="502920"/>
          </a:xfrm>
          <a:prstGeom prst="rect">
            <a:avLst/>
          </a:prstGeom>
          <a:noFill/>
        </p:spPr>
        <p:txBody>
          <a:bodyPr wrap="none" lIns="54864" tIns="54864" rIns="54864" bIns="54864" anchor="t">
            <a:spAutoFit/>
          </a:bodyPr>
          <a:lstStyle/>
          <a:p>
            <a:pPr algn="l">
              <a:defRPr sz="2500" b="1" i="0">
                <a:solidFill>
                  <a:srgbClr val="140C12"/>
                </a:solidFill>
                <a:latin typeface="Aptos"/>
              </a:defRPr>
            </a:pPr>
            <a:r>
              <a:t>SOLUTION WORKFLOW</a:t>
            </a:r>
          </a:p>
        </p:txBody>
      </p:sp>
      <p:sp>
        <p:nvSpPr>
          <p:cNvPr id="6" name="TextBox 5"/>
          <p:cNvSpPr txBox="1"/>
          <p:nvPr/>
        </p:nvSpPr>
        <p:spPr>
          <a:xfrm>
            <a:off x="7589520" y="6510528"/>
            <a:ext cx="4160520" cy="182880"/>
          </a:xfrm>
          <a:prstGeom prst="rect">
            <a:avLst/>
          </a:prstGeom>
          <a:noFill/>
        </p:spPr>
        <p:txBody>
          <a:bodyPr wrap="none" lIns="54864" tIns="54864" rIns="54864" bIns="54864" anchor="t">
            <a:spAutoFit/>
          </a:bodyPr>
          <a:lstStyle/>
          <a:p>
            <a:pPr algn="r">
              <a:defRPr sz="800" b="0" i="0">
                <a:solidFill>
                  <a:srgbClr val="5A5555"/>
                </a:solidFill>
                <a:latin typeface="Aptos"/>
              </a:defRPr>
            </a:pPr>
            <a:r>
              <a:t>V.S.B. Engineering College  •  05</a:t>
            </a:r>
          </a:p>
        </p:txBody>
      </p:sp>
      <p:sp>
        <p:nvSpPr>
          <p:cNvPr id="7" name="TextBox 6"/>
          <p:cNvSpPr txBox="1"/>
          <p:nvPr/>
        </p:nvSpPr>
        <p:spPr>
          <a:xfrm>
            <a:off x="411480" y="1353312"/>
            <a:ext cx="11338560" cy="292608"/>
          </a:xfrm>
          <a:prstGeom prst="rect">
            <a:avLst/>
          </a:prstGeom>
          <a:noFill/>
        </p:spPr>
        <p:txBody>
          <a:bodyPr wrap="square" lIns="18288" tIns="0" rIns="18288" bIns="0" anchor="ctr">
            <a:noAutofit/>
          </a:bodyPr>
          <a:lstStyle/>
          <a:p>
            <a:pPr algn="l"/>
            <a:r>
              <a:rPr sz="1050" b="1" i="0">
                <a:solidFill>
                  <a:srgbClr val="E0262D"/>
                </a:solidFill>
                <a:latin typeface="Aptos"/>
              </a:rPr>
              <a:t>END-TO-END WORKFLOW  ·  text, photo and GPS in; a local model, rules and a second opinion decide; the right office or a human reviewer out; the citizen is emailed at every step</a:t>
            </a:r>
          </a:p>
        </p:txBody>
      </p:sp>
      <p:sp>
        <p:nvSpPr>
          <p:cNvPr id="8" name="Rounded Rectangle 7"/>
          <p:cNvSpPr/>
          <p:nvPr/>
        </p:nvSpPr>
        <p:spPr>
          <a:xfrm>
            <a:off x="411480" y="1719072"/>
            <a:ext cx="11338560" cy="3200400"/>
          </a:xfrm>
          <a:prstGeom prst="roundRect">
            <a:avLst>
              <a:gd name="adj" fmla="val 4000"/>
            </a:avLst>
          </a:prstGeom>
          <a:solidFill>
            <a:srgbClr val="FFFFFF"/>
          </a:solidFill>
          <a:ln w="12700">
            <a:solidFill>
              <a:srgbClr val="3A3335"/>
            </a:solidFill>
          </a:ln>
          <a:effectLst/>
        </p:spPr>
        <p:txBody>
          <a:bodyPr rtlCol="0" anchor="ctr"/>
          <a:lstStyle/>
          <a:p>
            <a:pPr algn="ctr"/>
            <a:endParaRPr/>
          </a:p>
        </p:txBody>
      </p:sp>
      <p:sp>
        <p:nvSpPr>
          <p:cNvPr id="9" name="Rounded Rectangle 8"/>
          <p:cNvSpPr/>
          <p:nvPr/>
        </p:nvSpPr>
        <p:spPr>
          <a:xfrm>
            <a:off x="777240" y="1901952"/>
            <a:ext cx="2331720" cy="621792"/>
          </a:xfrm>
          <a:prstGeom prst="roundRect">
            <a:avLst>
              <a:gd name="adj" fmla="val 17647"/>
            </a:avLst>
          </a:prstGeom>
          <a:solidFill>
            <a:srgbClr val="3A3335"/>
          </a:solidFill>
          <a:ln w="12700">
            <a:solidFill>
              <a:srgbClr val="3A3335"/>
            </a:solidFill>
          </a:ln>
          <a:effectLst/>
        </p:spPr>
        <p:txBody>
          <a:bodyPr rtlCol="0" anchor="ctr"/>
          <a:lstStyle/>
          <a:p>
            <a:pPr algn="ctr"/>
            <a:endParaRPr/>
          </a:p>
        </p:txBody>
      </p:sp>
      <p:sp>
        <p:nvSpPr>
          <p:cNvPr id="10" name="TextBox 9"/>
          <p:cNvSpPr txBox="1"/>
          <p:nvPr/>
        </p:nvSpPr>
        <p:spPr>
          <a:xfrm>
            <a:off x="777240" y="1901952"/>
            <a:ext cx="2331720" cy="621792"/>
          </a:xfrm>
          <a:prstGeom prst="rect">
            <a:avLst/>
          </a:prstGeom>
          <a:noFill/>
        </p:spPr>
        <p:txBody>
          <a:bodyPr wrap="square" lIns="45720" tIns="18288" rIns="45720" bIns="18288" anchor="ctr">
            <a:noAutofit/>
          </a:bodyPr>
          <a:lstStyle/>
          <a:p>
            <a:pPr algn="ctr"/>
            <a:r>
              <a:rPr sz="950" b="1" i="0">
                <a:solidFill>
                  <a:srgbClr val="FFFFFF"/>
                </a:solidFill>
                <a:latin typeface="Aptos"/>
              </a:rPr>
              <a:t>Start: citizen files a complaint (text, photo, GPS) from the Vindex app</a:t>
            </a:r>
          </a:p>
        </p:txBody>
      </p:sp>
      <p:sp>
        <p:nvSpPr>
          <p:cNvPr id="11" name="Rounded Rectangle 10"/>
          <p:cNvSpPr/>
          <p:nvPr/>
        </p:nvSpPr>
        <p:spPr>
          <a:xfrm>
            <a:off x="3474720" y="1901952"/>
            <a:ext cx="2331720" cy="621792"/>
          </a:xfrm>
          <a:prstGeom prst="roundRect">
            <a:avLst>
              <a:gd name="adj" fmla="val 17647"/>
            </a:avLst>
          </a:prstGeom>
          <a:solidFill>
            <a:srgbClr val="F3EDE3"/>
          </a:solidFill>
          <a:ln w="12700">
            <a:solidFill>
              <a:srgbClr val="E0262D"/>
            </a:solidFill>
          </a:ln>
          <a:effectLst/>
        </p:spPr>
        <p:txBody>
          <a:bodyPr rtlCol="0" anchor="ctr"/>
          <a:lstStyle/>
          <a:p>
            <a:pPr algn="ctr"/>
            <a:endParaRPr/>
          </a:p>
        </p:txBody>
      </p:sp>
      <p:sp>
        <p:nvSpPr>
          <p:cNvPr id="12" name="TextBox 11"/>
          <p:cNvSpPr txBox="1"/>
          <p:nvPr/>
        </p:nvSpPr>
        <p:spPr>
          <a:xfrm>
            <a:off x="3474720" y="1901952"/>
            <a:ext cx="2331720" cy="621792"/>
          </a:xfrm>
          <a:prstGeom prst="rect">
            <a:avLst/>
          </a:prstGeom>
          <a:noFill/>
        </p:spPr>
        <p:txBody>
          <a:bodyPr wrap="square" lIns="45720" tIns="18288" rIns="45720" bIns="18288" anchor="ctr">
            <a:noAutofit/>
          </a:bodyPr>
          <a:lstStyle/>
          <a:p>
            <a:pPr algn="ctr"/>
            <a:r>
              <a:rPr sz="950" b="0" i="0">
                <a:solidFill>
                  <a:srgbClr val="140C12"/>
                </a:solidFill>
                <a:latin typeface="Aptos"/>
              </a:rPr>
              <a:t>Validate: verified account, file type and size, PII masked before the model</a:t>
            </a:r>
          </a:p>
        </p:txBody>
      </p:sp>
      <p:sp>
        <p:nvSpPr>
          <p:cNvPr id="13" name="Rounded Rectangle 12"/>
          <p:cNvSpPr/>
          <p:nvPr/>
        </p:nvSpPr>
        <p:spPr>
          <a:xfrm>
            <a:off x="6172200" y="1901952"/>
            <a:ext cx="2331720" cy="621792"/>
          </a:xfrm>
          <a:prstGeom prst="roundRect">
            <a:avLst>
              <a:gd name="adj" fmla="val 17647"/>
            </a:avLst>
          </a:prstGeom>
          <a:solidFill>
            <a:srgbClr val="F3EDE3"/>
          </a:solidFill>
          <a:ln w="12700">
            <a:solidFill>
              <a:srgbClr val="E0262D"/>
            </a:solidFill>
          </a:ln>
          <a:effectLst/>
        </p:spPr>
        <p:txBody>
          <a:bodyPr rtlCol="0" anchor="ctr"/>
          <a:lstStyle/>
          <a:p>
            <a:pPr algn="ctr"/>
            <a:endParaRPr/>
          </a:p>
        </p:txBody>
      </p:sp>
      <p:sp>
        <p:nvSpPr>
          <p:cNvPr id="14" name="TextBox 13"/>
          <p:cNvSpPr txBox="1"/>
          <p:nvPr/>
        </p:nvSpPr>
        <p:spPr>
          <a:xfrm>
            <a:off x="6172200" y="1901952"/>
            <a:ext cx="2331720" cy="621792"/>
          </a:xfrm>
          <a:prstGeom prst="rect">
            <a:avLst/>
          </a:prstGeom>
          <a:noFill/>
        </p:spPr>
        <p:txBody>
          <a:bodyPr wrap="square" lIns="45720" tIns="18288" rIns="45720" bIns="18288" anchor="ctr">
            <a:noAutofit/>
          </a:bodyPr>
          <a:lstStyle/>
          <a:p>
            <a:pPr algn="ctr"/>
            <a:r>
              <a:rPr sz="950" b="0" i="0">
                <a:solidFill>
                  <a:srgbClr val="140C12"/>
                </a:solidFill>
                <a:latin typeface="Aptos"/>
              </a:rPr>
              <a:t>Local AI: Gemma 3 4B reads text + photo; language, department, urgency, evidence</a:t>
            </a:r>
          </a:p>
        </p:txBody>
      </p:sp>
      <p:sp>
        <p:nvSpPr>
          <p:cNvPr id="15" name="Rounded Rectangle 14"/>
          <p:cNvSpPr/>
          <p:nvPr/>
        </p:nvSpPr>
        <p:spPr>
          <a:xfrm>
            <a:off x="8869680" y="1901952"/>
            <a:ext cx="2331720" cy="621792"/>
          </a:xfrm>
          <a:prstGeom prst="roundRect">
            <a:avLst>
              <a:gd name="adj" fmla="val 17647"/>
            </a:avLst>
          </a:prstGeom>
          <a:solidFill>
            <a:srgbClr val="FFF4D6"/>
          </a:solidFill>
          <a:ln w="12700">
            <a:solidFill>
              <a:srgbClr val="9B1C24"/>
            </a:solidFill>
          </a:ln>
          <a:effectLst/>
        </p:spPr>
        <p:txBody>
          <a:bodyPr rtlCol="0" anchor="ctr"/>
          <a:lstStyle/>
          <a:p>
            <a:pPr algn="ctr"/>
            <a:endParaRPr/>
          </a:p>
        </p:txBody>
      </p:sp>
      <p:sp>
        <p:nvSpPr>
          <p:cNvPr id="16" name="TextBox 15"/>
          <p:cNvSpPr txBox="1"/>
          <p:nvPr/>
        </p:nvSpPr>
        <p:spPr>
          <a:xfrm>
            <a:off x="8869680" y="1901952"/>
            <a:ext cx="2331720" cy="621792"/>
          </a:xfrm>
          <a:prstGeom prst="rect">
            <a:avLst/>
          </a:prstGeom>
          <a:noFill/>
        </p:spPr>
        <p:txBody>
          <a:bodyPr wrap="square" lIns="45720" tIns="18288" rIns="45720" bIns="18288" anchor="ctr">
            <a:noAutofit/>
          </a:bodyPr>
          <a:lstStyle/>
          <a:p>
            <a:pPr algn="ctr"/>
            <a:r>
              <a:rPr sz="950" b="0" i="0">
                <a:solidFill>
                  <a:srgbClr val="140C12"/>
                </a:solidFill>
                <a:latin typeface="Aptos"/>
              </a:rPr>
              <a:t>Rules + second opinion cross-check; district office + SLA due time</a:t>
            </a:r>
          </a:p>
        </p:txBody>
      </p:sp>
      <p:cxnSp>
        <p:nvCxnSpPr>
          <p:cNvPr id="17" name="Connector 16"/>
          <p:cNvCxnSpPr/>
          <p:nvPr/>
        </p:nvCxnSpPr>
        <p:spPr>
          <a:xfrm>
            <a:off x="3136391" y="2212848"/>
            <a:ext cx="310897" cy="0"/>
          </a:xfrm>
          <a:prstGeom prst="line">
            <a:avLst/>
          </a:prstGeom>
          <a:ln w="15875">
            <a:solidFill>
              <a:srgbClr val="3A3335"/>
            </a:solidFill>
            <a:tailEnd type="triangle" w="med" len="med"/>
          </a:ln>
        </p:spPr>
      </p:cxnSp>
      <p:cxnSp>
        <p:nvCxnSpPr>
          <p:cNvPr id="18" name="Connector 17"/>
          <p:cNvCxnSpPr/>
          <p:nvPr/>
        </p:nvCxnSpPr>
        <p:spPr>
          <a:xfrm>
            <a:off x="5833872" y="2212848"/>
            <a:ext cx="310896" cy="0"/>
          </a:xfrm>
          <a:prstGeom prst="line">
            <a:avLst/>
          </a:prstGeom>
          <a:ln w="15875">
            <a:solidFill>
              <a:srgbClr val="3A3335"/>
            </a:solidFill>
            <a:tailEnd type="triangle" w="med" len="med"/>
          </a:ln>
        </p:spPr>
      </p:cxnSp>
      <p:cxnSp>
        <p:nvCxnSpPr>
          <p:cNvPr id="19" name="Connector 18"/>
          <p:cNvCxnSpPr/>
          <p:nvPr/>
        </p:nvCxnSpPr>
        <p:spPr>
          <a:xfrm>
            <a:off x="8531352" y="2212848"/>
            <a:ext cx="310896" cy="0"/>
          </a:xfrm>
          <a:prstGeom prst="line">
            <a:avLst/>
          </a:prstGeom>
          <a:ln w="15875">
            <a:solidFill>
              <a:srgbClr val="3A3335"/>
            </a:solidFill>
            <a:tailEnd type="triangle" w="med" len="med"/>
          </a:ln>
        </p:spPr>
      </p:cxnSp>
      <p:cxnSp>
        <p:nvCxnSpPr>
          <p:cNvPr id="20" name="Connector 19"/>
          <p:cNvCxnSpPr/>
          <p:nvPr/>
        </p:nvCxnSpPr>
        <p:spPr>
          <a:xfrm>
            <a:off x="10035540" y="2551176"/>
            <a:ext cx="0" cy="256032"/>
          </a:xfrm>
          <a:prstGeom prst="line">
            <a:avLst/>
          </a:prstGeom>
          <a:ln w="15875">
            <a:solidFill>
              <a:srgbClr val="3A3335"/>
            </a:solidFill>
            <a:tailEnd type="triangle" w="med" len="med"/>
          </a:ln>
        </p:spPr>
      </p:cxnSp>
      <p:sp>
        <p:nvSpPr>
          <p:cNvPr id="21" name="Rounded Rectangle 20"/>
          <p:cNvSpPr/>
          <p:nvPr/>
        </p:nvSpPr>
        <p:spPr>
          <a:xfrm>
            <a:off x="8869680" y="2834640"/>
            <a:ext cx="2331720" cy="621792"/>
          </a:xfrm>
          <a:prstGeom prst="roundRect">
            <a:avLst>
              <a:gd name="adj" fmla="val 17647"/>
            </a:avLst>
          </a:prstGeom>
          <a:solidFill>
            <a:srgbClr val="FFF4D6"/>
          </a:solidFill>
          <a:ln w="12700">
            <a:solidFill>
              <a:srgbClr val="9B1C24"/>
            </a:solidFill>
          </a:ln>
          <a:effectLst/>
        </p:spPr>
        <p:txBody>
          <a:bodyPr rtlCol="0" anchor="ctr"/>
          <a:lstStyle/>
          <a:p>
            <a:pPr algn="ctr"/>
            <a:endParaRPr/>
          </a:p>
        </p:txBody>
      </p:sp>
      <p:sp>
        <p:nvSpPr>
          <p:cNvPr id="22" name="TextBox 21"/>
          <p:cNvSpPr txBox="1"/>
          <p:nvPr/>
        </p:nvSpPr>
        <p:spPr>
          <a:xfrm>
            <a:off x="8869680" y="2834640"/>
            <a:ext cx="2331720" cy="621792"/>
          </a:xfrm>
          <a:prstGeom prst="rect">
            <a:avLst/>
          </a:prstGeom>
          <a:noFill/>
        </p:spPr>
        <p:txBody>
          <a:bodyPr wrap="square" lIns="45720" tIns="18288" rIns="45720" bIns="18288" anchor="ctr">
            <a:noAutofit/>
          </a:bodyPr>
          <a:lstStyle/>
          <a:p>
            <a:pPr algn="ctr"/>
            <a:r>
              <a:rPr sz="950" b="0" i="0">
                <a:solidFill>
                  <a:srgbClr val="140C12"/>
                </a:solidFill>
                <a:latin typeface="Aptos"/>
              </a:rPr>
              <a:t>Duplicate check via pgvector; evidence spans and second opinion saved</a:t>
            </a:r>
          </a:p>
        </p:txBody>
      </p:sp>
      <p:sp>
        <p:nvSpPr>
          <p:cNvPr id="23" name="Rounded Rectangle 22"/>
          <p:cNvSpPr/>
          <p:nvPr/>
        </p:nvSpPr>
        <p:spPr>
          <a:xfrm>
            <a:off x="6172200" y="2834640"/>
            <a:ext cx="2331720" cy="621792"/>
          </a:xfrm>
          <a:prstGeom prst="roundRect">
            <a:avLst>
              <a:gd name="adj" fmla="val 17647"/>
            </a:avLst>
          </a:prstGeom>
          <a:solidFill>
            <a:srgbClr val="F3EDE3"/>
          </a:solidFill>
          <a:ln w="12700">
            <a:solidFill>
              <a:srgbClr val="E0262D"/>
            </a:solidFill>
          </a:ln>
          <a:effectLst/>
        </p:spPr>
        <p:txBody>
          <a:bodyPr rtlCol="0" anchor="ctr"/>
          <a:lstStyle/>
          <a:p>
            <a:pPr algn="ctr"/>
            <a:endParaRPr/>
          </a:p>
        </p:txBody>
      </p:sp>
      <p:sp>
        <p:nvSpPr>
          <p:cNvPr id="24" name="TextBox 23"/>
          <p:cNvSpPr txBox="1"/>
          <p:nvPr/>
        </p:nvSpPr>
        <p:spPr>
          <a:xfrm>
            <a:off x="6172200" y="2834640"/>
            <a:ext cx="2331720" cy="621792"/>
          </a:xfrm>
          <a:prstGeom prst="rect">
            <a:avLst/>
          </a:prstGeom>
          <a:noFill/>
        </p:spPr>
        <p:txBody>
          <a:bodyPr wrap="square" lIns="45720" tIns="18288" rIns="45720" bIns="18288" anchor="ctr">
            <a:noAutofit/>
          </a:bodyPr>
          <a:lstStyle/>
          <a:p>
            <a:pPr algn="ctr"/>
            <a:r>
              <a:rPr sz="950" b="0" i="0">
                <a:solidFill>
                  <a:srgbClr val="140C12"/>
                </a:solidFill>
                <a:latin typeface="Aptos"/>
              </a:rPr>
              <a:t>Stored with analysis + audit event; acknowledgement email sent</a:t>
            </a:r>
          </a:p>
        </p:txBody>
      </p:sp>
      <p:cxnSp>
        <p:nvCxnSpPr>
          <p:cNvPr id="25" name="Connector 24"/>
          <p:cNvCxnSpPr/>
          <p:nvPr/>
        </p:nvCxnSpPr>
        <p:spPr>
          <a:xfrm flipH="1">
            <a:off x="8531352" y="3145536"/>
            <a:ext cx="310896" cy="0"/>
          </a:xfrm>
          <a:prstGeom prst="line">
            <a:avLst/>
          </a:prstGeom>
          <a:ln w="15875">
            <a:solidFill>
              <a:srgbClr val="3A3335"/>
            </a:solidFill>
            <a:tailEnd type="triangle" w="med" len="med"/>
          </a:ln>
        </p:spPr>
      </p:cxnSp>
      <p:sp>
        <p:nvSpPr>
          <p:cNvPr id="26" name="Diamond 25"/>
          <p:cNvSpPr/>
          <p:nvPr/>
        </p:nvSpPr>
        <p:spPr>
          <a:xfrm>
            <a:off x="3589020" y="2688336"/>
            <a:ext cx="2103120" cy="914400"/>
          </a:xfrm>
          <a:prstGeom prst="diamond">
            <a:avLst/>
          </a:prstGeom>
          <a:solidFill>
            <a:srgbClr val="FFF4D6"/>
          </a:solidFill>
          <a:ln w="12700">
            <a:solidFill>
              <a:srgbClr val="9B1C24"/>
            </a:solidFill>
          </a:ln>
          <a:effectLst/>
        </p:spPr>
        <p:txBody>
          <a:bodyPr rtlCol="0" anchor="ctr"/>
          <a:lstStyle/>
          <a:p>
            <a:pPr algn="ctr"/>
            <a:endParaRPr/>
          </a:p>
        </p:txBody>
      </p:sp>
      <p:sp>
        <p:nvSpPr>
          <p:cNvPr id="27" name="TextBox 26"/>
          <p:cNvSpPr txBox="1"/>
          <p:nvPr/>
        </p:nvSpPr>
        <p:spPr>
          <a:xfrm>
            <a:off x="3967581" y="2871216"/>
            <a:ext cx="1345996" cy="548640"/>
          </a:xfrm>
          <a:prstGeom prst="rect">
            <a:avLst/>
          </a:prstGeom>
          <a:noFill/>
        </p:spPr>
        <p:txBody>
          <a:bodyPr wrap="square" lIns="0" tIns="0" rIns="0" bIns="0" anchor="ctr">
            <a:noAutofit/>
          </a:bodyPr>
          <a:lstStyle/>
          <a:p>
            <a:pPr algn="ctr"/>
            <a:r>
              <a:rPr sz="900" b="1" i="0">
                <a:solidFill>
                  <a:srgbClr val="140C12"/>
                </a:solidFill>
                <a:latin typeface="Aptos"/>
              </a:rPr>
              <a:t>Confident, no flags, not Critical?</a:t>
            </a:r>
          </a:p>
        </p:txBody>
      </p:sp>
      <p:cxnSp>
        <p:nvCxnSpPr>
          <p:cNvPr id="28" name="Connector 27"/>
          <p:cNvCxnSpPr/>
          <p:nvPr/>
        </p:nvCxnSpPr>
        <p:spPr>
          <a:xfrm flipH="1">
            <a:off x="5719572" y="3145536"/>
            <a:ext cx="425196" cy="0"/>
          </a:xfrm>
          <a:prstGeom prst="line">
            <a:avLst/>
          </a:prstGeom>
          <a:ln w="15875">
            <a:solidFill>
              <a:srgbClr val="3A3335"/>
            </a:solidFill>
            <a:tailEnd type="triangle" w="med" len="med"/>
          </a:ln>
        </p:spPr>
      </p:cxnSp>
      <p:sp>
        <p:nvSpPr>
          <p:cNvPr id="29" name="Rounded Rectangle 28"/>
          <p:cNvSpPr/>
          <p:nvPr/>
        </p:nvSpPr>
        <p:spPr>
          <a:xfrm>
            <a:off x="777240" y="2834640"/>
            <a:ext cx="2331720" cy="621792"/>
          </a:xfrm>
          <a:prstGeom prst="roundRect">
            <a:avLst>
              <a:gd name="adj" fmla="val 17647"/>
            </a:avLst>
          </a:prstGeom>
          <a:solidFill>
            <a:srgbClr val="F6EFE0"/>
          </a:solidFill>
          <a:ln w="12700">
            <a:solidFill>
              <a:srgbClr val="B7791F"/>
            </a:solidFill>
          </a:ln>
          <a:effectLst/>
        </p:spPr>
        <p:txBody>
          <a:bodyPr rtlCol="0" anchor="ctr"/>
          <a:lstStyle/>
          <a:p>
            <a:pPr algn="ctr"/>
            <a:endParaRPr/>
          </a:p>
        </p:txBody>
      </p:sp>
      <p:sp>
        <p:nvSpPr>
          <p:cNvPr id="30" name="TextBox 29"/>
          <p:cNvSpPr txBox="1"/>
          <p:nvPr/>
        </p:nvSpPr>
        <p:spPr>
          <a:xfrm>
            <a:off x="777240" y="2834640"/>
            <a:ext cx="2331720" cy="621792"/>
          </a:xfrm>
          <a:prstGeom prst="rect">
            <a:avLst/>
          </a:prstGeom>
          <a:noFill/>
        </p:spPr>
        <p:txBody>
          <a:bodyPr wrap="square" lIns="45720" tIns="18288" rIns="45720" bIns="18288" anchor="ctr">
            <a:noAutofit/>
          </a:bodyPr>
          <a:lstStyle/>
          <a:p>
            <a:pPr algn="ctr"/>
            <a:r>
              <a:rPr sz="950" b="0" i="0">
                <a:solidFill>
                  <a:srgbClr val="140C12"/>
                </a:solidFill>
                <a:latin typeface="Aptos"/>
              </a:rPr>
              <a:t>Routed to the district office; 'routed' status email with due time</a:t>
            </a:r>
          </a:p>
        </p:txBody>
      </p:sp>
      <p:cxnSp>
        <p:nvCxnSpPr>
          <p:cNvPr id="31" name="Connector 30"/>
          <p:cNvCxnSpPr/>
          <p:nvPr/>
        </p:nvCxnSpPr>
        <p:spPr>
          <a:xfrm flipH="1">
            <a:off x="3136391" y="3145536"/>
            <a:ext cx="425197" cy="0"/>
          </a:xfrm>
          <a:prstGeom prst="line">
            <a:avLst/>
          </a:prstGeom>
          <a:ln w="15875">
            <a:solidFill>
              <a:srgbClr val="B7791F"/>
            </a:solidFill>
            <a:tailEnd type="triangle" w="med" len="med"/>
          </a:ln>
        </p:spPr>
      </p:cxnSp>
      <p:sp>
        <p:nvSpPr>
          <p:cNvPr id="32" name="TextBox 31"/>
          <p:cNvSpPr txBox="1"/>
          <p:nvPr/>
        </p:nvSpPr>
        <p:spPr>
          <a:xfrm>
            <a:off x="3131820" y="2816352"/>
            <a:ext cx="457200" cy="182880"/>
          </a:xfrm>
          <a:prstGeom prst="rect">
            <a:avLst/>
          </a:prstGeom>
          <a:noFill/>
        </p:spPr>
        <p:txBody>
          <a:bodyPr wrap="square" lIns="0" tIns="0" rIns="0" bIns="0" anchor="t">
            <a:noAutofit/>
          </a:bodyPr>
          <a:lstStyle/>
          <a:p>
            <a:pPr algn="ctr"/>
            <a:r>
              <a:rPr sz="850" b="1" i="0">
                <a:solidFill>
                  <a:srgbClr val="B7791F"/>
                </a:solidFill>
                <a:latin typeface="Aptos"/>
              </a:rPr>
              <a:t>Yes</a:t>
            </a:r>
          </a:p>
        </p:txBody>
      </p:sp>
      <p:cxnSp>
        <p:nvCxnSpPr>
          <p:cNvPr id="33" name="Connector 32"/>
          <p:cNvCxnSpPr/>
          <p:nvPr/>
        </p:nvCxnSpPr>
        <p:spPr>
          <a:xfrm>
            <a:off x="4640579" y="3630168"/>
            <a:ext cx="0" cy="365760"/>
          </a:xfrm>
          <a:prstGeom prst="line">
            <a:avLst/>
          </a:prstGeom>
          <a:ln w="15875">
            <a:solidFill>
              <a:srgbClr val="9B1C24"/>
            </a:solidFill>
            <a:tailEnd type="triangle" w="med" len="med"/>
          </a:ln>
        </p:spPr>
      </p:cxnSp>
      <p:sp>
        <p:nvSpPr>
          <p:cNvPr id="34" name="TextBox 33"/>
          <p:cNvSpPr txBox="1"/>
          <p:nvPr/>
        </p:nvSpPr>
        <p:spPr>
          <a:xfrm>
            <a:off x="4686299" y="3648456"/>
            <a:ext cx="365760" cy="182880"/>
          </a:xfrm>
          <a:prstGeom prst="rect">
            <a:avLst/>
          </a:prstGeom>
          <a:noFill/>
        </p:spPr>
        <p:txBody>
          <a:bodyPr wrap="square" lIns="0" tIns="0" rIns="0" bIns="0" anchor="t">
            <a:noAutofit/>
          </a:bodyPr>
          <a:lstStyle/>
          <a:p>
            <a:pPr algn="l"/>
            <a:r>
              <a:rPr sz="850" b="1" i="0">
                <a:solidFill>
                  <a:srgbClr val="9B1C24"/>
                </a:solidFill>
                <a:latin typeface="Aptos"/>
              </a:rPr>
              <a:t>No</a:t>
            </a:r>
          </a:p>
        </p:txBody>
      </p:sp>
      <p:sp>
        <p:nvSpPr>
          <p:cNvPr id="35" name="Rounded Rectangle 34"/>
          <p:cNvSpPr/>
          <p:nvPr/>
        </p:nvSpPr>
        <p:spPr>
          <a:xfrm>
            <a:off x="3474720" y="4023360"/>
            <a:ext cx="2331720" cy="621792"/>
          </a:xfrm>
          <a:prstGeom prst="roundRect">
            <a:avLst>
              <a:gd name="adj" fmla="val 17647"/>
            </a:avLst>
          </a:prstGeom>
          <a:solidFill>
            <a:srgbClr val="FBE9E9"/>
          </a:solidFill>
          <a:ln w="12700">
            <a:solidFill>
              <a:srgbClr val="9B1C24"/>
            </a:solidFill>
          </a:ln>
          <a:effectLst/>
        </p:spPr>
        <p:txBody>
          <a:bodyPr rtlCol="0" anchor="ctr"/>
          <a:lstStyle/>
          <a:p>
            <a:pPr algn="ctr"/>
            <a:endParaRPr/>
          </a:p>
        </p:txBody>
      </p:sp>
      <p:sp>
        <p:nvSpPr>
          <p:cNvPr id="36" name="TextBox 35"/>
          <p:cNvSpPr txBox="1"/>
          <p:nvPr/>
        </p:nvSpPr>
        <p:spPr>
          <a:xfrm>
            <a:off x="3474720" y="4023360"/>
            <a:ext cx="2331720" cy="621792"/>
          </a:xfrm>
          <a:prstGeom prst="rect">
            <a:avLst/>
          </a:prstGeom>
          <a:noFill/>
        </p:spPr>
        <p:txBody>
          <a:bodyPr wrap="square" lIns="45720" tIns="18288" rIns="45720" bIns="18288" anchor="ctr">
            <a:noAutofit/>
          </a:bodyPr>
          <a:lstStyle/>
          <a:p>
            <a:pPr algn="ctr"/>
            <a:r>
              <a:rPr sz="950" b="0" i="0">
                <a:solidFill>
                  <a:srgbClr val="140C12"/>
                </a:solidFill>
                <a:latin typeface="Aptos"/>
              </a:rPr>
              <a:t>Human review: accept, reassign, merge or ask for info, reason mandatory</a:t>
            </a:r>
          </a:p>
        </p:txBody>
      </p:sp>
      <p:sp>
        <p:nvSpPr>
          <p:cNvPr id="37" name="Rounded Rectangle 36"/>
          <p:cNvSpPr/>
          <p:nvPr/>
        </p:nvSpPr>
        <p:spPr>
          <a:xfrm>
            <a:off x="777240" y="4133088"/>
            <a:ext cx="2331720" cy="411480"/>
          </a:xfrm>
          <a:prstGeom prst="roundRect">
            <a:avLst>
              <a:gd name="adj" fmla="val 26666"/>
            </a:avLst>
          </a:prstGeom>
          <a:solidFill>
            <a:srgbClr val="3A3335"/>
          </a:solidFill>
          <a:ln w="12700">
            <a:solidFill>
              <a:srgbClr val="3A3335"/>
            </a:solidFill>
          </a:ln>
          <a:effectLst/>
        </p:spPr>
        <p:txBody>
          <a:bodyPr rtlCol="0" anchor="ctr"/>
          <a:lstStyle/>
          <a:p>
            <a:pPr algn="ctr"/>
            <a:endParaRPr/>
          </a:p>
        </p:txBody>
      </p:sp>
      <p:sp>
        <p:nvSpPr>
          <p:cNvPr id="38" name="TextBox 37"/>
          <p:cNvSpPr txBox="1"/>
          <p:nvPr/>
        </p:nvSpPr>
        <p:spPr>
          <a:xfrm>
            <a:off x="777240" y="4133088"/>
            <a:ext cx="2331720" cy="411480"/>
          </a:xfrm>
          <a:prstGeom prst="rect">
            <a:avLst/>
          </a:prstGeom>
          <a:noFill/>
        </p:spPr>
        <p:txBody>
          <a:bodyPr wrap="square" lIns="45720" tIns="18288" rIns="45720" bIns="18288" anchor="ctr">
            <a:noAutofit/>
          </a:bodyPr>
          <a:lstStyle/>
          <a:p>
            <a:pPr algn="ctr"/>
            <a:r>
              <a:rPr sz="950" b="1" i="0">
                <a:solidFill>
                  <a:srgbClr val="FFFFFF"/>
                </a:solidFill>
                <a:latin typeface="Aptos"/>
              </a:rPr>
              <a:t>End: status email, tracking page updated</a:t>
            </a:r>
          </a:p>
        </p:txBody>
      </p:sp>
      <p:cxnSp>
        <p:nvCxnSpPr>
          <p:cNvPr id="39" name="Connector 38"/>
          <p:cNvCxnSpPr/>
          <p:nvPr/>
        </p:nvCxnSpPr>
        <p:spPr>
          <a:xfrm>
            <a:off x="1943100" y="3483864"/>
            <a:ext cx="0" cy="621792"/>
          </a:xfrm>
          <a:prstGeom prst="line">
            <a:avLst/>
          </a:prstGeom>
          <a:ln w="15875">
            <a:solidFill>
              <a:srgbClr val="3A3335"/>
            </a:solidFill>
            <a:tailEnd type="triangle" w="med" len="med"/>
          </a:ln>
        </p:spPr>
      </p:cxnSp>
      <p:cxnSp>
        <p:nvCxnSpPr>
          <p:cNvPr id="40" name="Connector 39"/>
          <p:cNvCxnSpPr/>
          <p:nvPr/>
        </p:nvCxnSpPr>
        <p:spPr>
          <a:xfrm flipH="1">
            <a:off x="3136391" y="4279392"/>
            <a:ext cx="310897" cy="0"/>
          </a:xfrm>
          <a:prstGeom prst="line">
            <a:avLst/>
          </a:prstGeom>
          <a:ln w="15875">
            <a:solidFill>
              <a:srgbClr val="3A3335"/>
            </a:solidFill>
            <a:tailEnd type="triangle" w="med" len="med"/>
          </a:ln>
        </p:spPr>
      </p:cxnSp>
      <p:sp>
        <p:nvSpPr>
          <p:cNvPr id="41" name="Rounded Rectangle 40"/>
          <p:cNvSpPr/>
          <p:nvPr/>
        </p:nvSpPr>
        <p:spPr>
          <a:xfrm>
            <a:off x="6172200" y="4023360"/>
            <a:ext cx="2331720" cy="621792"/>
          </a:xfrm>
          <a:prstGeom prst="roundRect">
            <a:avLst>
              <a:gd name="adj" fmla="val 17647"/>
            </a:avLst>
          </a:prstGeom>
          <a:solidFill>
            <a:srgbClr val="FFFFFF"/>
          </a:solidFill>
          <a:ln w="12700">
            <a:solidFill>
              <a:srgbClr val="E3DBCF"/>
            </a:solidFill>
          </a:ln>
          <a:effectLst/>
        </p:spPr>
        <p:txBody>
          <a:bodyPr rtlCol="0" anchor="ctr"/>
          <a:lstStyle/>
          <a:p>
            <a:pPr algn="ctr"/>
            <a:endParaRPr/>
          </a:p>
        </p:txBody>
      </p:sp>
      <p:sp>
        <p:nvSpPr>
          <p:cNvPr id="42" name="TextBox 41"/>
          <p:cNvSpPr txBox="1"/>
          <p:nvPr/>
        </p:nvSpPr>
        <p:spPr>
          <a:xfrm>
            <a:off x="6172200" y="4023360"/>
            <a:ext cx="2331720" cy="621792"/>
          </a:xfrm>
          <a:prstGeom prst="rect">
            <a:avLst/>
          </a:prstGeom>
          <a:noFill/>
        </p:spPr>
        <p:txBody>
          <a:bodyPr wrap="square" lIns="45720" tIns="18288" rIns="45720" bIns="18288" anchor="ctr">
            <a:noAutofit/>
          </a:bodyPr>
          <a:lstStyle/>
          <a:p>
            <a:pPr algn="ctr"/>
            <a:r>
              <a:rPr sz="900" b="0" i="0">
                <a:solidFill>
                  <a:srgbClr val="5A5555"/>
                </a:solidFill>
                <a:latin typeface="Aptos"/>
              </a:rPr>
              <a:t>Every decision and override is logged with a reason; nothing is auto-closed</a:t>
            </a:r>
          </a:p>
        </p:txBody>
      </p:sp>
      <p:sp>
        <p:nvSpPr>
          <p:cNvPr id="43" name="Rounded Rectangle 42"/>
          <p:cNvSpPr/>
          <p:nvPr/>
        </p:nvSpPr>
        <p:spPr>
          <a:xfrm>
            <a:off x="8869680" y="4023360"/>
            <a:ext cx="2331720" cy="621792"/>
          </a:xfrm>
          <a:prstGeom prst="roundRect">
            <a:avLst>
              <a:gd name="adj" fmla="val 17647"/>
            </a:avLst>
          </a:prstGeom>
          <a:solidFill>
            <a:srgbClr val="FFFFFF"/>
          </a:solidFill>
          <a:ln w="12700">
            <a:solidFill>
              <a:srgbClr val="E3DBCF"/>
            </a:solidFill>
          </a:ln>
          <a:effectLst/>
        </p:spPr>
        <p:txBody>
          <a:bodyPr rtlCol="0" anchor="ctr"/>
          <a:lstStyle/>
          <a:p>
            <a:pPr algn="ctr"/>
            <a:endParaRPr/>
          </a:p>
        </p:txBody>
      </p:sp>
      <p:sp>
        <p:nvSpPr>
          <p:cNvPr id="44" name="TextBox 43"/>
          <p:cNvSpPr txBox="1"/>
          <p:nvPr/>
        </p:nvSpPr>
        <p:spPr>
          <a:xfrm>
            <a:off x="8869680" y="4023360"/>
            <a:ext cx="2331720" cy="621792"/>
          </a:xfrm>
          <a:prstGeom prst="rect">
            <a:avLst/>
          </a:prstGeom>
          <a:noFill/>
        </p:spPr>
        <p:txBody>
          <a:bodyPr wrap="square" lIns="45720" tIns="18288" rIns="45720" bIns="18288" anchor="ctr">
            <a:noAutofit/>
          </a:bodyPr>
          <a:lstStyle/>
          <a:p>
            <a:pPr algn="ctr"/>
            <a:r>
              <a:rPr sz="900" b="0" i="0">
                <a:solidFill>
                  <a:srgbClr val="5A5555"/>
                </a:solidFill>
                <a:latin typeface="Aptos"/>
              </a:rPr>
              <a:t>Citizen tracks by ID at any time; officer corrections become ground truth per language</a:t>
            </a:r>
          </a:p>
        </p:txBody>
      </p:sp>
      <p:sp>
        <p:nvSpPr>
          <p:cNvPr id="45" name="Rounded Rectangle 44"/>
          <p:cNvSpPr/>
          <p:nvPr/>
        </p:nvSpPr>
        <p:spPr>
          <a:xfrm>
            <a:off x="411480" y="5047488"/>
            <a:ext cx="5577840" cy="1307592"/>
          </a:xfrm>
          <a:prstGeom prst="roundRect">
            <a:avLst>
              <a:gd name="adj" fmla="val 8391"/>
            </a:avLst>
          </a:prstGeom>
          <a:solidFill>
            <a:srgbClr val="F3EDE3"/>
          </a:solidFill>
          <a:ln w="12700">
            <a:solidFill>
              <a:srgbClr val="3A3335"/>
            </a:solidFill>
          </a:ln>
          <a:effectLst/>
        </p:spPr>
        <p:txBody>
          <a:bodyPr rtlCol="0" anchor="ctr"/>
          <a:lstStyle/>
          <a:p>
            <a:pPr algn="ctr"/>
            <a:endParaRPr/>
          </a:p>
        </p:txBody>
      </p:sp>
      <p:sp>
        <p:nvSpPr>
          <p:cNvPr id="46" name="Rounded Rectangle 45"/>
          <p:cNvSpPr/>
          <p:nvPr/>
        </p:nvSpPr>
        <p:spPr>
          <a:xfrm>
            <a:off x="411480" y="5047488"/>
            <a:ext cx="5577840" cy="347472"/>
          </a:xfrm>
          <a:prstGeom prst="roundRect">
            <a:avLst>
              <a:gd name="adj" fmla="val 31578"/>
            </a:avLst>
          </a:prstGeom>
          <a:solidFill>
            <a:srgbClr val="3A3335"/>
          </a:solidFill>
          <a:ln>
            <a:noFill/>
          </a:ln>
          <a:effectLst/>
        </p:spPr>
        <p:txBody>
          <a:bodyPr rtlCol="0" anchor="ctr"/>
          <a:lstStyle/>
          <a:p>
            <a:pPr algn="ctr"/>
            <a:endParaRPr/>
          </a:p>
        </p:txBody>
      </p:sp>
      <p:sp>
        <p:nvSpPr>
          <p:cNvPr id="47" name="Rectangle 46"/>
          <p:cNvSpPr/>
          <p:nvPr/>
        </p:nvSpPr>
        <p:spPr>
          <a:xfrm>
            <a:off x="411480" y="5221224"/>
            <a:ext cx="5577840" cy="173736"/>
          </a:xfrm>
          <a:prstGeom prst="rect">
            <a:avLst/>
          </a:prstGeom>
          <a:solidFill>
            <a:srgbClr val="3A3335"/>
          </a:solidFill>
          <a:ln>
            <a:noFill/>
          </a:ln>
          <a:effectLst/>
        </p:spPr>
        <p:txBody>
          <a:bodyPr rtlCol="0" anchor="ctr"/>
          <a:lstStyle/>
          <a:p>
            <a:pPr algn="ctr"/>
            <a:endParaRPr/>
          </a:p>
        </p:txBody>
      </p:sp>
      <p:pic>
        <p:nvPicPr>
          <p:cNvPr id="48" name="Picture 47" descr="image25.png"/>
          <p:cNvPicPr>
            <a:picLocks noChangeAspect="1"/>
          </p:cNvPicPr>
          <p:nvPr/>
        </p:nvPicPr>
        <p:blipFill>
          <a:blip r:embed="rId2"/>
          <a:stretch>
            <a:fillRect/>
          </a:stretch>
        </p:blipFill>
        <p:spPr>
          <a:xfrm>
            <a:off x="539496" y="5111496"/>
            <a:ext cx="219456" cy="219456"/>
          </a:xfrm>
          <a:prstGeom prst="rect">
            <a:avLst/>
          </a:prstGeom>
        </p:spPr>
      </p:pic>
      <p:sp>
        <p:nvSpPr>
          <p:cNvPr id="49" name="TextBox 48"/>
          <p:cNvSpPr txBox="1"/>
          <p:nvPr/>
        </p:nvSpPr>
        <p:spPr>
          <a:xfrm>
            <a:off x="868680" y="5047488"/>
            <a:ext cx="5029200" cy="347472"/>
          </a:xfrm>
          <a:prstGeom prst="rect">
            <a:avLst/>
          </a:prstGeom>
          <a:noFill/>
        </p:spPr>
        <p:txBody>
          <a:bodyPr wrap="square" lIns="18288" tIns="0" rIns="18288" bIns="0" anchor="ctr">
            <a:noAutofit/>
          </a:bodyPr>
          <a:lstStyle/>
          <a:p>
            <a:pPr algn="l"/>
            <a:r>
              <a:rPr sz="1050" b="1" i="0">
                <a:solidFill>
                  <a:srgbClr val="FFFFFF"/>
                </a:solidFill>
                <a:latin typeface="Aptos"/>
              </a:rPr>
              <a:t>Key decisions, validation and security</a:t>
            </a:r>
          </a:p>
        </p:txBody>
      </p:sp>
      <p:sp>
        <p:nvSpPr>
          <p:cNvPr id="50" name="TextBox 49"/>
          <p:cNvSpPr txBox="1"/>
          <p:nvPr/>
        </p:nvSpPr>
        <p:spPr>
          <a:xfrm>
            <a:off x="502920" y="5449823"/>
            <a:ext cx="5394959" cy="868679"/>
          </a:xfrm>
          <a:prstGeom prst="rect">
            <a:avLst/>
          </a:prstGeom>
          <a:noFill/>
        </p:spPr>
        <p:txBody>
          <a:bodyPr wrap="square" lIns="54864" tIns="27432" rIns="54864" bIns="27432" anchor="t">
            <a:noAutofit/>
          </a:bodyPr>
          <a:lstStyle/>
          <a:p>
            <a:pPr marL="146304" indent="-146304" algn="l">
              <a:spcAft>
                <a:spcPts val="300"/>
              </a:spcAft>
              <a:buFont typeface="Arial"/>
              <a:buChar char="•"/>
            </a:pPr>
            <a:r>
              <a:rPr sz="850" b="1" i="0">
                <a:solidFill>
                  <a:srgbClr val="140C12"/>
                </a:solidFill>
                <a:latin typeface="Aptos"/>
              </a:rPr>
              <a:t>Accounts: </a:t>
            </a:r>
            <a:r>
              <a:rPr sz="850" b="0" i="0">
                <a:solidFill>
                  <a:srgbClr val="140C12"/>
                </a:solidFill>
                <a:latin typeface="Aptos"/>
              </a:rPr>
              <a:t>mobile + email + strong password, email OTP, argon2 hashing, JWT with password version</a:t>
            </a:r>
          </a:p>
          <a:p>
            <a:pPr marL="146304" indent="-146304" algn="l">
              <a:spcAft>
                <a:spcPts val="300"/>
              </a:spcAft>
              <a:buFont typeface="Arial"/>
              <a:buChar char="•"/>
            </a:pPr>
            <a:r>
              <a:rPr sz="850" b="1" i="0">
                <a:solidFill>
                  <a:srgbClr val="140C12"/>
                </a:solidFill>
                <a:latin typeface="Aptos"/>
              </a:rPr>
              <a:t>Privacy: </a:t>
            </a:r>
            <a:r>
              <a:rPr sz="850" b="0" i="0">
                <a:solidFill>
                  <a:srgbClr val="140C12"/>
                </a:solidFill>
                <a:latin typeface="Aptos"/>
              </a:rPr>
              <a:t>PII masked before the model; name and Aadhaar last 4 taken once at sign-up, for the office only</a:t>
            </a:r>
          </a:p>
          <a:p>
            <a:pPr marL="146304" indent="-146304" algn="l">
              <a:spcAft>
                <a:spcPts val="300"/>
              </a:spcAft>
              <a:buFont typeface="Arial"/>
              <a:buChar char="•"/>
            </a:pPr>
            <a:r>
              <a:rPr sz="850" b="1" i="0">
                <a:solidFill>
                  <a:srgbClr val="140C12"/>
                </a:solidFill>
                <a:latin typeface="Aptos"/>
              </a:rPr>
              <a:t>Control: </a:t>
            </a:r>
            <a:r>
              <a:rPr sz="850" b="0" i="0">
                <a:solidFill>
                  <a:srgbClr val="140C12"/>
                </a:solidFill>
                <a:latin typeface="Aptos"/>
              </a:rPr>
              <a:t>rules override the model; low confidence (&lt; 0.70), disagreement, duplicate (≥ 0.85) or Critical → human</a:t>
            </a:r>
          </a:p>
          <a:p>
            <a:pPr marL="146304" indent="-146304" algn="l">
              <a:spcAft>
                <a:spcPts val="300"/>
              </a:spcAft>
              <a:buFont typeface="Arial"/>
              <a:buChar char="•"/>
            </a:pPr>
            <a:r>
              <a:rPr sz="850" b="1" i="0">
                <a:solidFill>
                  <a:srgbClr val="140C12"/>
                </a:solidFill>
                <a:latin typeface="Aptos"/>
              </a:rPr>
              <a:t>Scope: </a:t>
            </a:r>
            <a:r>
              <a:rPr sz="850" b="0" i="0">
                <a:solidFill>
                  <a:srgbClr val="140C12"/>
                </a:solidFill>
                <a:latin typeface="Aptos"/>
              </a:rPr>
              <a:t>super admin → district admins → department admins; each sees only its district and department</a:t>
            </a:r>
          </a:p>
        </p:txBody>
      </p:sp>
      <p:sp>
        <p:nvSpPr>
          <p:cNvPr id="51" name="Rounded Rectangle 50"/>
          <p:cNvSpPr/>
          <p:nvPr/>
        </p:nvSpPr>
        <p:spPr>
          <a:xfrm>
            <a:off x="6172200" y="5047488"/>
            <a:ext cx="5577840" cy="1307592"/>
          </a:xfrm>
          <a:prstGeom prst="roundRect">
            <a:avLst>
              <a:gd name="adj" fmla="val 8391"/>
            </a:avLst>
          </a:prstGeom>
          <a:solidFill>
            <a:srgbClr val="FFF4D6"/>
          </a:solidFill>
          <a:ln w="12700">
            <a:solidFill>
              <a:srgbClr val="9B1C24"/>
            </a:solidFill>
          </a:ln>
          <a:effectLst/>
        </p:spPr>
        <p:txBody>
          <a:bodyPr rtlCol="0" anchor="ctr"/>
          <a:lstStyle/>
          <a:p>
            <a:pPr algn="ctr"/>
            <a:endParaRPr/>
          </a:p>
        </p:txBody>
      </p:sp>
      <p:sp>
        <p:nvSpPr>
          <p:cNvPr id="52" name="Rounded Rectangle 51"/>
          <p:cNvSpPr/>
          <p:nvPr/>
        </p:nvSpPr>
        <p:spPr>
          <a:xfrm>
            <a:off x="6172200" y="5047488"/>
            <a:ext cx="5577840" cy="347472"/>
          </a:xfrm>
          <a:prstGeom prst="roundRect">
            <a:avLst>
              <a:gd name="adj" fmla="val 31578"/>
            </a:avLst>
          </a:prstGeom>
          <a:solidFill>
            <a:srgbClr val="9B1C24"/>
          </a:solidFill>
          <a:ln>
            <a:noFill/>
          </a:ln>
          <a:effectLst/>
        </p:spPr>
        <p:txBody>
          <a:bodyPr rtlCol="0" anchor="ctr"/>
          <a:lstStyle/>
          <a:p>
            <a:pPr algn="ctr"/>
            <a:endParaRPr/>
          </a:p>
        </p:txBody>
      </p:sp>
      <p:sp>
        <p:nvSpPr>
          <p:cNvPr id="53" name="Rectangle 52"/>
          <p:cNvSpPr/>
          <p:nvPr/>
        </p:nvSpPr>
        <p:spPr>
          <a:xfrm>
            <a:off x="6172200" y="5221224"/>
            <a:ext cx="5577840" cy="173736"/>
          </a:xfrm>
          <a:prstGeom prst="rect">
            <a:avLst/>
          </a:prstGeom>
          <a:solidFill>
            <a:srgbClr val="9B1C24"/>
          </a:solidFill>
          <a:ln>
            <a:noFill/>
          </a:ln>
          <a:effectLst/>
        </p:spPr>
        <p:txBody>
          <a:bodyPr rtlCol="0" anchor="ctr"/>
          <a:lstStyle/>
          <a:p>
            <a:pPr algn="ctr"/>
            <a:endParaRPr/>
          </a:p>
        </p:txBody>
      </p:sp>
      <p:pic>
        <p:nvPicPr>
          <p:cNvPr id="54" name="Picture 53" descr="image26.png"/>
          <p:cNvPicPr>
            <a:picLocks noChangeAspect="1"/>
          </p:cNvPicPr>
          <p:nvPr/>
        </p:nvPicPr>
        <p:blipFill>
          <a:blip r:embed="rId3"/>
          <a:stretch>
            <a:fillRect/>
          </a:stretch>
        </p:blipFill>
        <p:spPr>
          <a:xfrm>
            <a:off x="6300216" y="5111496"/>
            <a:ext cx="219456" cy="219456"/>
          </a:xfrm>
          <a:prstGeom prst="rect">
            <a:avLst/>
          </a:prstGeom>
        </p:spPr>
      </p:pic>
      <p:sp>
        <p:nvSpPr>
          <p:cNvPr id="55" name="TextBox 54"/>
          <p:cNvSpPr txBox="1"/>
          <p:nvPr/>
        </p:nvSpPr>
        <p:spPr>
          <a:xfrm>
            <a:off x="6629400" y="5047488"/>
            <a:ext cx="5029200" cy="347472"/>
          </a:xfrm>
          <a:prstGeom prst="rect">
            <a:avLst/>
          </a:prstGeom>
          <a:noFill/>
        </p:spPr>
        <p:txBody>
          <a:bodyPr wrap="square" lIns="18288" tIns="0" rIns="18288" bIns="0" anchor="ctr">
            <a:noAutofit/>
          </a:bodyPr>
          <a:lstStyle/>
          <a:p>
            <a:pPr algn="l"/>
            <a:r>
              <a:rPr sz="1050" b="1" i="0">
                <a:solidFill>
                  <a:srgbClr val="FFFFFF"/>
                </a:solidFill>
                <a:latin typeface="Aptos"/>
              </a:rPr>
              <a:t>Failure handling and learning loop</a:t>
            </a:r>
          </a:p>
        </p:txBody>
      </p:sp>
      <p:sp>
        <p:nvSpPr>
          <p:cNvPr id="56" name="TextBox 55"/>
          <p:cNvSpPr txBox="1"/>
          <p:nvPr/>
        </p:nvSpPr>
        <p:spPr>
          <a:xfrm>
            <a:off x="6263640" y="5449823"/>
            <a:ext cx="5394959" cy="868679"/>
          </a:xfrm>
          <a:prstGeom prst="rect">
            <a:avLst/>
          </a:prstGeom>
          <a:noFill/>
        </p:spPr>
        <p:txBody>
          <a:bodyPr wrap="square" lIns="54864" tIns="27432" rIns="54864" bIns="27432" anchor="t">
            <a:noAutofit/>
          </a:bodyPr>
          <a:lstStyle/>
          <a:p>
            <a:pPr marL="146304" indent="-146304" algn="l">
              <a:spcAft>
                <a:spcPts val="300"/>
              </a:spcAft>
              <a:buFont typeface="Arial"/>
              <a:buChar char="•"/>
            </a:pPr>
            <a:r>
              <a:rPr sz="850" b="1" i="0">
                <a:solidFill>
                  <a:srgbClr val="140C12"/>
                </a:solidFill>
                <a:latin typeface="Aptos"/>
              </a:rPr>
              <a:t>No lost complaints: </a:t>
            </a:r>
            <a:r>
              <a:rPr sz="850" b="0" i="0">
                <a:solidFill>
                  <a:srgbClr val="140C12"/>
                </a:solidFill>
                <a:latin typeface="Aptos"/>
              </a:rPr>
              <a:t>a model timeout or error sends the case to the review queue as 'awaiting analysis'</a:t>
            </a:r>
          </a:p>
          <a:p>
            <a:pPr marL="146304" indent="-146304" algn="l">
              <a:spcAft>
                <a:spcPts val="300"/>
              </a:spcAft>
              <a:buFont typeface="Arial"/>
              <a:buChar char="•"/>
            </a:pPr>
            <a:r>
              <a:rPr sz="850" b="1" i="0">
                <a:solidFill>
                  <a:srgbClr val="140C12"/>
                </a:solidFill>
                <a:latin typeface="Aptos"/>
              </a:rPr>
              <a:t>Email never blocks: </a:t>
            </a:r>
            <a:r>
              <a:rPr sz="850" b="0" i="0">
                <a:solidFill>
                  <a:srgbClr val="140C12"/>
                </a:solidFill>
                <a:latin typeface="Aptos"/>
              </a:rPr>
              <a:t>an outbox thread with one persistent connection delivers every mail, three attempts, reason logged</a:t>
            </a:r>
          </a:p>
          <a:p>
            <a:pPr marL="146304" indent="-146304" algn="l">
              <a:spcAft>
                <a:spcPts val="300"/>
              </a:spcAft>
              <a:buFont typeface="Arial"/>
              <a:buChar char="•"/>
            </a:pPr>
            <a:r>
              <a:rPr sz="850" b="1" i="0">
                <a:solidFill>
                  <a:srgbClr val="140C12"/>
                </a:solidFill>
                <a:latin typeface="Aptos"/>
              </a:rPr>
              <a:t>Overdue: </a:t>
            </a:r>
            <a:r>
              <a:rPr sz="850" b="0" i="0">
                <a:solidFill>
                  <a:srgbClr val="140C12"/>
                </a:solidFill>
                <a:latin typeface="Aptos"/>
              </a:rPr>
              <a:t>due times from the office SLA; a breach is escalated to the district admin by email, once</a:t>
            </a:r>
          </a:p>
          <a:p>
            <a:pPr marL="146304" indent="-146304" algn="l">
              <a:spcAft>
                <a:spcPts val="300"/>
              </a:spcAft>
              <a:buFont typeface="Arial"/>
              <a:buChar char="•"/>
            </a:pPr>
            <a:r>
              <a:rPr sz="850" b="1" i="0">
                <a:solidFill>
                  <a:srgbClr val="140C12"/>
                </a:solidFill>
                <a:latin typeface="Aptos"/>
              </a:rPr>
              <a:t>Speed: </a:t>
            </a:r>
            <a:r>
              <a:rPr sz="850" b="0" i="0">
                <a:solidFill>
                  <a:srgbClr val="140C12"/>
                </a:solidFill>
                <a:latin typeface="Aptos"/>
              </a:rPr>
              <a:t>tracking ID in under 1 s; analysis 12-20 s in the background on a 4 GB laptop GPU</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4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E0262D"/>
          </a:solidFill>
          <a:ln>
            <a:solidFill>
              <a:srgbClr val="E0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56032"/>
            <a:ext cx="8046720" cy="274320"/>
          </a:xfrm>
          <a:prstGeom prst="rect">
            <a:avLst/>
          </a:prstGeom>
          <a:noFill/>
        </p:spPr>
        <p:txBody>
          <a:bodyPr wrap="none" lIns="54864" tIns="54864" rIns="54864" bIns="54864" anchor="t">
            <a:spAutoFit/>
          </a:bodyPr>
          <a:lstStyle/>
          <a:p>
            <a:pPr algn="l">
              <a:defRPr sz="1000" b="1" i="0">
                <a:solidFill>
                  <a:srgbClr val="E0262D"/>
                </a:solidFill>
                <a:latin typeface="Aptos"/>
              </a:defRPr>
            </a:pPr>
            <a:r>
              <a:t>SYNAPSE '26  |  24-HOUR HACKATHON</a:t>
            </a:r>
          </a:p>
        </p:txBody>
      </p:sp>
      <p:sp>
        <p:nvSpPr>
          <p:cNvPr id="4" name="TextBox 3"/>
          <p:cNvSpPr txBox="1"/>
          <p:nvPr/>
        </p:nvSpPr>
        <p:spPr>
          <a:xfrm>
            <a:off x="411480" y="594360"/>
            <a:ext cx="11155680" cy="502920"/>
          </a:xfrm>
          <a:prstGeom prst="rect">
            <a:avLst/>
          </a:prstGeom>
          <a:noFill/>
        </p:spPr>
        <p:txBody>
          <a:bodyPr wrap="none" lIns="54864" tIns="54864" rIns="54864" bIns="54864" anchor="t">
            <a:spAutoFit/>
          </a:bodyPr>
          <a:lstStyle/>
          <a:p>
            <a:pPr algn="l">
              <a:defRPr sz="2500" b="1" i="0">
                <a:solidFill>
                  <a:srgbClr val="140C12"/>
                </a:solidFill>
                <a:latin typeface="Aptos"/>
              </a:defRPr>
            </a:pPr>
            <a:r>
              <a:t>SYSTEM ARCHITECTURE</a:t>
            </a:r>
          </a:p>
        </p:txBody>
      </p:sp>
      <p:sp>
        <p:nvSpPr>
          <p:cNvPr id="6" name="TextBox 5"/>
          <p:cNvSpPr txBox="1"/>
          <p:nvPr/>
        </p:nvSpPr>
        <p:spPr>
          <a:xfrm>
            <a:off x="7589520" y="6510528"/>
            <a:ext cx="4160520" cy="182880"/>
          </a:xfrm>
          <a:prstGeom prst="rect">
            <a:avLst/>
          </a:prstGeom>
          <a:noFill/>
        </p:spPr>
        <p:txBody>
          <a:bodyPr wrap="none" lIns="54864" tIns="54864" rIns="54864" bIns="54864" anchor="t">
            <a:spAutoFit/>
          </a:bodyPr>
          <a:lstStyle/>
          <a:p>
            <a:pPr algn="r">
              <a:defRPr sz="800" b="0" i="0">
                <a:solidFill>
                  <a:srgbClr val="5A5555"/>
                </a:solidFill>
                <a:latin typeface="Aptos"/>
              </a:defRPr>
            </a:pPr>
            <a:r>
              <a:t>V.S.B. Engineering College  •  06</a:t>
            </a:r>
          </a:p>
        </p:txBody>
      </p:sp>
      <p:sp>
        <p:nvSpPr>
          <p:cNvPr id="7" name="TextBox 6"/>
          <p:cNvSpPr txBox="1"/>
          <p:nvPr/>
        </p:nvSpPr>
        <p:spPr>
          <a:xfrm>
            <a:off x="411480" y="1353312"/>
            <a:ext cx="11338560" cy="292608"/>
          </a:xfrm>
          <a:prstGeom prst="rect">
            <a:avLst/>
          </a:prstGeom>
          <a:noFill/>
        </p:spPr>
        <p:txBody>
          <a:bodyPr wrap="square" lIns="18288" tIns="0" rIns="18288" bIns="0" anchor="ctr">
            <a:noAutofit/>
          </a:bodyPr>
          <a:lstStyle/>
          <a:p>
            <a:pPr algn="l"/>
            <a:r>
              <a:rPr sz="1050" b="1" i="0">
                <a:solidFill>
                  <a:srgbClr val="E0262D"/>
                </a:solidFill>
                <a:latin typeface="Aptos"/>
              </a:rPr>
              <a:t>SYSTEM ARCHITECTURE  ·  everything runs on one laptop inside the organisation; the only model runtime is Ollama; no cloud AI calls</a:t>
            </a:r>
          </a:p>
        </p:txBody>
      </p:sp>
      <p:sp>
        <p:nvSpPr>
          <p:cNvPr id="8" name="Rounded Rectangle 7"/>
          <p:cNvSpPr/>
          <p:nvPr/>
        </p:nvSpPr>
        <p:spPr>
          <a:xfrm>
            <a:off x="411480" y="1719072"/>
            <a:ext cx="1783080" cy="3154680"/>
          </a:xfrm>
          <a:prstGeom prst="roundRect">
            <a:avLst>
              <a:gd name="adj" fmla="val 6153"/>
            </a:avLst>
          </a:prstGeom>
          <a:solidFill>
            <a:srgbClr val="FFFFFF"/>
          </a:solidFill>
          <a:ln w="12700">
            <a:solidFill>
              <a:srgbClr val="8A8380"/>
            </a:solidFill>
          </a:ln>
          <a:effectLst/>
        </p:spPr>
        <p:txBody>
          <a:bodyPr rtlCol="0" anchor="ctr"/>
          <a:lstStyle/>
          <a:p>
            <a:pPr algn="ctr"/>
            <a:endParaRPr/>
          </a:p>
        </p:txBody>
      </p:sp>
      <p:pic>
        <p:nvPicPr>
          <p:cNvPr id="9" name="Picture 8" descr="image10.png"/>
          <p:cNvPicPr>
            <a:picLocks noChangeAspect="1"/>
          </p:cNvPicPr>
          <p:nvPr/>
        </p:nvPicPr>
        <p:blipFill>
          <a:blip r:embed="rId2"/>
          <a:stretch>
            <a:fillRect/>
          </a:stretch>
        </p:blipFill>
        <p:spPr>
          <a:xfrm>
            <a:off x="521208" y="1857946"/>
            <a:ext cx="292608" cy="234314"/>
          </a:xfrm>
          <a:prstGeom prst="rect">
            <a:avLst/>
          </a:prstGeom>
        </p:spPr>
      </p:pic>
      <p:sp>
        <p:nvSpPr>
          <p:cNvPr id="10" name="TextBox 9"/>
          <p:cNvSpPr txBox="1"/>
          <p:nvPr/>
        </p:nvSpPr>
        <p:spPr>
          <a:xfrm>
            <a:off x="868680" y="1764792"/>
            <a:ext cx="1280160" cy="457200"/>
          </a:xfrm>
          <a:prstGeom prst="rect">
            <a:avLst/>
          </a:prstGeom>
          <a:noFill/>
        </p:spPr>
        <p:txBody>
          <a:bodyPr wrap="square" lIns="18288" tIns="0" rIns="18288" bIns="0" anchor="ctr">
            <a:noAutofit/>
          </a:bodyPr>
          <a:lstStyle/>
          <a:p>
            <a:pPr algn="l"/>
            <a:r>
              <a:rPr sz="1050" b="1" i="0">
                <a:solidFill>
                  <a:srgbClr val="140C12"/>
                </a:solidFill>
                <a:latin typeface="Aptos"/>
              </a:rPr>
              <a:t>Users</a:t>
            </a:r>
          </a:p>
          <a:p>
            <a:pPr algn="l"/>
            <a:r>
              <a:rPr sz="850" b="0" i="0">
                <a:solidFill>
                  <a:srgbClr val="5A5555"/>
                </a:solidFill>
                <a:latin typeface="Aptos"/>
              </a:rPr>
              <a:t>Roles</a:t>
            </a:r>
          </a:p>
        </p:txBody>
      </p:sp>
      <p:sp>
        <p:nvSpPr>
          <p:cNvPr id="11" name="Rounded Rectangle 10"/>
          <p:cNvSpPr/>
          <p:nvPr/>
        </p:nvSpPr>
        <p:spPr>
          <a:xfrm>
            <a:off x="2377440" y="1719072"/>
            <a:ext cx="2331720" cy="3154680"/>
          </a:xfrm>
          <a:prstGeom prst="roundRect">
            <a:avLst>
              <a:gd name="adj" fmla="val 4705"/>
            </a:avLst>
          </a:prstGeom>
          <a:solidFill>
            <a:srgbClr val="FBE9E9"/>
          </a:solidFill>
          <a:ln w="12700">
            <a:solidFill>
              <a:srgbClr val="E0262D"/>
            </a:solidFill>
          </a:ln>
          <a:effectLst/>
        </p:spPr>
        <p:txBody>
          <a:bodyPr rtlCol="0" anchor="ctr"/>
          <a:lstStyle/>
          <a:p>
            <a:pPr algn="ctr"/>
            <a:endParaRPr/>
          </a:p>
        </p:txBody>
      </p:sp>
      <p:pic>
        <p:nvPicPr>
          <p:cNvPr id="12" name="Picture 11" descr="image14_E0262D.png"/>
          <p:cNvPicPr>
            <a:picLocks noChangeAspect="1"/>
          </p:cNvPicPr>
          <p:nvPr/>
        </p:nvPicPr>
        <p:blipFill>
          <a:blip r:embed="rId3"/>
          <a:stretch>
            <a:fillRect/>
          </a:stretch>
        </p:blipFill>
        <p:spPr>
          <a:xfrm>
            <a:off x="2487168" y="1844802"/>
            <a:ext cx="292608" cy="260604"/>
          </a:xfrm>
          <a:prstGeom prst="rect">
            <a:avLst/>
          </a:prstGeom>
        </p:spPr>
      </p:pic>
      <p:sp>
        <p:nvSpPr>
          <p:cNvPr id="13" name="TextBox 12"/>
          <p:cNvSpPr txBox="1"/>
          <p:nvPr/>
        </p:nvSpPr>
        <p:spPr>
          <a:xfrm>
            <a:off x="2844472" y="1764792"/>
            <a:ext cx="1828799" cy="457200"/>
          </a:xfrm>
          <a:prstGeom prst="rect">
            <a:avLst/>
          </a:prstGeom>
          <a:noFill/>
        </p:spPr>
        <p:txBody>
          <a:bodyPr wrap="square" lIns="18288" tIns="0" rIns="18288" bIns="0" anchor="ctr">
            <a:noAutofit/>
          </a:bodyPr>
          <a:lstStyle/>
          <a:p>
            <a:pPr algn="l"/>
            <a:r>
              <a:rPr sz="1050" b="1" i="0" dirty="0">
                <a:solidFill>
                  <a:srgbClr val="140C12"/>
                </a:solidFill>
                <a:latin typeface="Aptos"/>
              </a:rPr>
              <a:t>Presentation</a:t>
            </a:r>
          </a:p>
          <a:p>
            <a:pPr algn="l"/>
            <a:r>
              <a:rPr sz="850" b="0" i="0" dirty="0">
                <a:solidFill>
                  <a:srgbClr val="5A5555"/>
                </a:solidFill>
                <a:latin typeface="Aptos"/>
              </a:rPr>
              <a:t>React + T</a:t>
            </a:r>
            <a:r>
              <a:rPr lang="en-US" sz="850" b="0" i="0" dirty="0">
                <a:solidFill>
                  <a:srgbClr val="5A5555"/>
                </a:solidFill>
                <a:latin typeface="Aptos"/>
              </a:rPr>
              <a:t>ype Script</a:t>
            </a:r>
            <a:endParaRPr sz="850" b="0" i="0" dirty="0">
              <a:solidFill>
                <a:srgbClr val="5A5555"/>
              </a:solidFill>
              <a:latin typeface="Aptos"/>
            </a:endParaRPr>
          </a:p>
        </p:txBody>
      </p:sp>
      <p:sp>
        <p:nvSpPr>
          <p:cNvPr id="14" name="Rounded Rectangle 13"/>
          <p:cNvSpPr/>
          <p:nvPr/>
        </p:nvSpPr>
        <p:spPr>
          <a:xfrm>
            <a:off x="4892040" y="1719072"/>
            <a:ext cx="3611880" cy="3154680"/>
          </a:xfrm>
          <a:prstGeom prst="roundRect">
            <a:avLst>
              <a:gd name="adj" fmla="val 3478"/>
            </a:avLst>
          </a:prstGeom>
          <a:solidFill>
            <a:srgbClr val="F3EDE3"/>
          </a:solidFill>
          <a:ln w="12700">
            <a:solidFill>
              <a:srgbClr val="5A5555"/>
            </a:solidFill>
          </a:ln>
          <a:effectLst/>
        </p:spPr>
        <p:txBody>
          <a:bodyPr rtlCol="0" anchor="ctr"/>
          <a:lstStyle/>
          <a:p>
            <a:pPr algn="ctr"/>
            <a:endParaRPr/>
          </a:p>
        </p:txBody>
      </p:sp>
      <p:pic>
        <p:nvPicPr>
          <p:cNvPr id="15" name="Picture 14" descr="image15_5A5555.png"/>
          <p:cNvPicPr>
            <a:picLocks noChangeAspect="1"/>
          </p:cNvPicPr>
          <p:nvPr/>
        </p:nvPicPr>
        <p:blipFill>
          <a:blip r:embed="rId4"/>
          <a:stretch>
            <a:fillRect/>
          </a:stretch>
        </p:blipFill>
        <p:spPr>
          <a:xfrm>
            <a:off x="5001768" y="1857946"/>
            <a:ext cx="292608" cy="234314"/>
          </a:xfrm>
          <a:prstGeom prst="rect">
            <a:avLst/>
          </a:prstGeom>
        </p:spPr>
      </p:pic>
      <p:sp>
        <p:nvSpPr>
          <p:cNvPr id="16" name="TextBox 15"/>
          <p:cNvSpPr txBox="1"/>
          <p:nvPr/>
        </p:nvSpPr>
        <p:spPr>
          <a:xfrm>
            <a:off x="5349240" y="1764792"/>
            <a:ext cx="3108960" cy="457200"/>
          </a:xfrm>
          <a:prstGeom prst="rect">
            <a:avLst/>
          </a:prstGeom>
          <a:noFill/>
        </p:spPr>
        <p:txBody>
          <a:bodyPr wrap="square" lIns="18288" tIns="0" rIns="18288" bIns="0" anchor="ctr">
            <a:noAutofit/>
          </a:bodyPr>
          <a:lstStyle/>
          <a:p>
            <a:pPr algn="l"/>
            <a:r>
              <a:rPr sz="1050" b="1" i="0">
                <a:solidFill>
                  <a:srgbClr val="140C12"/>
                </a:solidFill>
                <a:latin typeface="Aptos"/>
              </a:rPr>
              <a:t>Application layer</a:t>
            </a:r>
          </a:p>
          <a:p>
            <a:pPr algn="l"/>
            <a:r>
              <a:rPr sz="850" b="0" i="0">
                <a:solidFill>
                  <a:srgbClr val="5A5555"/>
                </a:solidFill>
                <a:latin typeface="Aptos"/>
              </a:rPr>
              <a:t>Python · FastAPI + worker</a:t>
            </a:r>
          </a:p>
        </p:txBody>
      </p:sp>
      <p:sp>
        <p:nvSpPr>
          <p:cNvPr id="17" name="Rounded Rectangle 16"/>
          <p:cNvSpPr/>
          <p:nvPr/>
        </p:nvSpPr>
        <p:spPr>
          <a:xfrm>
            <a:off x="8686800" y="1719072"/>
            <a:ext cx="3063240" cy="3154680"/>
          </a:xfrm>
          <a:prstGeom prst="roundRect">
            <a:avLst>
              <a:gd name="adj" fmla="val 3582"/>
            </a:avLst>
          </a:prstGeom>
          <a:solidFill>
            <a:srgbClr val="FFF4D6"/>
          </a:solidFill>
          <a:ln w="12700">
            <a:solidFill>
              <a:srgbClr val="7A5C2E"/>
            </a:solidFill>
          </a:ln>
          <a:effectLst/>
        </p:spPr>
        <p:txBody>
          <a:bodyPr rtlCol="0" anchor="ctr"/>
          <a:lstStyle/>
          <a:p>
            <a:pPr algn="ctr"/>
            <a:endParaRPr/>
          </a:p>
        </p:txBody>
      </p:sp>
      <p:pic>
        <p:nvPicPr>
          <p:cNvPr id="18" name="Picture 17" descr="image16_7A5C2E.png"/>
          <p:cNvPicPr>
            <a:picLocks noChangeAspect="1"/>
          </p:cNvPicPr>
          <p:nvPr/>
        </p:nvPicPr>
        <p:blipFill>
          <a:blip r:embed="rId5"/>
          <a:stretch>
            <a:fillRect/>
          </a:stretch>
        </p:blipFill>
        <p:spPr>
          <a:xfrm>
            <a:off x="8814815" y="1828800"/>
            <a:ext cx="256032" cy="292608"/>
          </a:xfrm>
          <a:prstGeom prst="rect">
            <a:avLst/>
          </a:prstGeom>
        </p:spPr>
      </p:pic>
      <p:sp>
        <p:nvSpPr>
          <p:cNvPr id="19" name="TextBox 18"/>
          <p:cNvSpPr txBox="1"/>
          <p:nvPr/>
        </p:nvSpPr>
        <p:spPr>
          <a:xfrm>
            <a:off x="9144000" y="1764792"/>
            <a:ext cx="2560320" cy="457200"/>
          </a:xfrm>
          <a:prstGeom prst="rect">
            <a:avLst/>
          </a:prstGeom>
          <a:noFill/>
        </p:spPr>
        <p:txBody>
          <a:bodyPr wrap="square" lIns="18288" tIns="0" rIns="18288" bIns="0" anchor="ctr">
            <a:noAutofit/>
          </a:bodyPr>
          <a:lstStyle/>
          <a:p>
            <a:pPr algn="l"/>
            <a:r>
              <a:rPr sz="1050" b="1" i="0">
                <a:solidFill>
                  <a:srgbClr val="140C12"/>
                </a:solidFill>
                <a:latin typeface="Aptos"/>
              </a:rPr>
              <a:t>Data | config | AI</a:t>
            </a:r>
          </a:p>
          <a:p>
            <a:pPr algn="l"/>
            <a:r>
              <a:rPr sz="850" b="0" i="0">
                <a:solidFill>
                  <a:srgbClr val="5A5555"/>
                </a:solidFill>
                <a:latin typeface="Aptos"/>
              </a:rPr>
              <a:t>stores · config · models</a:t>
            </a:r>
          </a:p>
        </p:txBody>
      </p:sp>
      <p:sp>
        <p:nvSpPr>
          <p:cNvPr id="20" name="Rounded Rectangle 19"/>
          <p:cNvSpPr/>
          <p:nvPr/>
        </p:nvSpPr>
        <p:spPr>
          <a:xfrm>
            <a:off x="502920" y="2286000"/>
            <a:ext cx="1600200" cy="749808"/>
          </a:xfrm>
          <a:prstGeom prst="roundRect">
            <a:avLst>
              <a:gd name="adj" fmla="val 9756"/>
            </a:avLst>
          </a:prstGeom>
          <a:solidFill>
            <a:srgbClr val="FFFFFF"/>
          </a:solidFill>
          <a:ln w="12700">
            <a:solidFill>
              <a:srgbClr val="8A8380"/>
            </a:solidFill>
          </a:ln>
          <a:effectLst/>
        </p:spPr>
        <p:txBody>
          <a:bodyPr rtlCol="0" anchor="ctr"/>
          <a:lstStyle/>
          <a:p>
            <a:pPr algn="ctr"/>
            <a:endParaRPr/>
          </a:p>
        </p:txBody>
      </p:sp>
      <p:pic>
        <p:nvPicPr>
          <p:cNvPr id="21" name="Picture 20" descr="image11_3A3335.png"/>
          <p:cNvPicPr>
            <a:picLocks noChangeAspect="1"/>
          </p:cNvPicPr>
          <p:nvPr/>
        </p:nvPicPr>
        <p:blipFill>
          <a:blip r:embed="rId6"/>
          <a:stretch>
            <a:fillRect/>
          </a:stretch>
        </p:blipFill>
        <p:spPr>
          <a:xfrm>
            <a:off x="1184148" y="2373689"/>
            <a:ext cx="237744" cy="190380"/>
          </a:xfrm>
          <a:prstGeom prst="rect">
            <a:avLst/>
          </a:prstGeom>
        </p:spPr>
      </p:pic>
      <p:sp>
        <p:nvSpPr>
          <p:cNvPr id="22" name="TextBox 21"/>
          <p:cNvSpPr txBox="1"/>
          <p:nvPr/>
        </p:nvSpPr>
        <p:spPr>
          <a:xfrm>
            <a:off x="502920" y="2560320"/>
            <a:ext cx="1600200" cy="475488"/>
          </a:xfrm>
          <a:prstGeom prst="rect">
            <a:avLst/>
          </a:prstGeom>
          <a:noFill/>
        </p:spPr>
        <p:txBody>
          <a:bodyPr wrap="square" lIns="27432" tIns="9144" rIns="27432" bIns="9144" anchor="ctr">
            <a:noAutofit/>
          </a:bodyPr>
          <a:lstStyle/>
          <a:p>
            <a:pPr algn="ctr"/>
            <a:r>
              <a:rPr sz="900" b="1" i="0">
                <a:solidFill>
                  <a:srgbClr val="140C12"/>
                </a:solidFill>
                <a:latin typeface="Aptos"/>
              </a:rPr>
              <a:t>Citizen</a:t>
            </a:r>
          </a:p>
          <a:p>
            <a:pPr algn="ctr"/>
            <a:r>
              <a:rPr sz="800" b="0" i="0">
                <a:solidFill>
                  <a:srgbClr val="140C12"/>
                </a:solidFill>
                <a:latin typeface="Aptos"/>
              </a:rPr>
              <a:t>files, tracks and replies in any language</a:t>
            </a:r>
          </a:p>
        </p:txBody>
      </p:sp>
      <p:sp>
        <p:nvSpPr>
          <p:cNvPr id="23" name="Rounded Rectangle 22"/>
          <p:cNvSpPr/>
          <p:nvPr/>
        </p:nvSpPr>
        <p:spPr>
          <a:xfrm>
            <a:off x="502920" y="3145536"/>
            <a:ext cx="1600200" cy="749808"/>
          </a:xfrm>
          <a:prstGeom prst="roundRect">
            <a:avLst>
              <a:gd name="adj" fmla="val 9756"/>
            </a:avLst>
          </a:prstGeom>
          <a:solidFill>
            <a:srgbClr val="FFFFFF"/>
          </a:solidFill>
          <a:ln w="12700">
            <a:solidFill>
              <a:srgbClr val="8A8380"/>
            </a:solidFill>
          </a:ln>
          <a:effectLst/>
        </p:spPr>
        <p:txBody>
          <a:bodyPr rtlCol="0" anchor="ctr"/>
          <a:lstStyle/>
          <a:p>
            <a:pPr algn="ctr"/>
            <a:endParaRPr/>
          </a:p>
        </p:txBody>
      </p:sp>
      <p:pic>
        <p:nvPicPr>
          <p:cNvPr id="24" name="Picture 23" descr="image12_3A3335.png"/>
          <p:cNvPicPr>
            <a:picLocks noChangeAspect="1"/>
          </p:cNvPicPr>
          <p:nvPr/>
        </p:nvPicPr>
        <p:blipFill>
          <a:blip r:embed="rId7"/>
          <a:stretch>
            <a:fillRect/>
          </a:stretch>
        </p:blipFill>
        <p:spPr>
          <a:xfrm>
            <a:off x="1199007" y="3209544"/>
            <a:ext cx="208026" cy="237744"/>
          </a:xfrm>
          <a:prstGeom prst="rect">
            <a:avLst/>
          </a:prstGeom>
        </p:spPr>
      </p:pic>
      <p:sp>
        <p:nvSpPr>
          <p:cNvPr id="25" name="TextBox 24"/>
          <p:cNvSpPr txBox="1"/>
          <p:nvPr/>
        </p:nvSpPr>
        <p:spPr>
          <a:xfrm>
            <a:off x="502920" y="3419856"/>
            <a:ext cx="1600200" cy="475488"/>
          </a:xfrm>
          <a:prstGeom prst="rect">
            <a:avLst/>
          </a:prstGeom>
          <a:noFill/>
        </p:spPr>
        <p:txBody>
          <a:bodyPr wrap="square" lIns="27432" tIns="9144" rIns="27432" bIns="9144" anchor="ctr">
            <a:noAutofit/>
          </a:bodyPr>
          <a:lstStyle/>
          <a:p>
            <a:pPr algn="ctr"/>
            <a:r>
              <a:rPr sz="900" b="1" i="0">
                <a:solidFill>
                  <a:srgbClr val="140C12"/>
                </a:solidFill>
                <a:latin typeface="Aptos"/>
              </a:rPr>
              <a:t>Department admin</a:t>
            </a:r>
          </a:p>
          <a:p>
            <a:pPr algn="ctr"/>
            <a:r>
              <a:rPr sz="800" b="0" i="0">
                <a:solidFill>
                  <a:srgbClr val="140C12"/>
                </a:solidFill>
                <a:latin typeface="Aptos"/>
              </a:rPr>
              <a:t>only its department and district</a:t>
            </a:r>
          </a:p>
        </p:txBody>
      </p:sp>
      <p:sp>
        <p:nvSpPr>
          <p:cNvPr id="26" name="Rounded Rectangle 25"/>
          <p:cNvSpPr/>
          <p:nvPr/>
        </p:nvSpPr>
        <p:spPr>
          <a:xfrm>
            <a:off x="502920" y="4005072"/>
            <a:ext cx="1600200" cy="749808"/>
          </a:xfrm>
          <a:prstGeom prst="roundRect">
            <a:avLst>
              <a:gd name="adj" fmla="val 9756"/>
            </a:avLst>
          </a:prstGeom>
          <a:solidFill>
            <a:srgbClr val="FFFFFF"/>
          </a:solidFill>
          <a:ln w="12700">
            <a:solidFill>
              <a:srgbClr val="8A8380"/>
            </a:solidFill>
          </a:ln>
          <a:effectLst/>
        </p:spPr>
        <p:txBody>
          <a:bodyPr rtlCol="0" anchor="ctr"/>
          <a:lstStyle/>
          <a:p>
            <a:pPr algn="ctr"/>
            <a:endParaRPr/>
          </a:p>
        </p:txBody>
      </p:sp>
      <p:pic>
        <p:nvPicPr>
          <p:cNvPr id="27" name="Picture 26" descr="image13_3A3335.png"/>
          <p:cNvPicPr>
            <a:picLocks noChangeAspect="1"/>
          </p:cNvPicPr>
          <p:nvPr/>
        </p:nvPicPr>
        <p:blipFill>
          <a:blip r:embed="rId8"/>
          <a:stretch>
            <a:fillRect/>
          </a:stretch>
        </p:blipFill>
        <p:spPr>
          <a:xfrm>
            <a:off x="1184148" y="4082081"/>
            <a:ext cx="237744" cy="211740"/>
          </a:xfrm>
          <a:prstGeom prst="rect">
            <a:avLst/>
          </a:prstGeom>
        </p:spPr>
      </p:pic>
      <p:sp>
        <p:nvSpPr>
          <p:cNvPr id="28" name="TextBox 27"/>
          <p:cNvSpPr txBox="1"/>
          <p:nvPr/>
        </p:nvSpPr>
        <p:spPr>
          <a:xfrm>
            <a:off x="502920" y="4279392"/>
            <a:ext cx="1600200" cy="475488"/>
          </a:xfrm>
          <a:prstGeom prst="rect">
            <a:avLst/>
          </a:prstGeom>
          <a:noFill/>
        </p:spPr>
        <p:txBody>
          <a:bodyPr wrap="square" lIns="27432" tIns="9144" rIns="27432" bIns="9144" anchor="ctr">
            <a:noAutofit/>
          </a:bodyPr>
          <a:lstStyle/>
          <a:p>
            <a:pPr algn="ctr"/>
            <a:r>
              <a:rPr sz="900" b="1" i="0">
                <a:solidFill>
                  <a:srgbClr val="140C12"/>
                </a:solidFill>
                <a:latin typeface="Aptos"/>
              </a:rPr>
              <a:t>District + super admin</a:t>
            </a:r>
          </a:p>
          <a:p>
            <a:pPr algn="ctr"/>
            <a:r>
              <a:rPr sz="800" b="0" i="0">
                <a:solidFill>
                  <a:srgbClr val="140C12"/>
                </a:solidFill>
                <a:latin typeface="Aptos"/>
              </a:rPr>
              <a:t>review queue, staff, rules, metrics</a:t>
            </a:r>
          </a:p>
        </p:txBody>
      </p:sp>
      <p:sp>
        <p:nvSpPr>
          <p:cNvPr id="29" name="Rounded Rectangle 28"/>
          <p:cNvSpPr/>
          <p:nvPr/>
        </p:nvSpPr>
        <p:spPr>
          <a:xfrm>
            <a:off x="2468880" y="2286000"/>
            <a:ext cx="2148840" cy="420624"/>
          </a:xfrm>
          <a:prstGeom prst="roundRect">
            <a:avLst>
              <a:gd name="adj" fmla="val 17391"/>
            </a:avLst>
          </a:prstGeom>
          <a:solidFill>
            <a:srgbClr val="FFFFFF"/>
          </a:solidFill>
          <a:ln w="12700">
            <a:solidFill>
              <a:srgbClr val="E0262D"/>
            </a:solidFill>
          </a:ln>
          <a:effectLst/>
        </p:spPr>
        <p:txBody>
          <a:bodyPr rtlCol="0" anchor="ctr"/>
          <a:lstStyle/>
          <a:p>
            <a:pPr algn="ctr"/>
            <a:endParaRPr/>
          </a:p>
        </p:txBody>
      </p:sp>
      <p:sp>
        <p:nvSpPr>
          <p:cNvPr id="30" name="TextBox 29"/>
          <p:cNvSpPr txBox="1"/>
          <p:nvPr/>
        </p:nvSpPr>
        <p:spPr>
          <a:xfrm>
            <a:off x="2468880" y="2286000"/>
            <a:ext cx="2148840" cy="420624"/>
          </a:xfrm>
          <a:prstGeom prst="rect">
            <a:avLst/>
          </a:prstGeom>
          <a:noFill/>
        </p:spPr>
        <p:txBody>
          <a:bodyPr wrap="square" lIns="27432" tIns="9144" rIns="27432" bIns="9144" anchor="ctr">
            <a:noAutofit/>
          </a:bodyPr>
          <a:lstStyle/>
          <a:p>
            <a:pPr algn="ctr"/>
            <a:r>
              <a:rPr sz="950" b="1" i="0">
                <a:solidFill>
                  <a:srgbClr val="140C12"/>
                </a:solidFill>
                <a:latin typeface="Aptos"/>
              </a:rPr>
              <a:t>Register + email OTP</a:t>
            </a:r>
          </a:p>
        </p:txBody>
      </p:sp>
      <p:sp>
        <p:nvSpPr>
          <p:cNvPr id="31" name="Rounded Rectangle 30"/>
          <p:cNvSpPr/>
          <p:nvPr/>
        </p:nvSpPr>
        <p:spPr>
          <a:xfrm>
            <a:off x="2468880" y="2798064"/>
            <a:ext cx="2148840" cy="420624"/>
          </a:xfrm>
          <a:prstGeom prst="roundRect">
            <a:avLst>
              <a:gd name="adj" fmla="val 17391"/>
            </a:avLst>
          </a:prstGeom>
          <a:solidFill>
            <a:srgbClr val="FFFFFF"/>
          </a:solidFill>
          <a:ln w="12700">
            <a:solidFill>
              <a:srgbClr val="E0262D"/>
            </a:solidFill>
          </a:ln>
          <a:effectLst/>
        </p:spPr>
        <p:txBody>
          <a:bodyPr rtlCol="0" anchor="ctr"/>
          <a:lstStyle/>
          <a:p>
            <a:pPr algn="ctr"/>
            <a:endParaRPr/>
          </a:p>
        </p:txBody>
      </p:sp>
      <p:sp>
        <p:nvSpPr>
          <p:cNvPr id="32" name="TextBox 31"/>
          <p:cNvSpPr txBox="1"/>
          <p:nvPr/>
        </p:nvSpPr>
        <p:spPr>
          <a:xfrm>
            <a:off x="2468880" y="2798064"/>
            <a:ext cx="2148840" cy="420624"/>
          </a:xfrm>
          <a:prstGeom prst="rect">
            <a:avLst/>
          </a:prstGeom>
          <a:noFill/>
        </p:spPr>
        <p:txBody>
          <a:bodyPr wrap="square" lIns="27432" tIns="9144" rIns="27432" bIns="9144" anchor="ctr">
            <a:noAutofit/>
          </a:bodyPr>
          <a:lstStyle/>
          <a:p>
            <a:pPr algn="ctr"/>
            <a:r>
              <a:rPr sz="950" b="1" i="0">
                <a:solidFill>
                  <a:srgbClr val="140C12"/>
                </a:solidFill>
                <a:latin typeface="Aptos"/>
              </a:rPr>
              <a:t>New complaint: photo, video, GPS</a:t>
            </a:r>
          </a:p>
        </p:txBody>
      </p:sp>
      <p:sp>
        <p:nvSpPr>
          <p:cNvPr id="33" name="Rounded Rectangle 32"/>
          <p:cNvSpPr/>
          <p:nvPr/>
        </p:nvSpPr>
        <p:spPr>
          <a:xfrm>
            <a:off x="2468880" y="3310128"/>
            <a:ext cx="2148840" cy="420624"/>
          </a:xfrm>
          <a:prstGeom prst="roundRect">
            <a:avLst>
              <a:gd name="adj" fmla="val 17391"/>
            </a:avLst>
          </a:prstGeom>
          <a:solidFill>
            <a:srgbClr val="FFFFFF"/>
          </a:solidFill>
          <a:ln w="12700">
            <a:solidFill>
              <a:srgbClr val="E0262D"/>
            </a:solidFill>
          </a:ln>
          <a:effectLst/>
        </p:spPr>
        <p:txBody>
          <a:bodyPr rtlCol="0" anchor="ctr"/>
          <a:lstStyle/>
          <a:p>
            <a:pPr algn="ctr"/>
            <a:endParaRPr/>
          </a:p>
        </p:txBody>
      </p:sp>
      <p:sp>
        <p:nvSpPr>
          <p:cNvPr id="34" name="TextBox 33"/>
          <p:cNvSpPr txBox="1"/>
          <p:nvPr/>
        </p:nvSpPr>
        <p:spPr>
          <a:xfrm>
            <a:off x="2468880" y="3310128"/>
            <a:ext cx="2148840" cy="420624"/>
          </a:xfrm>
          <a:prstGeom prst="rect">
            <a:avLst/>
          </a:prstGeom>
          <a:noFill/>
        </p:spPr>
        <p:txBody>
          <a:bodyPr wrap="square" lIns="27432" tIns="9144" rIns="27432" bIns="9144" anchor="ctr">
            <a:noAutofit/>
          </a:bodyPr>
          <a:lstStyle/>
          <a:p>
            <a:pPr algn="ctr"/>
            <a:r>
              <a:rPr sz="950" b="1" i="0">
                <a:solidFill>
                  <a:srgbClr val="140C12"/>
                </a:solidFill>
                <a:latin typeface="Aptos"/>
              </a:rPr>
              <a:t>Track: evidence, reply, timeline</a:t>
            </a:r>
          </a:p>
        </p:txBody>
      </p:sp>
      <p:sp>
        <p:nvSpPr>
          <p:cNvPr id="35" name="Rounded Rectangle 34"/>
          <p:cNvSpPr/>
          <p:nvPr/>
        </p:nvSpPr>
        <p:spPr>
          <a:xfrm>
            <a:off x="2468880" y="3822191"/>
            <a:ext cx="2148840" cy="420624"/>
          </a:xfrm>
          <a:prstGeom prst="roundRect">
            <a:avLst>
              <a:gd name="adj" fmla="val 17391"/>
            </a:avLst>
          </a:prstGeom>
          <a:solidFill>
            <a:srgbClr val="FFFFFF"/>
          </a:solidFill>
          <a:ln w="12700">
            <a:solidFill>
              <a:srgbClr val="E0262D"/>
            </a:solidFill>
          </a:ln>
          <a:effectLst/>
        </p:spPr>
        <p:txBody>
          <a:bodyPr rtlCol="0" anchor="ctr"/>
          <a:lstStyle/>
          <a:p>
            <a:pPr algn="ctr"/>
            <a:endParaRPr/>
          </a:p>
        </p:txBody>
      </p:sp>
      <p:sp>
        <p:nvSpPr>
          <p:cNvPr id="36" name="TextBox 35"/>
          <p:cNvSpPr txBox="1"/>
          <p:nvPr/>
        </p:nvSpPr>
        <p:spPr>
          <a:xfrm>
            <a:off x="2468880" y="3822191"/>
            <a:ext cx="2148840" cy="420624"/>
          </a:xfrm>
          <a:prstGeom prst="rect">
            <a:avLst/>
          </a:prstGeom>
          <a:noFill/>
        </p:spPr>
        <p:txBody>
          <a:bodyPr wrap="square" lIns="27432" tIns="9144" rIns="27432" bIns="9144" anchor="ctr">
            <a:noAutofit/>
          </a:bodyPr>
          <a:lstStyle/>
          <a:p>
            <a:pPr algn="ctr"/>
            <a:r>
              <a:rPr sz="950" b="1" i="0">
                <a:solidFill>
                  <a:srgbClr val="140C12"/>
                </a:solidFill>
                <a:latin typeface="Aptos"/>
              </a:rPr>
              <a:t>Queue: review / active / resolved</a:t>
            </a:r>
          </a:p>
        </p:txBody>
      </p:sp>
      <p:sp>
        <p:nvSpPr>
          <p:cNvPr id="37" name="Rounded Rectangle 36"/>
          <p:cNvSpPr/>
          <p:nvPr/>
        </p:nvSpPr>
        <p:spPr>
          <a:xfrm>
            <a:off x="2468880" y="4334256"/>
            <a:ext cx="2148840" cy="420624"/>
          </a:xfrm>
          <a:prstGeom prst="roundRect">
            <a:avLst>
              <a:gd name="adj" fmla="val 17391"/>
            </a:avLst>
          </a:prstGeom>
          <a:solidFill>
            <a:srgbClr val="FFFFFF"/>
          </a:solidFill>
          <a:ln w="12700">
            <a:solidFill>
              <a:srgbClr val="E0262D"/>
            </a:solidFill>
          </a:ln>
          <a:effectLst/>
        </p:spPr>
        <p:txBody>
          <a:bodyPr rtlCol="0" anchor="ctr"/>
          <a:lstStyle/>
          <a:p>
            <a:pPr algn="ctr"/>
            <a:endParaRPr/>
          </a:p>
        </p:txBody>
      </p:sp>
      <p:sp>
        <p:nvSpPr>
          <p:cNvPr id="38" name="TextBox 37"/>
          <p:cNvSpPr txBox="1"/>
          <p:nvPr/>
        </p:nvSpPr>
        <p:spPr>
          <a:xfrm>
            <a:off x="2468880" y="4334256"/>
            <a:ext cx="2148840" cy="420624"/>
          </a:xfrm>
          <a:prstGeom prst="rect">
            <a:avLst/>
          </a:prstGeom>
          <a:noFill/>
        </p:spPr>
        <p:txBody>
          <a:bodyPr wrap="square" lIns="27432" tIns="9144" rIns="27432" bIns="9144" anchor="ctr">
            <a:noAutofit/>
          </a:bodyPr>
          <a:lstStyle/>
          <a:p>
            <a:pPr algn="ctr"/>
            <a:r>
              <a:rPr sz="950" b="1" i="0">
                <a:solidFill>
                  <a:srgbClr val="140C12"/>
                </a:solidFill>
                <a:latin typeface="Aptos"/>
              </a:rPr>
              <a:t>Admin: staff, rules, metrics</a:t>
            </a:r>
          </a:p>
        </p:txBody>
      </p:sp>
      <p:sp>
        <p:nvSpPr>
          <p:cNvPr id="39" name="Rounded Rectangle 38"/>
          <p:cNvSpPr/>
          <p:nvPr/>
        </p:nvSpPr>
        <p:spPr>
          <a:xfrm>
            <a:off x="4983480" y="2286000"/>
            <a:ext cx="3429000" cy="457200"/>
          </a:xfrm>
          <a:prstGeom prst="roundRect">
            <a:avLst>
              <a:gd name="adj" fmla="val 16000"/>
            </a:avLst>
          </a:prstGeom>
          <a:solidFill>
            <a:srgbClr val="FFFFFF"/>
          </a:solidFill>
          <a:ln w="12700">
            <a:solidFill>
              <a:srgbClr val="5A5555"/>
            </a:solidFill>
          </a:ln>
          <a:effectLst/>
        </p:spPr>
        <p:txBody>
          <a:bodyPr rtlCol="0" anchor="ctr"/>
          <a:lstStyle/>
          <a:p>
            <a:pPr algn="ctr"/>
            <a:endParaRPr/>
          </a:p>
        </p:txBody>
      </p:sp>
      <p:sp>
        <p:nvSpPr>
          <p:cNvPr id="40" name="TextBox 39"/>
          <p:cNvSpPr txBox="1"/>
          <p:nvPr/>
        </p:nvSpPr>
        <p:spPr>
          <a:xfrm>
            <a:off x="4983480" y="2286000"/>
            <a:ext cx="3429000" cy="457200"/>
          </a:xfrm>
          <a:prstGeom prst="rect">
            <a:avLst/>
          </a:prstGeom>
          <a:noFill/>
        </p:spPr>
        <p:txBody>
          <a:bodyPr wrap="square" lIns="27432" tIns="9144" rIns="27432" bIns="9144" anchor="ctr">
            <a:noAutofit/>
          </a:bodyPr>
          <a:lstStyle/>
          <a:p>
            <a:pPr algn="ctr"/>
            <a:r>
              <a:rPr sz="950" b="1" i="0">
                <a:solidFill>
                  <a:srgbClr val="140C12"/>
                </a:solidFill>
                <a:latin typeface="Aptos"/>
              </a:rPr>
              <a:t>API layer</a:t>
            </a:r>
          </a:p>
          <a:p>
            <a:pPr algn="ctr"/>
            <a:r>
              <a:rPr sz="850" b="0" i="0">
                <a:solidFill>
                  <a:srgbClr val="140C12"/>
                </a:solidFill>
                <a:latin typeface="Aptos"/>
              </a:rPr>
              <a:t>JWT sessions | role scoping | OTP + argon2</a:t>
            </a:r>
          </a:p>
        </p:txBody>
      </p:sp>
      <p:sp>
        <p:nvSpPr>
          <p:cNvPr id="41" name="Rounded Rectangle 40"/>
          <p:cNvSpPr/>
          <p:nvPr/>
        </p:nvSpPr>
        <p:spPr>
          <a:xfrm>
            <a:off x="4983480" y="2798064"/>
            <a:ext cx="3429000" cy="457200"/>
          </a:xfrm>
          <a:prstGeom prst="roundRect">
            <a:avLst>
              <a:gd name="adj" fmla="val 16000"/>
            </a:avLst>
          </a:prstGeom>
          <a:solidFill>
            <a:srgbClr val="FFFFFF"/>
          </a:solidFill>
          <a:ln w="12700">
            <a:solidFill>
              <a:srgbClr val="5A5555"/>
            </a:solidFill>
          </a:ln>
          <a:effectLst/>
        </p:spPr>
        <p:txBody>
          <a:bodyPr rtlCol="0" anchor="ctr"/>
          <a:lstStyle/>
          <a:p>
            <a:pPr algn="ctr"/>
            <a:endParaRPr/>
          </a:p>
        </p:txBody>
      </p:sp>
      <p:sp>
        <p:nvSpPr>
          <p:cNvPr id="42" name="TextBox 41"/>
          <p:cNvSpPr txBox="1"/>
          <p:nvPr/>
        </p:nvSpPr>
        <p:spPr>
          <a:xfrm>
            <a:off x="4983480" y="2798064"/>
            <a:ext cx="3429000" cy="457200"/>
          </a:xfrm>
          <a:prstGeom prst="rect">
            <a:avLst/>
          </a:prstGeom>
          <a:noFill/>
        </p:spPr>
        <p:txBody>
          <a:bodyPr wrap="square" lIns="27432" tIns="9144" rIns="27432" bIns="9144" anchor="ctr">
            <a:noAutofit/>
          </a:bodyPr>
          <a:lstStyle/>
          <a:p>
            <a:pPr algn="ctr"/>
            <a:r>
              <a:rPr sz="950" b="1" i="0">
                <a:solidFill>
                  <a:srgbClr val="140C12"/>
                </a:solidFill>
                <a:latin typeface="Aptos"/>
              </a:rPr>
              <a:t>Intake and reply</a:t>
            </a:r>
          </a:p>
          <a:p>
            <a:pPr algn="ctr"/>
            <a:r>
              <a:rPr sz="850" b="0" i="0">
                <a:solidFill>
                  <a:srgbClr val="140C12"/>
                </a:solidFill>
                <a:latin typeface="Aptos"/>
              </a:rPr>
              <a:t>validate → store raw → ack email → queue</a:t>
            </a:r>
          </a:p>
        </p:txBody>
      </p:sp>
      <p:sp>
        <p:nvSpPr>
          <p:cNvPr id="43" name="Rounded Rectangle 42"/>
          <p:cNvSpPr/>
          <p:nvPr/>
        </p:nvSpPr>
        <p:spPr>
          <a:xfrm>
            <a:off x="4983480" y="3310128"/>
            <a:ext cx="3429000" cy="457200"/>
          </a:xfrm>
          <a:prstGeom prst="roundRect">
            <a:avLst>
              <a:gd name="adj" fmla="val 16000"/>
            </a:avLst>
          </a:prstGeom>
          <a:solidFill>
            <a:srgbClr val="FFFFFF"/>
          </a:solidFill>
          <a:ln w="12700">
            <a:solidFill>
              <a:srgbClr val="5A5555"/>
            </a:solidFill>
          </a:ln>
          <a:effectLst/>
        </p:spPr>
        <p:txBody>
          <a:bodyPr rtlCol="0" anchor="ctr"/>
          <a:lstStyle/>
          <a:p>
            <a:pPr algn="ctr"/>
            <a:endParaRPr/>
          </a:p>
        </p:txBody>
      </p:sp>
      <p:sp>
        <p:nvSpPr>
          <p:cNvPr id="44" name="TextBox 43"/>
          <p:cNvSpPr txBox="1"/>
          <p:nvPr/>
        </p:nvSpPr>
        <p:spPr>
          <a:xfrm>
            <a:off x="4983480" y="3310128"/>
            <a:ext cx="3429000" cy="457200"/>
          </a:xfrm>
          <a:prstGeom prst="rect">
            <a:avLst/>
          </a:prstGeom>
          <a:noFill/>
        </p:spPr>
        <p:txBody>
          <a:bodyPr wrap="square" lIns="27432" tIns="9144" rIns="27432" bIns="9144" anchor="ctr">
            <a:noAutofit/>
          </a:bodyPr>
          <a:lstStyle/>
          <a:p>
            <a:pPr algn="ctr"/>
            <a:r>
              <a:rPr sz="950" b="1" i="0">
                <a:solidFill>
                  <a:srgbClr val="140C12"/>
                </a:solidFill>
                <a:latin typeface="Aptos"/>
              </a:rPr>
              <a:t>Analysis worker</a:t>
            </a:r>
          </a:p>
          <a:p>
            <a:pPr algn="ctr"/>
            <a:r>
              <a:rPr sz="850" b="0" i="0">
                <a:solidFill>
                  <a:srgbClr val="140C12"/>
                </a:solidFill>
                <a:latin typeface="Aptos"/>
              </a:rPr>
              <a:t>PII mask → geocode → Gemma 3 → embed → dedup</a:t>
            </a:r>
          </a:p>
        </p:txBody>
      </p:sp>
      <p:sp>
        <p:nvSpPr>
          <p:cNvPr id="45" name="Rounded Rectangle 44"/>
          <p:cNvSpPr/>
          <p:nvPr/>
        </p:nvSpPr>
        <p:spPr>
          <a:xfrm>
            <a:off x="4983480" y="3822191"/>
            <a:ext cx="3429000" cy="457200"/>
          </a:xfrm>
          <a:prstGeom prst="roundRect">
            <a:avLst>
              <a:gd name="adj" fmla="val 16000"/>
            </a:avLst>
          </a:prstGeom>
          <a:solidFill>
            <a:srgbClr val="FFFFFF"/>
          </a:solidFill>
          <a:ln w="12700">
            <a:solidFill>
              <a:srgbClr val="5A5555"/>
            </a:solidFill>
          </a:ln>
          <a:effectLst/>
        </p:spPr>
        <p:txBody>
          <a:bodyPr rtlCol="0" anchor="ctr"/>
          <a:lstStyle/>
          <a:p>
            <a:pPr algn="ctr"/>
            <a:endParaRPr/>
          </a:p>
        </p:txBody>
      </p:sp>
      <p:sp>
        <p:nvSpPr>
          <p:cNvPr id="46" name="TextBox 45"/>
          <p:cNvSpPr txBox="1"/>
          <p:nvPr/>
        </p:nvSpPr>
        <p:spPr>
          <a:xfrm>
            <a:off x="4983480" y="3822191"/>
            <a:ext cx="3429000" cy="457200"/>
          </a:xfrm>
          <a:prstGeom prst="rect">
            <a:avLst/>
          </a:prstGeom>
          <a:noFill/>
        </p:spPr>
        <p:txBody>
          <a:bodyPr wrap="square" lIns="27432" tIns="9144" rIns="27432" bIns="9144" anchor="ctr">
            <a:noAutofit/>
          </a:bodyPr>
          <a:lstStyle/>
          <a:p>
            <a:pPr algn="ctr"/>
            <a:r>
              <a:rPr sz="950" b="1" i="0">
                <a:solidFill>
                  <a:srgbClr val="140C12"/>
                </a:solidFill>
                <a:latin typeface="Aptos"/>
              </a:rPr>
              <a:t>Rules, decision, SLA watch</a:t>
            </a:r>
          </a:p>
          <a:p>
            <a:pPr algn="ctr"/>
            <a:r>
              <a:rPr sz="850" b="0" i="0">
                <a:solidFill>
                  <a:srgbClr val="140C12"/>
                </a:solidFill>
                <a:latin typeface="Aptos"/>
              </a:rPr>
              <a:t>YAML rules | second opinion | office + due time | overdue</a:t>
            </a:r>
          </a:p>
        </p:txBody>
      </p:sp>
      <p:sp>
        <p:nvSpPr>
          <p:cNvPr id="47" name="Rounded Rectangle 46"/>
          <p:cNvSpPr/>
          <p:nvPr/>
        </p:nvSpPr>
        <p:spPr>
          <a:xfrm>
            <a:off x="4983480" y="4334256"/>
            <a:ext cx="3429000" cy="457200"/>
          </a:xfrm>
          <a:prstGeom prst="roundRect">
            <a:avLst>
              <a:gd name="adj" fmla="val 16000"/>
            </a:avLst>
          </a:prstGeom>
          <a:solidFill>
            <a:srgbClr val="FFFFFF"/>
          </a:solidFill>
          <a:ln w="12700">
            <a:solidFill>
              <a:srgbClr val="5A5555"/>
            </a:solidFill>
          </a:ln>
          <a:effectLst/>
        </p:spPr>
        <p:txBody>
          <a:bodyPr rtlCol="0" anchor="ctr"/>
          <a:lstStyle/>
          <a:p>
            <a:pPr algn="ctr"/>
            <a:endParaRPr/>
          </a:p>
        </p:txBody>
      </p:sp>
      <p:sp>
        <p:nvSpPr>
          <p:cNvPr id="48" name="TextBox 47"/>
          <p:cNvSpPr txBox="1"/>
          <p:nvPr/>
        </p:nvSpPr>
        <p:spPr>
          <a:xfrm>
            <a:off x="4983480" y="4334256"/>
            <a:ext cx="3429000" cy="457200"/>
          </a:xfrm>
          <a:prstGeom prst="rect">
            <a:avLst/>
          </a:prstGeom>
          <a:noFill/>
        </p:spPr>
        <p:txBody>
          <a:bodyPr wrap="square" lIns="27432" tIns="9144" rIns="27432" bIns="9144" anchor="ctr">
            <a:noAutofit/>
          </a:bodyPr>
          <a:lstStyle/>
          <a:p>
            <a:pPr algn="ctr"/>
            <a:r>
              <a:rPr sz="950" b="1" i="0">
                <a:solidFill>
                  <a:srgbClr val="140C12"/>
                </a:solidFill>
                <a:latin typeface="Aptos"/>
              </a:rPr>
              <a:t>Review and outbox</a:t>
            </a:r>
          </a:p>
          <a:p>
            <a:pPr algn="ctr"/>
            <a:r>
              <a:rPr sz="850" b="0" i="0">
                <a:solidFill>
                  <a:srgbClr val="140C12"/>
                </a:solidFill>
                <a:latin typeface="Aptos"/>
              </a:rPr>
              <a:t>decisions, overrides | citizen, department, district emails</a:t>
            </a:r>
          </a:p>
        </p:txBody>
      </p:sp>
      <p:sp>
        <p:nvSpPr>
          <p:cNvPr id="49" name="Rounded Rectangle 48"/>
          <p:cNvSpPr/>
          <p:nvPr/>
        </p:nvSpPr>
        <p:spPr>
          <a:xfrm>
            <a:off x="8778240" y="2286000"/>
            <a:ext cx="2880360" cy="548640"/>
          </a:xfrm>
          <a:prstGeom prst="roundRect">
            <a:avLst>
              <a:gd name="adj" fmla="val 13333"/>
            </a:avLst>
          </a:prstGeom>
          <a:solidFill>
            <a:srgbClr val="FFFFFF"/>
          </a:solidFill>
          <a:ln w="12700">
            <a:solidFill>
              <a:srgbClr val="7A5C2E"/>
            </a:solidFill>
          </a:ln>
          <a:effectLst/>
        </p:spPr>
        <p:txBody>
          <a:bodyPr rtlCol="0" anchor="ctr"/>
          <a:lstStyle/>
          <a:p>
            <a:pPr algn="ctr"/>
            <a:endParaRPr/>
          </a:p>
        </p:txBody>
      </p:sp>
      <p:sp>
        <p:nvSpPr>
          <p:cNvPr id="50" name="TextBox 49"/>
          <p:cNvSpPr txBox="1"/>
          <p:nvPr/>
        </p:nvSpPr>
        <p:spPr>
          <a:xfrm>
            <a:off x="8778240" y="2286000"/>
            <a:ext cx="2880360" cy="548640"/>
          </a:xfrm>
          <a:prstGeom prst="rect">
            <a:avLst/>
          </a:prstGeom>
          <a:noFill/>
        </p:spPr>
        <p:txBody>
          <a:bodyPr wrap="square" lIns="27432" tIns="9144" rIns="27432" bIns="9144" anchor="ctr">
            <a:noAutofit/>
          </a:bodyPr>
          <a:lstStyle/>
          <a:p>
            <a:pPr algn="ctr"/>
            <a:r>
              <a:rPr sz="950" b="1" i="0">
                <a:solidFill>
                  <a:srgbClr val="140C12"/>
                </a:solidFill>
                <a:latin typeface="Aptos"/>
              </a:rPr>
              <a:t>Local AI (Ollama)</a:t>
            </a:r>
          </a:p>
          <a:p>
            <a:pPr algn="ctr"/>
            <a:r>
              <a:rPr sz="850" b="0" i="0">
                <a:solidFill>
                  <a:srgbClr val="140C12"/>
                </a:solidFill>
                <a:latin typeface="Aptos"/>
              </a:rPr>
              <a:t>Gemma 3 4B text + vision | bge-m3 | NumPy classifier</a:t>
            </a:r>
          </a:p>
        </p:txBody>
      </p:sp>
      <p:sp>
        <p:nvSpPr>
          <p:cNvPr id="51" name="Rounded Rectangle 50"/>
          <p:cNvSpPr/>
          <p:nvPr/>
        </p:nvSpPr>
        <p:spPr>
          <a:xfrm>
            <a:off x="8778240" y="2926080"/>
            <a:ext cx="2880360" cy="548640"/>
          </a:xfrm>
          <a:prstGeom prst="roundRect">
            <a:avLst>
              <a:gd name="adj" fmla="val 13333"/>
            </a:avLst>
          </a:prstGeom>
          <a:solidFill>
            <a:srgbClr val="FFFFFF"/>
          </a:solidFill>
          <a:ln w="12700">
            <a:solidFill>
              <a:srgbClr val="7A5C2E"/>
            </a:solidFill>
          </a:ln>
          <a:effectLst/>
        </p:spPr>
        <p:txBody>
          <a:bodyPr rtlCol="0" anchor="ctr"/>
          <a:lstStyle/>
          <a:p>
            <a:pPr algn="ctr"/>
            <a:endParaRPr/>
          </a:p>
        </p:txBody>
      </p:sp>
      <p:sp>
        <p:nvSpPr>
          <p:cNvPr id="52" name="TextBox 51"/>
          <p:cNvSpPr txBox="1"/>
          <p:nvPr/>
        </p:nvSpPr>
        <p:spPr>
          <a:xfrm>
            <a:off x="8778240" y="2926080"/>
            <a:ext cx="2880360" cy="548640"/>
          </a:xfrm>
          <a:prstGeom prst="rect">
            <a:avLst/>
          </a:prstGeom>
          <a:noFill/>
        </p:spPr>
        <p:txBody>
          <a:bodyPr wrap="square" lIns="27432" tIns="9144" rIns="27432" bIns="9144" anchor="ctr">
            <a:noAutofit/>
          </a:bodyPr>
          <a:lstStyle/>
          <a:p>
            <a:pPr algn="ctr"/>
            <a:r>
              <a:rPr sz="950" b="1" i="0">
                <a:solidFill>
                  <a:srgbClr val="140C12"/>
                </a:solidFill>
                <a:latin typeface="Aptos"/>
              </a:rPr>
              <a:t>PostgreSQL 17 + pgvector</a:t>
            </a:r>
          </a:p>
          <a:p>
            <a:pPr algn="ctr"/>
            <a:r>
              <a:rPr sz="850" b="0" i="0">
                <a:solidFill>
                  <a:srgbClr val="140C12"/>
                </a:solidFill>
                <a:latin typeface="Aptos"/>
              </a:rPr>
              <a:t>complaints | analyses | HNSW duplicate index</a:t>
            </a:r>
          </a:p>
        </p:txBody>
      </p:sp>
      <p:sp>
        <p:nvSpPr>
          <p:cNvPr id="53" name="Rounded Rectangle 52"/>
          <p:cNvSpPr/>
          <p:nvPr/>
        </p:nvSpPr>
        <p:spPr>
          <a:xfrm>
            <a:off x="8778240" y="3566160"/>
            <a:ext cx="2880360" cy="548640"/>
          </a:xfrm>
          <a:prstGeom prst="roundRect">
            <a:avLst>
              <a:gd name="adj" fmla="val 13333"/>
            </a:avLst>
          </a:prstGeom>
          <a:solidFill>
            <a:srgbClr val="FFFFFF"/>
          </a:solidFill>
          <a:ln w="12700">
            <a:solidFill>
              <a:srgbClr val="7A5C2E"/>
            </a:solidFill>
          </a:ln>
          <a:effectLst/>
        </p:spPr>
        <p:txBody>
          <a:bodyPr rtlCol="0" anchor="ctr"/>
          <a:lstStyle/>
          <a:p>
            <a:pPr algn="ctr"/>
            <a:endParaRPr/>
          </a:p>
        </p:txBody>
      </p:sp>
      <p:sp>
        <p:nvSpPr>
          <p:cNvPr id="54" name="TextBox 53"/>
          <p:cNvSpPr txBox="1"/>
          <p:nvPr/>
        </p:nvSpPr>
        <p:spPr>
          <a:xfrm>
            <a:off x="8778240" y="3566160"/>
            <a:ext cx="2880360" cy="548640"/>
          </a:xfrm>
          <a:prstGeom prst="rect">
            <a:avLst/>
          </a:prstGeom>
          <a:noFill/>
        </p:spPr>
        <p:txBody>
          <a:bodyPr wrap="square" lIns="27432" tIns="9144" rIns="27432" bIns="9144" anchor="ctr">
            <a:noAutofit/>
          </a:bodyPr>
          <a:lstStyle/>
          <a:p>
            <a:pPr algn="ctr"/>
            <a:r>
              <a:rPr sz="950" b="1" i="0">
                <a:solidFill>
                  <a:srgbClr val="140C12"/>
                </a:solidFill>
                <a:latin typeface="Aptos"/>
              </a:rPr>
              <a:t>Media + config</a:t>
            </a:r>
          </a:p>
          <a:p>
            <a:pPr algn="ctr"/>
            <a:r>
              <a:rPr sz="850" b="0" i="0">
                <a:solidFill>
                  <a:srgbClr val="140C12"/>
                </a:solidFill>
                <a:latin typeface="Aptos"/>
              </a:rPr>
              <a:t>photos/videos on disk | taxonomy, rules, 760 TN offices</a:t>
            </a:r>
          </a:p>
        </p:txBody>
      </p:sp>
      <p:sp>
        <p:nvSpPr>
          <p:cNvPr id="55" name="Rounded Rectangle 54"/>
          <p:cNvSpPr/>
          <p:nvPr/>
        </p:nvSpPr>
        <p:spPr>
          <a:xfrm>
            <a:off x="8778240" y="4206240"/>
            <a:ext cx="2880360" cy="548640"/>
          </a:xfrm>
          <a:prstGeom prst="roundRect">
            <a:avLst>
              <a:gd name="adj" fmla="val 13333"/>
            </a:avLst>
          </a:prstGeom>
          <a:solidFill>
            <a:srgbClr val="FFFFFF"/>
          </a:solidFill>
          <a:ln w="12700">
            <a:solidFill>
              <a:srgbClr val="7A5C2E"/>
            </a:solidFill>
          </a:ln>
          <a:effectLst/>
        </p:spPr>
        <p:txBody>
          <a:bodyPr rtlCol="0" anchor="ctr"/>
          <a:lstStyle/>
          <a:p>
            <a:pPr algn="ctr"/>
            <a:endParaRPr/>
          </a:p>
        </p:txBody>
      </p:sp>
      <p:sp>
        <p:nvSpPr>
          <p:cNvPr id="56" name="TextBox 55"/>
          <p:cNvSpPr txBox="1"/>
          <p:nvPr/>
        </p:nvSpPr>
        <p:spPr>
          <a:xfrm>
            <a:off x="8778240" y="4206240"/>
            <a:ext cx="2880360" cy="548640"/>
          </a:xfrm>
          <a:prstGeom prst="rect">
            <a:avLst/>
          </a:prstGeom>
          <a:noFill/>
        </p:spPr>
        <p:txBody>
          <a:bodyPr wrap="square" lIns="27432" tIns="9144" rIns="27432" bIns="9144" anchor="ctr">
            <a:noAutofit/>
          </a:bodyPr>
          <a:lstStyle/>
          <a:p>
            <a:pPr algn="ctr"/>
            <a:r>
              <a:rPr sz="950" b="1" i="0">
                <a:solidFill>
                  <a:srgbClr val="140C12"/>
                </a:solidFill>
                <a:latin typeface="Aptos"/>
              </a:rPr>
              <a:t>Mailpit / SMTP</a:t>
            </a:r>
          </a:p>
          <a:p>
            <a:pPr algn="ctr"/>
            <a:r>
              <a:rPr sz="850" b="0" i="0">
                <a:solidFill>
                  <a:srgbClr val="140C12"/>
                </a:solidFill>
                <a:latin typeface="Aptos"/>
              </a:rPr>
              <a:t>OTP + status emails | every send logged</a:t>
            </a:r>
          </a:p>
        </p:txBody>
      </p:sp>
      <p:cxnSp>
        <p:nvCxnSpPr>
          <p:cNvPr id="57" name="Connector 56"/>
          <p:cNvCxnSpPr/>
          <p:nvPr/>
        </p:nvCxnSpPr>
        <p:spPr>
          <a:xfrm>
            <a:off x="2175510" y="2646045"/>
            <a:ext cx="237744" cy="0"/>
          </a:xfrm>
          <a:prstGeom prst="line">
            <a:avLst/>
          </a:prstGeom>
          <a:ln w="12700">
            <a:solidFill>
              <a:srgbClr val="3A3335"/>
            </a:solidFill>
            <a:headEnd type="triangle" w="med" len="med"/>
            <a:tailEnd type="triangle" w="med" len="med"/>
          </a:ln>
        </p:spPr>
      </p:cxnSp>
      <p:cxnSp>
        <p:nvCxnSpPr>
          <p:cNvPr id="58" name="Connector 57"/>
          <p:cNvCxnSpPr/>
          <p:nvPr/>
        </p:nvCxnSpPr>
        <p:spPr>
          <a:xfrm>
            <a:off x="2175510" y="3520440"/>
            <a:ext cx="237744" cy="0"/>
          </a:xfrm>
          <a:prstGeom prst="line">
            <a:avLst/>
          </a:prstGeom>
          <a:ln w="12700">
            <a:solidFill>
              <a:srgbClr val="3A3335"/>
            </a:solidFill>
            <a:headEnd type="triangle" w="med" len="med"/>
            <a:tailEnd type="triangle" w="med" len="med"/>
          </a:ln>
        </p:spPr>
      </p:cxnSp>
      <p:cxnSp>
        <p:nvCxnSpPr>
          <p:cNvPr id="59" name="Connector 58"/>
          <p:cNvCxnSpPr/>
          <p:nvPr/>
        </p:nvCxnSpPr>
        <p:spPr>
          <a:xfrm>
            <a:off x="2175510" y="4389120"/>
            <a:ext cx="237744" cy="0"/>
          </a:xfrm>
          <a:prstGeom prst="line">
            <a:avLst/>
          </a:prstGeom>
          <a:ln w="12700">
            <a:solidFill>
              <a:srgbClr val="3A3335"/>
            </a:solidFill>
            <a:headEnd type="triangle" w="med" len="med"/>
            <a:tailEnd type="triangle" w="med" len="med"/>
          </a:ln>
        </p:spPr>
      </p:cxnSp>
      <p:cxnSp>
        <p:nvCxnSpPr>
          <p:cNvPr id="60" name="Connector 59"/>
          <p:cNvCxnSpPr/>
          <p:nvPr/>
        </p:nvCxnSpPr>
        <p:spPr>
          <a:xfrm>
            <a:off x="4673271" y="2497074"/>
            <a:ext cx="237744" cy="0"/>
          </a:xfrm>
          <a:prstGeom prst="line">
            <a:avLst/>
          </a:prstGeom>
          <a:ln w="12700">
            <a:solidFill>
              <a:srgbClr val="3A3335"/>
            </a:solidFill>
            <a:headEnd type="triangle" w="med" len="med"/>
            <a:tailEnd type="triangle" w="med" len="med"/>
          </a:ln>
        </p:spPr>
      </p:cxnSp>
      <p:cxnSp>
        <p:nvCxnSpPr>
          <p:cNvPr id="61" name="Connector 60"/>
          <p:cNvCxnSpPr/>
          <p:nvPr/>
        </p:nvCxnSpPr>
        <p:spPr>
          <a:xfrm>
            <a:off x="4673271" y="3520440"/>
            <a:ext cx="237744" cy="0"/>
          </a:xfrm>
          <a:prstGeom prst="line">
            <a:avLst/>
          </a:prstGeom>
          <a:ln w="12700">
            <a:solidFill>
              <a:srgbClr val="3A3335"/>
            </a:solidFill>
            <a:headEnd type="triangle" w="med" len="med"/>
            <a:tailEnd type="triangle" w="med" len="med"/>
          </a:ln>
        </p:spPr>
      </p:cxnSp>
      <p:cxnSp>
        <p:nvCxnSpPr>
          <p:cNvPr id="62" name="Connector 61"/>
          <p:cNvCxnSpPr/>
          <p:nvPr/>
        </p:nvCxnSpPr>
        <p:spPr>
          <a:xfrm>
            <a:off x="4691253" y="4544568"/>
            <a:ext cx="237744" cy="0"/>
          </a:xfrm>
          <a:prstGeom prst="line">
            <a:avLst/>
          </a:prstGeom>
          <a:ln w="12700">
            <a:solidFill>
              <a:srgbClr val="3A3335"/>
            </a:solidFill>
            <a:headEnd type="triangle" w="med" len="med"/>
            <a:tailEnd type="triangle" w="med" len="med"/>
          </a:ln>
        </p:spPr>
      </p:cxnSp>
      <p:cxnSp>
        <p:nvCxnSpPr>
          <p:cNvPr id="63" name="Connector 62"/>
          <p:cNvCxnSpPr/>
          <p:nvPr/>
        </p:nvCxnSpPr>
        <p:spPr>
          <a:xfrm>
            <a:off x="8469630" y="2560320"/>
            <a:ext cx="237744" cy="0"/>
          </a:xfrm>
          <a:prstGeom prst="line">
            <a:avLst/>
          </a:prstGeom>
          <a:ln w="12700">
            <a:solidFill>
              <a:srgbClr val="3A3335"/>
            </a:solidFill>
            <a:headEnd type="triangle" w="med" len="med"/>
            <a:tailEnd type="triangle" w="med" len="med"/>
          </a:ln>
        </p:spPr>
      </p:cxnSp>
      <p:cxnSp>
        <p:nvCxnSpPr>
          <p:cNvPr id="64" name="Connector 63"/>
          <p:cNvCxnSpPr/>
          <p:nvPr/>
        </p:nvCxnSpPr>
        <p:spPr>
          <a:xfrm>
            <a:off x="8482203" y="3200400"/>
            <a:ext cx="237744" cy="0"/>
          </a:xfrm>
          <a:prstGeom prst="line">
            <a:avLst/>
          </a:prstGeom>
          <a:ln w="12700">
            <a:solidFill>
              <a:srgbClr val="3A3335"/>
            </a:solidFill>
            <a:headEnd type="triangle" w="med" len="med"/>
            <a:tailEnd type="triangle" w="med" len="med"/>
          </a:ln>
        </p:spPr>
      </p:cxnSp>
      <p:cxnSp>
        <p:nvCxnSpPr>
          <p:cNvPr id="65" name="Connector 64"/>
          <p:cNvCxnSpPr/>
          <p:nvPr/>
        </p:nvCxnSpPr>
        <p:spPr>
          <a:xfrm>
            <a:off x="8469630" y="3840480"/>
            <a:ext cx="237744" cy="0"/>
          </a:xfrm>
          <a:prstGeom prst="line">
            <a:avLst/>
          </a:prstGeom>
          <a:ln w="12700">
            <a:solidFill>
              <a:srgbClr val="3A3335"/>
            </a:solidFill>
            <a:headEnd type="triangle" w="med" len="med"/>
            <a:tailEnd type="triangle" w="med" len="med"/>
          </a:ln>
        </p:spPr>
      </p:cxnSp>
      <p:cxnSp>
        <p:nvCxnSpPr>
          <p:cNvPr id="66" name="Connector 65"/>
          <p:cNvCxnSpPr/>
          <p:nvPr/>
        </p:nvCxnSpPr>
        <p:spPr>
          <a:xfrm>
            <a:off x="8482203" y="4480560"/>
            <a:ext cx="237744" cy="0"/>
          </a:xfrm>
          <a:prstGeom prst="line">
            <a:avLst/>
          </a:prstGeom>
          <a:ln w="12700">
            <a:solidFill>
              <a:srgbClr val="3A3335"/>
            </a:solidFill>
            <a:headEnd type="triangle" w="med" len="med"/>
            <a:tailEnd type="triangle" w="med" len="med"/>
          </a:ln>
        </p:spPr>
      </p:cxnSp>
      <p:sp>
        <p:nvSpPr>
          <p:cNvPr id="67" name="Rounded Rectangle 66"/>
          <p:cNvSpPr/>
          <p:nvPr/>
        </p:nvSpPr>
        <p:spPr>
          <a:xfrm>
            <a:off x="411480" y="5010912"/>
            <a:ext cx="7635240" cy="1344168"/>
          </a:xfrm>
          <a:prstGeom prst="roundRect">
            <a:avLst>
              <a:gd name="adj" fmla="val 8163"/>
            </a:avLst>
          </a:prstGeom>
          <a:solidFill>
            <a:srgbClr val="F3EDE3"/>
          </a:solidFill>
          <a:ln w="12700">
            <a:solidFill>
              <a:srgbClr val="3A3335"/>
            </a:solidFill>
          </a:ln>
          <a:effectLst/>
        </p:spPr>
        <p:txBody>
          <a:bodyPr rtlCol="0" anchor="ctr"/>
          <a:lstStyle/>
          <a:p>
            <a:pPr algn="ctr"/>
            <a:endParaRPr/>
          </a:p>
        </p:txBody>
      </p:sp>
      <p:sp>
        <p:nvSpPr>
          <p:cNvPr id="68" name="Rounded Rectangle 67"/>
          <p:cNvSpPr/>
          <p:nvPr/>
        </p:nvSpPr>
        <p:spPr>
          <a:xfrm>
            <a:off x="411480" y="5010912"/>
            <a:ext cx="7635240" cy="347472"/>
          </a:xfrm>
          <a:prstGeom prst="roundRect">
            <a:avLst>
              <a:gd name="adj" fmla="val 31578"/>
            </a:avLst>
          </a:prstGeom>
          <a:solidFill>
            <a:srgbClr val="3A3335"/>
          </a:solidFill>
          <a:ln>
            <a:noFill/>
          </a:ln>
          <a:effectLst/>
        </p:spPr>
        <p:txBody>
          <a:bodyPr rtlCol="0" anchor="ctr"/>
          <a:lstStyle/>
          <a:p>
            <a:pPr algn="ctr"/>
            <a:endParaRPr/>
          </a:p>
        </p:txBody>
      </p:sp>
      <p:sp>
        <p:nvSpPr>
          <p:cNvPr id="69" name="Rectangle 68"/>
          <p:cNvSpPr/>
          <p:nvPr/>
        </p:nvSpPr>
        <p:spPr>
          <a:xfrm>
            <a:off x="411480" y="5184648"/>
            <a:ext cx="7635240" cy="173736"/>
          </a:xfrm>
          <a:prstGeom prst="rect">
            <a:avLst/>
          </a:prstGeom>
          <a:solidFill>
            <a:srgbClr val="3A3335"/>
          </a:solidFill>
          <a:ln>
            <a:noFill/>
          </a:ln>
          <a:effectLst/>
        </p:spPr>
        <p:txBody>
          <a:bodyPr rtlCol="0" anchor="ctr"/>
          <a:lstStyle/>
          <a:p>
            <a:pPr algn="ctr"/>
            <a:endParaRPr/>
          </a:p>
        </p:txBody>
      </p:sp>
      <p:pic>
        <p:nvPicPr>
          <p:cNvPr id="70" name="Picture 69" descr="image27.png"/>
          <p:cNvPicPr>
            <a:picLocks noChangeAspect="1"/>
          </p:cNvPicPr>
          <p:nvPr/>
        </p:nvPicPr>
        <p:blipFill>
          <a:blip r:embed="rId9"/>
          <a:stretch>
            <a:fillRect/>
          </a:stretch>
        </p:blipFill>
        <p:spPr>
          <a:xfrm>
            <a:off x="539496" y="5086921"/>
            <a:ext cx="219456" cy="195453"/>
          </a:xfrm>
          <a:prstGeom prst="rect">
            <a:avLst/>
          </a:prstGeom>
        </p:spPr>
      </p:pic>
      <p:sp>
        <p:nvSpPr>
          <p:cNvPr id="71" name="TextBox 70"/>
          <p:cNvSpPr txBox="1"/>
          <p:nvPr/>
        </p:nvSpPr>
        <p:spPr>
          <a:xfrm>
            <a:off x="868680" y="5010912"/>
            <a:ext cx="7086600" cy="347472"/>
          </a:xfrm>
          <a:prstGeom prst="rect">
            <a:avLst/>
          </a:prstGeom>
          <a:noFill/>
        </p:spPr>
        <p:txBody>
          <a:bodyPr wrap="square" lIns="18288" tIns="0" rIns="18288" bIns="0" anchor="ctr">
            <a:noAutofit/>
          </a:bodyPr>
          <a:lstStyle/>
          <a:p>
            <a:pPr algn="l"/>
            <a:r>
              <a:rPr sz="1050" b="1" i="0">
                <a:solidFill>
                  <a:srgbClr val="FFFFFF"/>
                </a:solidFill>
                <a:latin typeface="Aptos"/>
              </a:rPr>
              <a:t>Data flow</a:t>
            </a:r>
          </a:p>
        </p:txBody>
      </p:sp>
      <p:sp>
        <p:nvSpPr>
          <p:cNvPr id="72" name="TextBox 71"/>
          <p:cNvSpPr txBox="1"/>
          <p:nvPr/>
        </p:nvSpPr>
        <p:spPr>
          <a:xfrm>
            <a:off x="502920" y="5413248"/>
            <a:ext cx="7452360" cy="905255"/>
          </a:xfrm>
          <a:prstGeom prst="rect">
            <a:avLst/>
          </a:prstGeom>
          <a:noFill/>
        </p:spPr>
        <p:txBody>
          <a:bodyPr wrap="square" lIns="54864" tIns="27432" rIns="54864" bIns="27432" anchor="t">
            <a:noAutofit/>
          </a:bodyPr>
          <a:lstStyle/>
          <a:p>
            <a:pPr algn="l">
              <a:spcAft>
                <a:spcPts val="200"/>
              </a:spcAft>
            </a:pPr>
            <a:r>
              <a:rPr sz="850" b="1" i="0">
                <a:solidFill>
                  <a:srgbClr val="3A3335"/>
                </a:solidFill>
                <a:latin typeface="Aptos"/>
              </a:rPr>
              <a:t>Intake: </a:t>
            </a:r>
            <a:r>
              <a:rPr sz="850" b="0" i="0">
                <a:solidFill>
                  <a:srgbClr val="140C12"/>
                </a:solidFill>
                <a:latin typeface="Aptos"/>
              </a:rPr>
              <a:t>the React app calls the FastAPI API with a JWT; raw text, media and location are stored, an acknowledgement email goes out and the job is queued, all in under 1 s.</a:t>
            </a:r>
          </a:p>
          <a:p>
            <a:pPr algn="l">
              <a:spcAft>
                <a:spcPts val="200"/>
              </a:spcAft>
            </a:pPr>
            <a:r>
              <a:rPr sz="850" b="1" i="0">
                <a:solidFill>
                  <a:srgbClr val="3A3335"/>
                </a:solidFill>
                <a:latin typeface="Aptos"/>
              </a:rPr>
              <a:t>Worker: </a:t>
            </a:r>
            <a:r>
              <a:rPr sz="850" b="0" i="0">
                <a:solidFill>
                  <a:srgbClr val="140C12"/>
                </a:solidFill>
                <a:latin typeface="Aptos"/>
              </a:rPr>
              <a:t>language hint → PII mask → offline geocode → Gemma 3 (text + photo, JSON schema) → bge-m3 embedding → pgvector duplicate search → second opinion → rules → decision; writes analysis, decision and status event, then emails the citizen.</a:t>
            </a:r>
          </a:p>
          <a:p>
            <a:pPr algn="l"/>
            <a:r>
              <a:rPr sz="850" b="1" i="0">
                <a:solidFill>
                  <a:srgbClr val="3A3335"/>
                </a:solidFill>
                <a:latin typeface="Aptos"/>
              </a:rPr>
              <a:t>Review: </a:t>
            </a:r>
            <a:r>
              <a:rPr sz="850" b="0" i="0">
                <a:solidFill>
                  <a:srgbClr val="140C12"/>
                </a:solidFill>
                <a:latin typeface="Aptos"/>
              </a:rPr>
              <a:t>the officer accepts, reassigns, merges or asks for info; every action is a status event the citizen can follow on the tracking page.</a:t>
            </a:r>
          </a:p>
        </p:txBody>
      </p:sp>
      <p:sp>
        <p:nvSpPr>
          <p:cNvPr id="73" name="Rounded Rectangle 72"/>
          <p:cNvSpPr/>
          <p:nvPr/>
        </p:nvSpPr>
        <p:spPr>
          <a:xfrm>
            <a:off x="8229600" y="5010912"/>
            <a:ext cx="3520440" cy="1344168"/>
          </a:xfrm>
          <a:prstGeom prst="roundRect">
            <a:avLst>
              <a:gd name="adj" fmla="val 8163"/>
            </a:avLst>
          </a:prstGeom>
          <a:solidFill>
            <a:srgbClr val="FFF4D6"/>
          </a:solidFill>
          <a:ln w="12700">
            <a:solidFill>
              <a:srgbClr val="9B1C24"/>
            </a:solidFill>
          </a:ln>
          <a:effectLst/>
        </p:spPr>
        <p:txBody>
          <a:bodyPr rtlCol="0" anchor="ctr"/>
          <a:lstStyle/>
          <a:p>
            <a:pPr algn="ctr"/>
            <a:endParaRPr/>
          </a:p>
        </p:txBody>
      </p:sp>
      <p:sp>
        <p:nvSpPr>
          <p:cNvPr id="74" name="Rounded Rectangle 73"/>
          <p:cNvSpPr/>
          <p:nvPr/>
        </p:nvSpPr>
        <p:spPr>
          <a:xfrm>
            <a:off x="8229600" y="5010912"/>
            <a:ext cx="3520440" cy="347472"/>
          </a:xfrm>
          <a:prstGeom prst="roundRect">
            <a:avLst>
              <a:gd name="adj" fmla="val 31578"/>
            </a:avLst>
          </a:prstGeom>
          <a:solidFill>
            <a:srgbClr val="9B1C24"/>
          </a:solidFill>
          <a:ln>
            <a:noFill/>
          </a:ln>
          <a:effectLst/>
        </p:spPr>
        <p:txBody>
          <a:bodyPr rtlCol="0" anchor="ctr"/>
          <a:lstStyle/>
          <a:p>
            <a:pPr algn="ctr"/>
            <a:endParaRPr/>
          </a:p>
        </p:txBody>
      </p:sp>
      <p:sp>
        <p:nvSpPr>
          <p:cNvPr id="75" name="Rectangle 74"/>
          <p:cNvSpPr/>
          <p:nvPr/>
        </p:nvSpPr>
        <p:spPr>
          <a:xfrm>
            <a:off x="8229600" y="5184648"/>
            <a:ext cx="3520440" cy="173736"/>
          </a:xfrm>
          <a:prstGeom prst="rect">
            <a:avLst/>
          </a:prstGeom>
          <a:solidFill>
            <a:srgbClr val="9B1C24"/>
          </a:solidFill>
          <a:ln>
            <a:noFill/>
          </a:ln>
          <a:effectLst/>
        </p:spPr>
        <p:txBody>
          <a:bodyPr rtlCol="0" anchor="ctr"/>
          <a:lstStyle/>
          <a:p>
            <a:pPr algn="ctr"/>
            <a:endParaRPr/>
          </a:p>
        </p:txBody>
      </p:sp>
      <p:pic>
        <p:nvPicPr>
          <p:cNvPr id="76" name="Picture 75" descr="image26.png"/>
          <p:cNvPicPr>
            <a:picLocks noChangeAspect="1"/>
          </p:cNvPicPr>
          <p:nvPr/>
        </p:nvPicPr>
        <p:blipFill>
          <a:blip r:embed="rId10"/>
          <a:stretch>
            <a:fillRect/>
          </a:stretch>
        </p:blipFill>
        <p:spPr>
          <a:xfrm>
            <a:off x="8357616" y="5074920"/>
            <a:ext cx="219456" cy="219456"/>
          </a:xfrm>
          <a:prstGeom prst="rect">
            <a:avLst/>
          </a:prstGeom>
        </p:spPr>
      </p:pic>
      <p:sp>
        <p:nvSpPr>
          <p:cNvPr id="77" name="TextBox 76"/>
          <p:cNvSpPr txBox="1"/>
          <p:nvPr/>
        </p:nvSpPr>
        <p:spPr>
          <a:xfrm>
            <a:off x="8686800" y="5010912"/>
            <a:ext cx="2971800" cy="347472"/>
          </a:xfrm>
          <a:prstGeom prst="rect">
            <a:avLst/>
          </a:prstGeom>
          <a:noFill/>
        </p:spPr>
        <p:txBody>
          <a:bodyPr wrap="square" lIns="18288" tIns="0" rIns="18288" bIns="0" anchor="ctr">
            <a:noAutofit/>
          </a:bodyPr>
          <a:lstStyle/>
          <a:p>
            <a:pPr algn="l"/>
            <a:r>
              <a:rPr sz="1050" b="1" i="0">
                <a:solidFill>
                  <a:srgbClr val="FFFFFF"/>
                </a:solidFill>
                <a:latin typeface="Aptos"/>
              </a:rPr>
              <a:t>Failure handling</a:t>
            </a:r>
          </a:p>
        </p:txBody>
      </p:sp>
      <p:sp>
        <p:nvSpPr>
          <p:cNvPr id="78" name="TextBox 77"/>
          <p:cNvSpPr txBox="1"/>
          <p:nvPr/>
        </p:nvSpPr>
        <p:spPr>
          <a:xfrm>
            <a:off x="8321040" y="5413248"/>
            <a:ext cx="3337560" cy="905255"/>
          </a:xfrm>
          <a:prstGeom prst="rect">
            <a:avLst/>
          </a:prstGeom>
          <a:noFill/>
        </p:spPr>
        <p:txBody>
          <a:bodyPr wrap="square" lIns="54864" tIns="27432" rIns="54864" bIns="27432" anchor="t">
            <a:noAutofit/>
          </a:bodyPr>
          <a:lstStyle/>
          <a:p>
            <a:pPr marL="146304" indent="-146304" algn="l">
              <a:spcAft>
                <a:spcPts val="300"/>
              </a:spcAft>
              <a:buFont typeface="Arial"/>
              <a:buChar char="•"/>
            </a:pPr>
            <a:r>
              <a:rPr sz="850" b="1" i="0">
                <a:solidFill>
                  <a:srgbClr val="140C12"/>
                </a:solidFill>
                <a:latin typeface="Aptos"/>
              </a:rPr>
              <a:t>Ollama timeout or error: </a:t>
            </a:r>
            <a:r>
              <a:rPr sz="850" b="0" i="0">
                <a:solidFill>
                  <a:srgbClr val="140C12"/>
                </a:solidFill>
                <a:latin typeface="Aptos"/>
              </a:rPr>
              <a:t>complaint goes to the review queue as 'awaiting analysis'</a:t>
            </a:r>
          </a:p>
          <a:p>
            <a:pPr marL="146304" indent="-146304" algn="l">
              <a:spcAft>
                <a:spcPts val="300"/>
              </a:spcAft>
              <a:buFont typeface="Arial"/>
              <a:buChar char="•"/>
            </a:pPr>
            <a:r>
              <a:rPr sz="850" b="1" i="0">
                <a:solidFill>
                  <a:srgbClr val="140C12"/>
                </a:solidFill>
                <a:latin typeface="Aptos"/>
              </a:rPr>
              <a:t>Email: </a:t>
            </a:r>
            <a:r>
              <a:rPr sz="850" b="0" i="0">
                <a:solidFill>
                  <a:srgbClr val="140C12"/>
                </a:solidFill>
                <a:latin typeface="Aptos"/>
              </a:rPr>
              <a:t>outbox thread, retries, never blocks a request; overdue cases escalate to the district admin</a:t>
            </a:r>
          </a:p>
          <a:p>
            <a:pPr marL="146304" indent="-146304" algn="l">
              <a:spcAft>
                <a:spcPts val="300"/>
              </a:spcAft>
              <a:buFont typeface="Arial"/>
              <a:buChar char="•"/>
            </a:pPr>
            <a:r>
              <a:rPr sz="850" b="1" i="0">
                <a:solidFill>
                  <a:srgbClr val="140C12"/>
                </a:solidFill>
                <a:latin typeface="Aptos"/>
              </a:rPr>
              <a:t>Full diagrams: </a:t>
            </a:r>
            <a:r>
              <a:rPr sz="850" b="0" i="0">
                <a:solidFill>
                  <a:srgbClr val="140C12"/>
                </a:solidFill>
                <a:latin typeface="Aptos"/>
              </a:rPr>
              <a:t>docs/03-system-architecture.md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4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E0262D"/>
          </a:solidFill>
          <a:ln>
            <a:solidFill>
              <a:srgbClr val="E0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56032"/>
            <a:ext cx="8046720" cy="274320"/>
          </a:xfrm>
          <a:prstGeom prst="rect">
            <a:avLst/>
          </a:prstGeom>
          <a:noFill/>
        </p:spPr>
        <p:txBody>
          <a:bodyPr wrap="none" lIns="54864" tIns="54864" rIns="54864" bIns="54864" anchor="t">
            <a:spAutoFit/>
          </a:bodyPr>
          <a:lstStyle/>
          <a:p>
            <a:pPr algn="l">
              <a:defRPr sz="1000" b="1" i="0">
                <a:solidFill>
                  <a:srgbClr val="E0262D"/>
                </a:solidFill>
                <a:latin typeface="Aptos"/>
              </a:defRPr>
            </a:pPr>
            <a:r>
              <a:t>SYNAPSE '26  |  24-HOUR HACKATHON</a:t>
            </a:r>
          </a:p>
        </p:txBody>
      </p:sp>
      <p:sp>
        <p:nvSpPr>
          <p:cNvPr id="4" name="TextBox 3"/>
          <p:cNvSpPr txBox="1"/>
          <p:nvPr/>
        </p:nvSpPr>
        <p:spPr>
          <a:xfrm>
            <a:off x="411480" y="594360"/>
            <a:ext cx="11155680" cy="502920"/>
          </a:xfrm>
          <a:prstGeom prst="rect">
            <a:avLst/>
          </a:prstGeom>
          <a:noFill/>
        </p:spPr>
        <p:txBody>
          <a:bodyPr wrap="none" lIns="54864" tIns="54864" rIns="54864" bIns="54864" anchor="t">
            <a:spAutoFit/>
          </a:bodyPr>
          <a:lstStyle/>
          <a:p>
            <a:pPr algn="l">
              <a:defRPr sz="2500" b="1" i="0">
                <a:solidFill>
                  <a:srgbClr val="140C12"/>
                </a:solidFill>
                <a:latin typeface="Aptos"/>
              </a:defRPr>
            </a:pPr>
            <a:r>
              <a:t>TECHNOLOGY STACK</a:t>
            </a:r>
          </a:p>
        </p:txBody>
      </p:sp>
      <p:sp>
        <p:nvSpPr>
          <p:cNvPr id="6" name="TextBox 5"/>
          <p:cNvSpPr txBox="1"/>
          <p:nvPr/>
        </p:nvSpPr>
        <p:spPr>
          <a:xfrm>
            <a:off x="7589520" y="6510528"/>
            <a:ext cx="4160520" cy="182880"/>
          </a:xfrm>
          <a:prstGeom prst="rect">
            <a:avLst/>
          </a:prstGeom>
          <a:noFill/>
        </p:spPr>
        <p:txBody>
          <a:bodyPr wrap="none" lIns="54864" tIns="54864" rIns="54864" bIns="54864" anchor="t">
            <a:spAutoFit/>
          </a:bodyPr>
          <a:lstStyle/>
          <a:p>
            <a:pPr algn="r">
              <a:defRPr sz="800" b="0" i="0">
                <a:solidFill>
                  <a:srgbClr val="5A5555"/>
                </a:solidFill>
                <a:latin typeface="Aptos"/>
              </a:defRPr>
            </a:pPr>
            <a:r>
              <a:t>V.S.B. Engineering College  •  09</a:t>
            </a:r>
          </a:p>
        </p:txBody>
      </p:sp>
      <p:sp>
        <p:nvSpPr>
          <p:cNvPr id="7" name="Rounded Rectangle 6"/>
          <p:cNvSpPr/>
          <p:nvPr/>
        </p:nvSpPr>
        <p:spPr>
          <a:xfrm>
            <a:off x="411480" y="1371600"/>
            <a:ext cx="3657600" cy="1920240"/>
          </a:xfrm>
          <a:prstGeom prst="roundRect">
            <a:avLst>
              <a:gd name="adj" fmla="val 5714"/>
            </a:avLst>
          </a:prstGeom>
          <a:solidFill>
            <a:srgbClr val="FBE9E9"/>
          </a:solidFill>
          <a:ln w="12700">
            <a:solidFill>
              <a:srgbClr val="9B1C24"/>
            </a:solidFill>
          </a:ln>
          <a:effectLst/>
        </p:spPr>
        <p:txBody>
          <a:bodyPr rtlCol="0" anchor="ctr"/>
          <a:lstStyle/>
          <a:p>
            <a:pPr algn="ctr"/>
            <a:endParaRPr/>
          </a:p>
        </p:txBody>
      </p:sp>
      <p:sp>
        <p:nvSpPr>
          <p:cNvPr id="8" name="Rounded Rectangle 7"/>
          <p:cNvSpPr/>
          <p:nvPr/>
        </p:nvSpPr>
        <p:spPr>
          <a:xfrm>
            <a:off x="411480" y="1371600"/>
            <a:ext cx="3657600" cy="347472"/>
          </a:xfrm>
          <a:prstGeom prst="roundRect">
            <a:avLst>
              <a:gd name="adj" fmla="val 31578"/>
            </a:avLst>
          </a:prstGeom>
          <a:solidFill>
            <a:schemeClr val="accent2">
              <a:lumMod val="75000"/>
            </a:schemeClr>
          </a:solidFill>
          <a:ln>
            <a:noFill/>
          </a:ln>
          <a:effectLst/>
        </p:spPr>
        <p:txBody>
          <a:bodyPr rtlCol="0" anchor="ctr"/>
          <a:lstStyle/>
          <a:p>
            <a:pPr algn="ctr"/>
            <a:endParaRPr/>
          </a:p>
        </p:txBody>
      </p:sp>
      <p:sp>
        <p:nvSpPr>
          <p:cNvPr id="9" name="Rectangle 8"/>
          <p:cNvSpPr/>
          <p:nvPr/>
        </p:nvSpPr>
        <p:spPr>
          <a:xfrm>
            <a:off x="411480" y="1545336"/>
            <a:ext cx="3657600" cy="173736"/>
          </a:xfrm>
          <a:prstGeom prst="rect">
            <a:avLst/>
          </a:prstGeom>
          <a:solidFill>
            <a:schemeClr val="accent2">
              <a:lumMod val="75000"/>
            </a:schemeClr>
          </a:solidFill>
          <a:ln>
            <a:noFill/>
          </a:ln>
          <a:effectLst/>
        </p:spPr>
        <p:txBody>
          <a:bodyPr rtlCol="0" anchor="ctr"/>
          <a:lstStyle/>
          <a:p>
            <a:pPr algn="ctr"/>
            <a:endParaRPr/>
          </a:p>
        </p:txBody>
      </p:sp>
      <p:pic>
        <p:nvPicPr>
          <p:cNvPr id="10" name="Picture 9" descr="image14_E0262D.png"/>
          <p:cNvPicPr>
            <a:picLocks noChangeAspect="1"/>
          </p:cNvPicPr>
          <p:nvPr/>
        </p:nvPicPr>
        <p:blipFill>
          <a:blip r:embed="rId3"/>
          <a:stretch>
            <a:fillRect/>
          </a:stretch>
        </p:blipFill>
        <p:spPr>
          <a:xfrm>
            <a:off x="539496" y="1447609"/>
            <a:ext cx="219456" cy="195453"/>
          </a:xfrm>
          <a:prstGeom prst="rect">
            <a:avLst/>
          </a:prstGeom>
        </p:spPr>
      </p:pic>
      <p:sp>
        <p:nvSpPr>
          <p:cNvPr id="11" name="TextBox 10"/>
          <p:cNvSpPr txBox="1"/>
          <p:nvPr/>
        </p:nvSpPr>
        <p:spPr>
          <a:xfrm>
            <a:off x="868680" y="1371600"/>
            <a:ext cx="3108960" cy="347472"/>
          </a:xfrm>
          <a:prstGeom prst="rect">
            <a:avLst/>
          </a:prstGeom>
          <a:solidFill>
            <a:schemeClr val="accent2">
              <a:lumMod val="75000"/>
            </a:schemeClr>
          </a:solidFill>
        </p:spPr>
        <p:txBody>
          <a:bodyPr wrap="square" lIns="18288" tIns="0" rIns="18288" bIns="0" anchor="ctr">
            <a:noAutofit/>
          </a:bodyPr>
          <a:lstStyle/>
          <a:p>
            <a:pPr algn="l"/>
            <a:r>
              <a:rPr sz="1050" b="1" i="0">
                <a:solidFill>
                  <a:srgbClr val="FFFFFF"/>
                </a:solidFill>
                <a:latin typeface="Aptos"/>
              </a:rPr>
              <a:t>Frontend</a:t>
            </a:r>
          </a:p>
        </p:txBody>
      </p:sp>
      <p:sp>
        <p:nvSpPr>
          <p:cNvPr id="12" name="TextBox 11"/>
          <p:cNvSpPr txBox="1"/>
          <p:nvPr/>
        </p:nvSpPr>
        <p:spPr>
          <a:xfrm>
            <a:off x="521208" y="1773936"/>
            <a:ext cx="3438144" cy="1481328"/>
          </a:xfrm>
          <a:prstGeom prst="rect">
            <a:avLst/>
          </a:prstGeom>
          <a:noFill/>
        </p:spPr>
        <p:txBody>
          <a:bodyPr wrap="square" lIns="54864" tIns="27432" rIns="54864" bIns="27432" anchor="t">
            <a:noAutofit/>
          </a:bodyPr>
          <a:lstStyle/>
          <a:p>
            <a:pPr marL="146304" indent="-146304" algn="l">
              <a:spcAft>
                <a:spcPts val="300"/>
              </a:spcAft>
              <a:buFont typeface="Arial"/>
              <a:buChar char="•"/>
            </a:pPr>
            <a:r>
              <a:rPr sz="950" b="1" i="0">
                <a:solidFill>
                  <a:srgbClr val="9B1C24"/>
                </a:solidFill>
                <a:latin typeface="Aptos"/>
              </a:rPr>
              <a:t>React 18 + Vite, TypeScript, Tailwind v4, shadcn/ui, lucide icons; </a:t>
            </a:r>
            <a:r>
              <a:rPr sz="950" b="0" i="0">
                <a:solidFill>
                  <a:srgbClr val="140C12"/>
                </a:solidFill>
                <a:latin typeface="Aptos"/>
              </a:rPr>
              <a:t>react-hook-form + zod, i18next (en / ta / hi), react-leaflet</a:t>
            </a:r>
          </a:p>
          <a:p>
            <a:pPr marL="146304" indent="-146304" algn="l">
              <a:spcAft>
                <a:spcPts val="300"/>
              </a:spcAft>
              <a:buFont typeface="Arial"/>
              <a:buChar char="•"/>
            </a:pPr>
            <a:r>
              <a:rPr sz="950" b="1" i="0">
                <a:solidFill>
                  <a:srgbClr val="9B1C24"/>
                </a:solidFill>
                <a:latin typeface="Aptos"/>
              </a:rPr>
              <a:t>Camera and GPS </a:t>
            </a:r>
            <a:r>
              <a:rPr sz="950" b="0" i="0">
                <a:solidFill>
                  <a:srgbClr val="140C12"/>
                </a:solidFill>
                <a:latin typeface="Aptos"/>
              </a:rPr>
              <a:t>through browser APIs; phone-first layouts</a:t>
            </a:r>
          </a:p>
          <a:p>
            <a:pPr marL="146304" indent="-146304" algn="l">
              <a:spcAft>
                <a:spcPts val="300"/>
              </a:spcAft>
              <a:buFont typeface="Arial"/>
              <a:buChar char="•"/>
            </a:pPr>
            <a:r>
              <a:rPr sz="950" b="1" i="0">
                <a:solidFill>
                  <a:srgbClr val="9B1C24"/>
                </a:solidFill>
                <a:latin typeface="Aptos"/>
              </a:rPr>
              <a:t>Why: </a:t>
            </a:r>
            <a:r>
              <a:rPr sz="950" b="0" i="0">
                <a:solidFill>
                  <a:srgbClr val="140C12"/>
                </a:solidFill>
                <a:latin typeface="Aptos"/>
              </a:rPr>
              <a:t>accessible, consistent components out of the box; one codebase for citizens, officers and admins</a:t>
            </a:r>
          </a:p>
        </p:txBody>
      </p:sp>
      <p:sp>
        <p:nvSpPr>
          <p:cNvPr id="13" name="Rounded Rectangle 12"/>
          <p:cNvSpPr/>
          <p:nvPr/>
        </p:nvSpPr>
        <p:spPr>
          <a:xfrm>
            <a:off x="4251960" y="1371600"/>
            <a:ext cx="3657600" cy="1920240"/>
          </a:xfrm>
          <a:prstGeom prst="roundRect">
            <a:avLst>
              <a:gd name="adj" fmla="val 5714"/>
            </a:avLst>
          </a:prstGeom>
          <a:solidFill>
            <a:srgbClr val="F3EDE3"/>
          </a:solidFill>
          <a:ln w="12700">
            <a:solidFill>
              <a:srgbClr val="3A3335"/>
            </a:solidFill>
          </a:ln>
          <a:effectLst/>
        </p:spPr>
        <p:txBody>
          <a:bodyPr rtlCol="0" anchor="ctr"/>
          <a:lstStyle/>
          <a:p>
            <a:pPr algn="ctr"/>
            <a:endParaRPr/>
          </a:p>
        </p:txBody>
      </p:sp>
      <p:sp>
        <p:nvSpPr>
          <p:cNvPr id="14" name="Rounded Rectangle 13"/>
          <p:cNvSpPr/>
          <p:nvPr/>
        </p:nvSpPr>
        <p:spPr>
          <a:xfrm>
            <a:off x="4251960" y="1371600"/>
            <a:ext cx="3657600" cy="347472"/>
          </a:xfrm>
          <a:prstGeom prst="roundRect">
            <a:avLst>
              <a:gd name="adj" fmla="val 31578"/>
            </a:avLst>
          </a:prstGeom>
          <a:solidFill>
            <a:schemeClr val="tx1"/>
          </a:solidFill>
          <a:ln>
            <a:noFill/>
          </a:ln>
          <a:effectLst/>
        </p:spPr>
        <p:txBody>
          <a:bodyPr rtlCol="0" anchor="ctr"/>
          <a:lstStyle/>
          <a:p>
            <a:pPr algn="ctr"/>
            <a:endParaRPr/>
          </a:p>
        </p:txBody>
      </p:sp>
      <p:sp>
        <p:nvSpPr>
          <p:cNvPr id="15" name="Rectangle 14"/>
          <p:cNvSpPr/>
          <p:nvPr/>
        </p:nvSpPr>
        <p:spPr>
          <a:xfrm>
            <a:off x="4251960" y="1545336"/>
            <a:ext cx="3657600" cy="173736"/>
          </a:xfrm>
          <a:prstGeom prst="rect">
            <a:avLst/>
          </a:prstGeom>
          <a:solidFill>
            <a:schemeClr val="tx1"/>
          </a:solidFill>
          <a:ln>
            <a:noFill/>
          </a:ln>
          <a:effectLst/>
        </p:spPr>
        <p:txBody>
          <a:bodyPr rtlCol="0" anchor="ctr"/>
          <a:lstStyle/>
          <a:p>
            <a:pPr algn="ctr"/>
            <a:endParaRPr/>
          </a:p>
        </p:txBody>
      </p:sp>
      <p:pic>
        <p:nvPicPr>
          <p:cNvPr id="16" name="Picture 15" descr="image15_5A5555.png"/>
          <p:cNvPicPr>
            <a:picLocks noChangeAspect="1"/>
          </p:cNvPicPr>
          <p:nvPr/>
        </p:nvPicPr>
        <p:blipFill>
          <a:blip r:embed="rId4"/>
          <a:stretch>
            <a:fillRect/>
          </a:stretch>
        </p:blipFill>
        <p:spPr>
          <a:xfrm>
            <a:off x="4379976" y="1457467"/>
            <a:ext cx="219456" cy="175736"/>
          </a:xfrm>
          <a:prstGeom prst="rect">
            <a:avLst/>
          </a:prstGeom>
        </p:spPr>
      </p:pic>
      <p:sp>
        <p:nvSpPr>
          <p:cNvPr id="17" name="TextBox 16"/>
          <p:cNvSpPr txBox="1"/>
          <p:nvPr/>
        </p:nvSpPr>
        <p:spPr>
          <a:xfrm>
            <a:off x="4709160" y="1371600"/>
            <a:ext cx="3108960" cy="347472"/>
          </a:xfrm>
          <a:prstGeom prst="rect">
            <a:avLst/>
          </a:prstGeom>
          <a:solidFill>
            <a:schemeClr val="tx1"/>
          </a:solidFill>
        </p:spPr>
        <p:txBody>
          <a:bodyPr wrap="square" lIns="18288" tIns="0" rIns="18288" bIns="0" anchor="ctr">
            <a:noAutofit/>
          </a:bodyPr>
          <a:lstStyle/>
          <a:p>
            <a:pPr algn="l"/>
            <a:r>
              <a:rPr sz="1050" b="1" i="0">
                <a:solidFill>
                  <a:srgbClr val="FFFFFF"/>
                </a:solidFill>
                <a:latin typeface="Aptos"/>
              </a:rPr>
              <a:t>Backend / APIs</a:t>
            </a:r>
          </a:p>
        </p:txBody>
      </p:sp>
      <p:sp>
        <p:nvSpPr>
          <p:cNvPr id="18" name="TextBox 17"/>
          <p:cNvSpPr txBox="1"/>
          <p:nvPr/>
        </p:nvSpPr>
        <p:spPr>
          <a:xfrm>
            <a:off x="4361688" y="1773936"/>
            <a:ext cx="3438144" cy="1481328"/>
          </a:xfrm>
          <a:prstGeom prst="rect">
            <a:avLst/>
          </a:prstGeom>
          <a:noFill/>
        </p:spPr>
        <p:txBody>
          <a:bodyPr wrap="square" lIns="54864" tIns="27432" rIns="54864" bIns="27432" anchor="t">
            <a:noAutofit/>
          </a:bodyPr>
          <a:lstStyle/>
          <a:p>
            <a:pPr marL="146304" indent="-146304" algn="l">
              <a:spcAft>
                <a:spcPts val="300"/>
              </a:spcAft>
              <a:buFont typeface="Arial"/>
              <a:buChar char="•"/>
            </a:pPr>
            <a:r>
              <a:rPr sz="950" b="1" i="0">
                <a:solidFill>
                  <a:srgbClr val="3A3335"/>
                </a:solidFill>
                <a:latin typeface="Aptos"/>
              </a:rPr>
              <a:t>Python 3.12, FastAPI + Uvicorn, SQLAlchemy 2; </a:t>
            </a:r>
            <a:r>
              <a:rPr sz="950" b="0" i="0">
                <a:solidFill>
                  <a:srgbClr val="140C12"/>
                </a:solidFill>
                <a:latin typeface="Aptos"/>
              </a:rPr>
              <a:t>30 routes with OpenAPI docs at /docs</a:t>
            </a:r>
          </a:p>
          <a:p>
            <a:pPr marL="146304" indent="-146304" algn="l">
              <a:spcAft>
                <a:spcPts val="300"/>
              </a:spcAft>
              <a:buFont typeface="Arial"/>
              <a:buChar char="•"/>
            </a:pPr>
            <a:r>
              <a:rPr sz="950" b="1" i="0">
                <a:solidFill>
                  <a:srgbClr val="3A3335"/>
                </a:solidFill>
                <a:latin typeface="Aptos"/>
              </a:rPr>
              <a:t>In-process worker thread </a:t>
            </a:r>
            <a:r>
              <a:rPr sz="950" b="0" i="0">
                <a:solidFill>
                  <a:srgbClr val="140C12"/>
                </a:solidFill>
                <a:latin typeface="Aptos"/>
              </a:rPr>
              <a:t>runs the analysis pipeline asynchronously</a:t>
            </a:r>
          </a:p>
          <a:p>
            <a:pPr marL="146304" indent="-146304" algn="l">
              <a:spcAft>
                <a:spcPts val="300"/>
              </a:spcAft>
              <a:buFont typeface="Arial"/>
              <a:buChar char="•"/>
            </a:pPr>
            <a:r>
              <a:rPr sz="950" b="1" i="0">
                <a:solidFill>
                  <a:srgbClr val="3A3335"/>
                </a:solidFill>
                <a:latin typeface="Aptos"/>
              </a:rPr>
              <a:t>Why: </a:t>
            </a:r>
            <a:r>
              <a:rPr sz="950" b="0" i="0">
                <a:solidFill>
                  <a:srgbClr val="140C12"/>
                </a:solidFill>
                <a:latin typeface="Aptos"/>
              </a:rPr>
              <a:t>same language as the AI pipeline; typed schemas; argon2 + JWT + email OTP built in</a:t>
            </a:r>
          </a:p>
        </p:txBody>
      </p:sp>
      <p:sp>
        <p:nvSpPr>
          <p:cNvPr id="19" name="Rounded Rectangle 18"/>
          <p:cNvSpPr/>
          <p:nvPr/>
        </p:nvSpPr>
        <p:spPr>
          <a:xfrm>
            <a:off x="8092440" y="1371600"/>
            <a:ext cx="3657600" cy="1920240"/>
          </a:xfrm>
          <a:prstGeom prst="roundRect">
            <a:avLst>
              <a:gd name="adj" fmla="val 5714"/>
            </a:avLst>
          </a:prstGeom>
          <a:solidFill>
            <a:srgbClr val="FFF4D6"/>
          </a:solidFill>
          <a:ln w="12700">
            <a:solidFill>
              <a:srgbClr val="B7791F"/>
            </a:solidFill>
          </a:ln>
          <a:effectLst/>
        </p:spPr>
        <p:txBody>
          <a:bodyPr rtlCol="0" anchor="ctr"/>
          <a:lstStyle/>
          <a:p>
            <a:pPr algn="ctr"/>
            <a:endParaRPr/>
          </a:p>
        </p:txBody>
      </p:sp>
      <p:sp>
        <p:nvSpPr>
          <p:cNvPr id="20" name="Rounded Rectangle 19"/>
          <p:cNvSpPr/>
          <p:nvPr/>
        </p:nvSpPr>
        <p:spPr>
          <a:xfrm>
            <a:off x="8092440" y="1371600"/>
            <a:ext cx="3657600" cy="347472"/>
          </a:xfrm>
          <a:prstGeom prst="roundRect">
            <a:avLst>
              <a:gd name="adj" fmla="val 31578"/>
            </a:avLst>
          </a:prstGeom>
          <a:solidFill>
            <a:schemeClr val="accent6">
              <a:lumMod val="60000"/>
              <a:lumOff val="40000"/>
            </a:schemeClr>
          </a:solidFill>
          <a:ln>
            <a:noFill/>
          </a:ln>
          <a:effectLst/>
        </p:spPr>
        <p:txBody>
          <a:bodyPr rtlCol="0" anchor="ctr"/>
          <a:lstStyle/>
          <a:p>
            <a:pPr algn="ctr"/>
            <a:endParaRPr/>
          </a:p>
        </p:txBody>
      </p:sp>
      <p:sp>
        <p:nvSpPr>
          <p:cNvPr id="21" name="Rectangle 20"/>
          <p:cNvSpPr/>
          <p:nvPr/>
        </p:nvSpPr>
        <p:spPr>
          <a:xfrm>
            <a:off x="8092440" y="1545336"/>
            <a:ext cx="3657600" cy="173736"/>
          </a:xfrm>
          <a:prstGeom prst="rect">
            <a:avLst/>
          </a:prstGeom>
          <a:solidFill>
            <a:schemeClr val="accent6">
              <a:lumMod val="60000"/>
              <a:lumOff val="40000"/>
            </a:schemeClr>
          </a:solidFill>
          <a:ln>
            <a:noFill/>
          </a:ln>
          <a:effectLst/>
        </p:spPr>
        <p:txBody>
          <a:bodyPr rtlCol="0" anchor="ctr"/>
          <a:lstStyle/>
          <a:p>
            <a:pPr algn="ctr"/>
            <a:endParaRPr/>
          </a:p>
        </p:txBody>
      </p:sp>
      <p:pic>
        <p:nvPicPr>
          <p:cNvPr id="22" name="Picture 21" descr="image16_7A5C2E.png"/>
          <p:cNvPicPr>
            <a:picLocks noChangeAspect="1"/>
          </p:cNvPicPr>
          <p:nvPr/>
        </p:nvPicPr>
        <p:blipFill>
          <a:blip r:embed="rId5"/>
          <a:stretch>
            <a:fillRect/>
          </a:stretch>
        </p:blipFill>
        <p:spPr>
          <a:xfrm>
            <a:off x="8234172" y="1435608"/>
            <a:ext cx="192024" cy="219456"/>
          </a:xfrm>
          <a:prstGeom prst="rect">
            <a:avLst/>
          </a:prstGeom>
        </p:spPr>
      </p:pic>
      <p:sp>
        <p:nvSpPr>
          <p:cNvPr id="23" name="TextBox 22"/>
          <p:cNvSpPr txBox="1"/>
          <p:nvPr/>
        </p:nvSpPr>
        <p:spPr>
          <a:xfrm>
            <a:off x="8549640" y="1371600"/>
            <a:ext cx="3108960" cy="347472"/>
          </a:xfrm>
          <a:prstGeom prst="rect">
            <a:avLst/>
          </a:prstGeom>
          <a:solidFill>
            <a:schemeClr val="accent6">
              <a:lumMod val="60000"/>
              <a:lumOff val="40000"/>
            </a:schemeClr>
          </a:solidFill>
        </p:spPr>
        <p:txBody>
          <a:bodyPr wrap="square" lIns="18288" tIns="0" rIns="18288" bIns="0" anchor="ctr">
            <a:noAutofit/>
          </a:bodyPr>
          <a:lstStyle/>
          <a:p>
            <a:pPr algn="l"/>
            <a:r>
              <a:rPr sz="1050" b="1" i="0">
                <a:solidFill>
                  <a:srgbClr val="FFFFFF"/>
                </a:solidFill>
                <a:latin typeface="Aptos"/>
              </a:rPr>
              <a:t>Database / storage</a:t>
            </a:r>
          </a:p>
        </p:txBody>
      </p:sp>
      <p:sp>
        <p:nvSpPr>
          <p:cNvPr id="24" name="TextBox 23"/>
          <p:cNvSpPr txBox="1"/>
          <p:nvPr/>
        </p:nvSpPr>
        <p:spPr>
          <a:xfrm>
            <a:off x="8202167" y="1773936"/>
            <a:ext cx="3438144" cy="1481328"/>
          </a:xfrm>
          <a:prstGeom prst="rect">
            <a:avLst/>
          </a:prstGeom>
          <a:noFill/>
        </p:spPr>
        <p:txBody>
          <a:bodyPr wrap="square" lIns="54864" tIns="27432" rIns="54864" bIns="27432" anchor="t">
            <a:noAutofit/>
          </a:bodyPr>
          <a:lstStyle/>
          <a:p>
            <a:pPr marL="146304" indent="-146304" algn="l">
              <a:spcAft>
                <a:spcPts val="300"/>
              </a:spcAft>
              <a:buFont typeface="Arial"/>
              <a:buChar char="•"/>
            </a:pPr>
            <a:r>
              <a:rPr sz="950" b="1" i="0">
                <a:solidFill>
                  <a:srgbClr val="B7791F"/>
                </a:solidFill>
                <a:latin typeface="Aptos"/>
              </a:rPr>
              <a:t>PostgreSQL 17 + pgvector </a:t>
            </a:r>
            <a:r>
              <a:rPr sz="950" b="0" i="0">
                <a:solidFill>
                  <a:srgbClr val="140C12"/>
                </a:solidFill>
                <a:latin typeface="Aptos"/>
              </a:rPr>
              <a:t>in Docker Compose: complaints, analyses (JSONB), decisions, status events</a:t>
            </a:r>
          </a:p>
          <a:p>
            <a:pPr marL="146304" indent="-146304" algn="l">
              <a:spcAft>
                <a:spcPts val="300"/>
              </a:spcAft>
              <a:buFont typeface="Arial"/>
              <a:buChar char="•"/>
            </a:pPr>
            <a:r>
              <a:rPr sz="950" b="1" i="0">
                <a:solidFill>
                  <a:srgbClr val="B7791F"/>
                </a:solidFill>
                <a:latin typeface="Aptos"/>
              </a:rPr>
              <a:t>HNSW cosine index </a:t>
            </a:r>
            <a:r>
              <a:rPr sz="950" b="0" i="0">
                <a:solidFill>
                  <a:srgbClr val="140C12"/>
                </a:solidFill>
                <a:latin typeface="Aptos"/>
              </a:rPr>
              <a:t>for duplicate search; media on disk; YAML / JSON config hot-reloaded</a:t>
            </a:r>
          </a:p>
          <a:p>
            <a:pPr marL="146304" indent="-146304" algn="l">
              <a:spcAft>
                <a:spcPts val="300"/>
              </a:spcAft>
              <a:buFont typeface="Arial"/>
              <a:buChar char="•"/>
            </a:pPr>
            <a:r>
              <a:rPr sz="950" b="1" i="0">
                <a:solidFill>
                  <a:srgbClr val="B7791F"/>
                </a:solidFill>
                <a:latin typeface="Aptos"/>
              </a:rPr>
              <a:t>Why: </a:t>
            </a:r>
            <a:r>
              <a:rPr sz="950" b="0" i="0">
                <a:solidFill>
                  <a:srgbClr val="140C12"/>
                </a:solidFill>
                <a:latin typeface="Aptos"/>
              </a:rPr>
              <a:t>integrity, vectors and the audit trail in one place, no second datastore</a:t>
            </a:r>
          </a:p>
        </p:txBody>
      </p:sp>
      <p:sp>
        <p:nvSpPr>
          <p:cNvPr id="25" name="Rounded Rectangle 24"/>
          <p:cNvSpPr/>
          <p:nvPr/>
        </p:nvSpPr>
        <p:spPr>
          <a:xfrm>
            <a:off x="411480" y="3401568"/>
            <a:ext cx="3657600" cy="1920240"/>
          </a:xfrm>
          <a:prstGeom prst="roundRect">
            <a:avLst>
              <a:gd name="adj" fmla="val 5714"/>
            </a:avLst>
          </a:prstGeom>
          <a:solidFill>
            <a:srgbClr val="FBE9E9"/>
          </a:solidFill>
          <a:ln w="12700">
            <a:solidFill>
              <a:srgbClr val="9B1C24"/>
            </a:solidFill>
          </a:ln>
          <a:effectLst/>
        </p:spPr>
        <p:txBody>
          <a:bodyPr rtlCol="0" anchor="ctr"/>
          <a:lstStyle/>
          <a:p>
            <a:pPr algn="ctr"/>
            <a:endParaRPr/>
          </a:p>
        </p:txBody>
      </p:sp>
      <p:sp>
        <p:nvSpPr>
          <p:cNvPr id="26" name="Rounded Rectangle 25"/>
          <p:cNvSpPr/>
          <p:nvPr/>
        </p:nvSpPr>
        <p:spPr>
          <a:xfrm>
            <a:off x="411480" y="3401568"/>
            <a:ext cx="3657600" cy="347472"/>
          </a:xfrm>
          <a:prstGeom prst="roundRect">
            <a:avLst>
              <a:gd name="adj" fmla="val 31578"/>
            </a:avLst>
          </a:prstGeom>
          <a:solidFill>
            <a:srgbClr val="9B1C24"/>
          </a:solidFill>
          <a:ln>
            <a:noFill/>
          </a:ln>
          <a:effectLst/>
        </p:spPr>
        <p:txBody>
          <a:bodyPr rtlCol="0" anchor="ctr"/>
          <a:lstStyle/>
          <a:p>
            <a:pPr algn="ctr"/>
            <a:endParaRPr/>
          </a:p>
        </p:txBody>
      </p:sp>
      <p:sp>
        <p:nvSpPr>
          <p:cNvPr id="27" name="Rectangle 26"/>
          <p:cNvSpPr/>
          <p:nvPr/>
        </p:nvSpPr>
        <p:spPr>
          <a:xfrm>
            <a:off x="411480" y="3575304"/>
            <a:ext cx="3657600" cy="173736"/>
          </a:xfrm>
          <a:prstGeom prst="rect">
            <a:avLst/>
          </a:prstGeom>
          <a:solidFill>
            <a:srgbClr val="9B1C24"/>
          </a:solidFill>
          <a:ln>
            <a:noFill/>
          </a:ln>
          <a:effectLst/>
        </p:spPr>
        <p:txBody>
          <a:bodyPr rtlCol="0" anchor="ctr"/>
          <a:lstStyle/>
          <a:p>
            <a:pPr algn="ctr"/>
            <a:endParaRPr/>
          </a:p>
        </p:txBody>
      </p:sp>
      <p:pic>
        <p:nvPicPr>
          <p:cNvPr id="28" name="Picture 27" descr="image26.png"/>
          <p:cNvPicPr>
            <a:picLocks noChangeAspect="1"/>
          </p:cNvPicPr>
          <p:nvPr/>
        </p:nvPicPr>
        <p:blipFill>
          <a:blip r:embed="rId6"/>
          <a:stretch>
            <a:fillRect/>
          </a:stretch>
        </p:blipFill>
        <p:spPr>
          <a:xfrm>
            <a:off x="539496" y="3465576"/>
            <a:ext cx="219456" cy="219456"/>
          </a:xfrm>
          <a:prstGeom prst="rect">
            <a:avLst/>
          </a:prstGeom>
        </p:spPr>
      </p:pic>
      <p:sp>
        <p:nvSpPr>
          <p:cNvPr id="29" name="TextBox 28"/>
          <p:cNvSpPr txBox="1"/>
          <p:nvPr/>
        </p:nvSpPr>
        <p:spPr>
          <a:xfrm>
            <a:off x="868680" y="3401568"/>
            <a:ext cx="3108960" cy="347472"/>
          </a:xfrm>
          <a:prstGeom prst="rect">
            <a:avLst/>
          </a:prstGeom>
          <a:noFill/>
        </p:spPr>
        <p:txBody>
          <a:bodyPr wrap="square" lIns="18288" tIns="0" rIns="18288" bIns="0" anchor="ctr">
            <a:noAutofit/>
          </a:bodyPr>
          <a:lstStyle/>
          <a:p>
            <a:pPr algn="l"/>
            <a:r>
              <a:rPr sz="1050" b="1" i="0">
                <a:solidFill>
                  <a:srgbClr val="FFFFFF"/>
                </a:solidFill>
                <a:latin typeface="Aptos"/>
              </a:rPr>
              <a:t>AI / ML / algorithms</a:t>
            </a:r>
          </a:p>
        </p:txBody>
      </p:sp>
      <p:sp>
        <p:nvSpPr>
          <p:cNvPr id="30" name="TextBox 29"/>
          <p:cNvSpPr txBox="1"/>
          <p:nvPr/>
        </p:nvSpPr>
        <p:spPr>
          <a:xfrm>
            <a:off x="521208" y="3803904"/>
            <a:ext cx="3438144" cy="1481328"/>
          </a:xfrm>
          <a:prstGeom prst="rect">
            <a:avLst/>
          </a:prstGeom>
          <a:noFill/>
        </p:spPr>
        <p:txBody>
          <a:bodyPr wrap="square" lIns="54864" tIns="27432" rIns="54864" bIns="27432" anchor="t">
            <a:noAutofit/>
          </a:bodyPr>
          <a:lstStyle/>
          <a:p>
            <a:pPr marL="146304" indent="-146304" algn="l">
              <a:spcAft>
                <a:spcPts val="300"/>
              </a:spcAft>
              <a:buFont typeface="Arial"/>
              <a:buChar char="•"/>
            </a:pPr>
            <a:r>
              <a:rPr sz="950" b="1" i="0">
                <a:solidFill>
                  <a:srgbClr val="9B1C24"/>
                </a:solidFill>
                <a:latin typeface="Aptos"/>
              </a:rPr>
              <a:t>Ollama serving Gemma 3 4B </a:t>
            </a:r>
            <a:r>
              <a:rPr sz="950" b="0" i="0">
                <a:solidFill>
                  <a:srgbClr val="140C12"/>
                </a:solidFill>
                <a:latin typeface="Aptos"/>
              </a:rPr>
              <a:t>(text + vision, 140+ languages, JSON-schema output) and bge-m3 embeddings</a:t>
            </a:r>
          </a:p>
          <a:p>
            <a:pPr marL="146304" indent="-146304" algn="l">
              <a:spcAft>
                <a:spcPts val="300"/>
              </a:spcAft>
              <a:buFont typeface="Arial"/>
              <a:buChar char="•"/>
            </a:pPr>
            <a:r>
              <a:rPr sz="950" b="1" i="0">
                <a:solidFill>
                  <a:srgbClr val="9B1C24"/>
                </a:solidFill>
                <a:latin typeface="Aptos"/>
              </a:rPr>
              <a:t>NumPy softmax second opinion </a:t>
            </a:r>
            <a:r>
              <a:rPr sz="950" b="0" i="0">
                <a:solidFill>
                  <a:srgbClr val="140C12"/>
                </a:solidFill>
                <a:latin typeface="Aptos"/>
              </a:rPr>
              <a:t>trained on 1,644 locally generated complaints (85% department held-out); YAML rules; language hints</a:t>
            </a:r>
          </a:p>
          <a:p>
            <a:pPr marL="146304" indent="-146304" algn="l">
              <a:spcAft>
                <a:spcPts val="300"/>
              </a:spcAft>
              <a:buFont typeface="Arial"/>
              <a:buChar char="•"/>
            </a:pPr>
            <a:r>
              <a:rPr sz="950" b="1" i="0">
                <a:solidFill>
                  <a:srgbClr val="9B1C24"/>
                </a:solidFill>
                <a:latin typeface="Aptos"/>
              </a:rPr>
              <a:t>Why: </a:t>
            </a:r>
            <a:r>
              <a:rPr sz="950" b="0" i="0">
                <a:solidFill>
                  <a:srgbClr val="140C12"/>
                </a:solidFill>
                <a:latin typeface="Aptos"/>
              </a:rPr>
              <a:t>the largest model a 4 GB GPU serves; everything local, no cloud AI APIs</a:t>
            </a:r>
          </a:p>
        </p:txBody>
      </p:sp>
      <p:sp>
        <p:nvSpPr>
          <p:cNvPr id="31" name="Rounded Rectangle 30"/>
          <p:cNvSpPr/>
          <p:nvPr/>
        </p:nvSpPr>
        <p:spPr>
          <a:xfrm>
            <a:off x="4251960" y="3401568"/>
            <a:ext cx="3657600" cy="1920240"/>
          </a:xfrm>
          <a:prstGeom prst="roundRect">
            <a:avLst>
              <a:gd name="adj" fmla="val 5714"/>
            </a:avLst>
          </a:prstGeom>
          <a:solidFill>
            <a:srgbClr val="F6EFE0"/>
          </a:solidFill>
          <a:ln w="12700">
            <a:solidFill>
              <a:srgbClr val="7A5C2E"/>
            </a:solidFill>
          </a:ln>
          <a:effectLst/>
        </p:spPr>
        <p:txBody>
          <a:bodyPr rtlCol="0" anchor="ctr"/>
          <a:lstStyle/>
          <a:p>
            <a:pPr algn="ctr"/>
            <a:endParaRPr/>
          </a:p>
        </p:txBody>
      </p:sp>
      <p:sp>
        <p:nvSpPr>
          <p:cNvPr id="32" name="Rounded Rectangle 31"/>
          <p:cNvSpPr/>
          <p:nvPr/>
        </p:nvSpPr>
        <p:spPr>
          <a:xfrm>
            <a:off x="4251960" y="3401568"/>
            <a:ext cx="3657600" cy="347472"/>
          </a:xfrm>
          <a:prstGeom prst="roundRect">
            <a:avLst>
              <a:gd name="adj" fmla="val 31578"/>
            </a:avLst>
          </a:prstGeom>
          <a:solidFill>
            <a:srgbClr val="7A5C2E"/>
          </a:solidFill>
          <a:ln>
            <a:noFill/>
          </a:ln>
          <a:effectLst/>
        </p:spPr>
        <p:txBody>
          <a:bodyPr rtlCol="0" anchor="ctr"/>
          <a:lstStyle/>
          <a:p>
            <a:pPr algn="ctr"/>
            <a:endParaRPr/>
          </a:p>
        </p:txBody>
      </p:sp>
      <p:sp>
        <p:nvSpPr>
          <p:cNvPr id="33" name="Rectangle 32"/>
          <p:cNvSpPr/>
          <p:nvPr/>
        </p:nvSpPr>
        <p:spPr>
          <a:xfrm>
            <a:off x="4251960" y="3575304"/>
            <a:ext cx="3657600" cy="173736"/>
          </a:xfrm>
          <a:prstGeom prst="rect">
            <a:avLst/>
          </a:prstGeom>
          <a:solidFill>
            <a:srgbClr val="7A5C2E"/>
          </a:solidFill>
          <a:ln>
            <a:noFill/>
          </a:ln>
          <a:effectLst/>
        </p:spPr>
        <p:txBody>
          <a:bodyPr rtlCol="0" anchor="ctr"/>
          <a:lstStyle/>
          <a:p>
            <a:pPr algn="ctr"/>
            <a:endParaRPr/>
          </a:p>
        </p:txBody>
      </p:sp>
      <p:pic>
        <p:nvPicPr>
          <p:cNvPr id="34" name="Picture 33" descr="image21.png"/>
          <p:cNvPicPr>
            <a:picLocks noChangeAspect="1"/>
          </p:cNvPicPr>
          <p:nvPr/>
        </p:nvPicPr>
        <p:blipFill>
          <a:blip r:embed="rId7"/>
          <a:stretch>
            <a:fillRect/>
          </a:stretch>
        </p:blipFill>
        <p:spPr>
          <a:xfrm>
            <a:off x="4379976" y="3465576"/>
            <a:ext cx="219456" cy="219456"/>
          </a:xfrm>
          <a:prstGeom prst="rect">
            <a:avLst/>
          </a:prstGeom>
        </p:spPr>
      </p:pic>
      <p:sp>
        <p:nvSpPr>
          <p:cNvPr id="35" name="TextBox 34"/>
          <p:cNvSpPr txBox="1"/>
          <p:nvPr/>
        </p:nvSpPr>
        <p:spPr>
          <a:xfrm>
            <a:off x="4709160" y="3401568"/>
            <a:ext cx="3108960" cy="347472"/>
          </a:xfrm>
          <a:prstGeom prst="rect">
            <a:avLst/>
          </a:prstGeom>
          <a:noFill/>
        </p:spPr>
        <p:txBody>
          <a:bodyPr wrap="square" lIns="18288" tIns="0" rIns="18288" bIns="0" anchor="ctr">
            <a:noAutofit/>
          </a:bodyPr>
          <a:lstStyle/>
          <a:p>
            <a:pPr algn="l"/>
            <a:r>
              <a:rPr sz="1050" b="1" i="0">
                <a:solidFill>
                  <a:srgbClr val="FFFFFF"/>
                </a:solidFill>
                <a:latin typeface="Aptos"/>
              </a:rPr>
              <a:t>Deployment / hosting</a:t>
            </a:r>
          </a:p>
        </p:txBody>
      </p:sp>
      <p:sp>
        <p:nvSpPr>
          <p:cNvPr id="36" name="TextBox 35"/>
          <p:cNvSpPr txBox="1"/>
          <p:nvPr/>
        </p:nvSpPr>
        <p:spPr>
          <a:xfrm>
            <a:off x="4361688" y="3803904"/>
            <a:ext cx="3438144" cy="1481328"/>
          </a:xfrm>
          <a:prstGeom prst="rect">
            <a:avLst/>
          </a:prstGeom>
          <a:noFill/>
        </p:spPr>
        <p:txBody>
          <a:bodyPr wrap="square" lIns="54864" tIns="27432" rIns="54864" bIns="27432" anchor="t">
            <a:noAutofit/>
          </a:bodyPr>
          <a:lstStyle/>
          <a:p>
            <a:pPr marL="146304" indent="-146304" algn="l">
              <a:spcAft>
                <a:spcPts val="300"/>
              </a:spcAft>
              <a:buFont typeface="Arial"/>
              <a:buChar char="•"/>
            </a:pPr>
            <a:r>
              <a:rPr sz="950" b="1" i="0">
                <a:solidFill>
                  <a:srgbClr val="7A5C2E"/>
                </a:solidFill>
                <a:latin typeface="Aptos"/>
              </a:rPr>
              <a:t>One laptop </a:t>
            </a:r>
            <a:r>
              <a:rPr sz="950" b="0" i="0">
                <a:solidFill>
                  <a:srgbClr val="140C12"/>
                </a:solidFill>
                <a:latin typeface="Aptos"/>
              </a:rPr>
              <a:t>(RTX 3050 4 GB, 15 GB RAM) runs Ollama, Docker (Postgres + Mailpit), uvicorn and Vite</a:t>
            </a:r>
          </a:p>
          <a:p>
            <a:pPr marL="146304" indent="-146304" algn="l">
              <a:spcAft>
                <a:spcPts val="300"/>
              </a:spcAft>
              <a:buFont typeface="Arial"/>
              <a:buChar char="•"/>
            </a:pPr>
            <a:r>
              <a:rPr sz="950" b="1" i="0">
                <a:solidFill>
                  <a:srgbClr val="7A5C2E"/>
                </a:solidFill>
                <a:latin typeface="Aptos"/>
              </a:rPr>
              <a:t>scripts/start.ps1 </a:t>
            </a:r>
            <a:r>
              <a:rPr sz="950" b="0" i="0">
                <a:solidFill>
                  <a:srgbClr val="140C12"/>
                </a:solidFill>
                <a:latin typeface="Aptos"/>
              </a:rPr>
              <a:t>starts Postgres, Mailpit, API and app; -Https serves phones on the LAN; 12-20 s per complaint</a:t>
            </a:r>
          </a:p>
          <a:p>
            <a:pPr marL="146304" indent="-146304" algn="l">
              <a:spcAft>
                <a:spcPts val="300"/>
              </a:spcAft>
              <a:buFont typeface="Arial"/>
              <a:buChar char="•"/>
            </a:pPr>
            <a:r>
              <a:rPr sz="950" b="1" i="0">
                <a:solidFill>
                  <a:srgbClr val="7A5C2E"/>
                </a:solidFill>
                <a:latin typeface="Aptos"/>
              </a:rPr>
              <a:t>Why: </a:t>
            </a:r>
            <a:r>
              <a:rPr sz="950" b="0" i="0">
                <a:solidFill>
                  <a:srgbClr val="140C12"/>
                </a:solidFill>
                <a:latin typeface="Aptos"/>
              </a:rPr>
              <a:t>zero hosting cost today; the same compose file moves to an on-prem server</a:t>
            </a:r>
          </a:p>
        </p:txBody>
      </p:sp>
      <p:sp>
        <p:nvSpPr>
          <p:cNvPr id="37" name="Rounded Rectangle 36"/>
          <p:cNvSpPr/>
          <p:nvPr/>
        </p:nvSpPr>
        <p:spPr>
          <a:xfrm>
            <a:off x="8092440" y="3401568"/>
            <a:ext cx="3657600" cy="1920240"/>
          </a:xfrm>
          <a:prstGeom prst="roundRect">
            <a:avLst>
              <a:gd name="adj" fmla="val 5714"/>
            </a:avLst>
          </a:prstGeom>
          <a:solidFill>
            <a:srgbClr val="F3EDE3"/>
          </a:solidFill>
          <a:ln w="12700">
            <a:solidFill>
              <a:srgbClr val="5A5555"/>
            </a:solidFill>
          </a:ln>
          <a:effectLst/>
        </p:spPr>
        <p:txBody>
          <a:bodyPr rtlCol="0" anchor="ctr"/>
          <a:lstStyle/>
          <a:p>
            <a:pPr algn="ctr"/>
            <a:endParaRPr/>
          </a:p>
        </p:txBody>
      </p:sp>
      <p:sp>
        <p:nvSpPr>
          <p:cNvPr id="38" name="Rounded Rectangle 37"/>
          <p:cNvSpPr/>
          <p:nvPr/>
        </p:nvSpPr>
        <p:spPr>
          <a:xfrm>
            <a:off x="8092440" y="3401568"/>
            <a:ext cx="3657600" cy="347472"/>
          </a:xfrm>
          <a:prstGeom prst="roundRect">
            <a:avLst>
              <a:gd name="adj" fmla="val 31578"/>
            </a:avLst>
          </a:prstGeom>
          <a:solidFill>
            <a:srgbClr val="5A5555"/>
          </a:solidFill>
          <a:ln>
            <a:noFill/>
          </a:ln>
          <a:effectLst/>
        </p:spPr>
        <p:txBody>
          <a:bodyPr rtlCol="0" anchor="ctr"/>
          <a:lstStyle/>
          <a:p>
            <a:pPr algn="ctr"/>
            <a:endParaRPr/>
          </a:p>
        </p:txBody>
      </p:sp>
      <p:sp>
        <p:nvSpPr>
          <p:cNvPr id="39" name="Rectangle 38"/>
          <p:cNvSpPr/>
          <p:nvPr/>
        </p:nvSpPr>
        <p:spPr>
          <a:xfrm>
            <a:off x="8092440" y="3575304"/>
            <a:ext cx="3657600" cy="173736"/>
          </a:xfrm>
          <a:prstGeom prst="rect">
            <a:avLst/>
          </a:prstGeom>
          <a:solidFill>
            <a:srgbClr val="5A5555"/>
          </a:solidFill>
          <a:ln>
            <a:noFill/>
          </a:ln>
          <a:effectLst/>
        </p:spPr>
        <p:txBody>
          <a:bodyPr rtlCol="0" anchor="ctr"/>
          <a:lstStyle/>
          <a:p>
            <a:pPr algn="ctr"/>
            <a:endParaRPr/>
          </a:p>
        </p:txBody>
      </p:sp>
      <p:pic>
        <p:nvPicPr>
          <p:cNvPr id="40" name="Picture 39" descr="image24.png"/>
          <p:cNvPicPr>
            <a:picLocks noChangeAspect="1"/>
          </p:cNvPicPr>
          <p:nvPr/>
        </p:nvPicPr>
        <p:blipFill>
          <a:blip r:embed="rId8"/>
          <a:stretch>
            <a:fillRect/>
          </a:stretch>
        </p:blipFill>
        <p:spPr>
          <a:xfrm>
            <a:off x="8220456" y="3477577"/>
            <a:ext cx="219456" cy="195453"/>
          </a:xfrm>
          <a:prstGeom prst="rect">
            <a:avLst/>
          </a:prstGeom>
        </p:spPr>
      </p:pic>
      <p:sp>
        <p:nvSpPr>
          <p:cNvPr id="41" name="TextBox 40"/>
          <p:cNvSpPr txBox="1"/>
          <p:nvPr/>
        </p:nvSpPr>
        <p:spPr>
          <a:xfrm>
            <a:off x="8549640" y="3401568"/>
            <a:ext cx="3108960" cy="347472"/>
          </a:xfrm>
          <a:prstGeom prst="rect">
            <a:avLst/>
          </a:prstGeom>
          <a:noFill/>
        </p:spPr>
        <p:txBody>
          <a:bodyPr wrap="square" lIns="18288" tIns="0" rIns="18288" bIns="0" anchor="ctr">
            <a:noAutofit/>
          </a:bodyPr>
          <a:lstStyle/>
          <a:p>
            <a:pPr algn="l"/>
            <a:r>
              <a:rPr sz="1050" b="1" i="0">
                <a:solidFill>
                  <a:srgbClr val="FFFFFF"/>
                </a:solidFill>
                <a:latin typeface="Aptos"/>
              </a:rPr>
              <a:t>External APIs / datasets / tools</a:t>
            </a:r>
          </a:p>
        </p:txBody>
      </p:sp>
      <p:sp>
        <p:nvSpPr>
          <p:cNvPr id="42" name="TextBox 41"/>
          <p:cNvSpPr txBox="1"/>
          <p:nvPr/>
        </p:nvSpPr>
        <p:spPr>
          <a:xfrm>
            <a:off x="8202167" y="3803904"/>
            <a:ext cx="3438144" cy="1481328"/>
          </a:xfrm>
          <a:prstGeom prst="rect">
            <a:avLst/>
          </a:prstGeom>
          <a:noFill/>
        </p:spPr>
        <p:txBody>
          <a:bodyPr wrap="square" lIns="54864" tIns="27432" rIns="54864" bIns="27432" anchor="t">
            <a:noAutofit/>
          </a:bodyPr>
          <a:lstStyle/>
          <a:p>
            <a:pPr marL="146304" indent="-146304" algn="l">
              <a:spcAft>
                <a:spcPts val="300"/>
              </a:spcAft>
              <a:buFont typeface="Arial"/>
              <a:buChar char="•"/>
            </a:pPr>
            <a:r>
              <a:rPr sz="950" b="1" i="0">
                <a:solidFill>
                  <a:srgbClr val="5A5555"/>
                </a:solidFill>
                <a:latin typeface="Aptos"/>
              </a:rPr>
              <a:t>No external API at runtime. </a:t>
            </a:r>
            <a:r>
              <a:rPr sz="950" b="0" i="0">
                <a:solidFill>
                  <a:srgbClr val="140C12"/>
                </a:solidFill>
                <a:latin typeface="Aptos"/>
              </a:rPr>
              <a:t>Reference data: Tamil Nadu district-office mapping (38 districts, 760 offices)</a:t>
            </a:r>
          </a:p>
          <a:p>
            <a:pPr marL="146304" indent="-146304" algn="l">
              <a:spcAft>
                <a:spcPts val="300"/>
              </a:spcAft>
              <a:buFont typeface="Arial"/>
              <a:buChar char="•"/>
            </a:pPr>
            <a:r>
              <a:rPr sz="950" b="1" i="0">
                <a:solidFill>
                  <a:srgbClr val="5A5555"/>
                </a:solidFill>
                <a:latin typeface="Aptos"/>
              </a:rPr>
              <a:t>Datasets: </a:t>
            </a:r>
            <a:r>
              <a:rPr sz="950" b="0" i="0">
                <a:solidFill>
                  <a:srgbClr val="140C12"/>
                </a:solidFill>
                <a:latin typeface="Aptos"/>
              </a:rPr>
              <a:t>NYC 311 sample, COMI-LINGUA (Hinglish), DravidianCodeMix (Tanglish)</a:t>
            </a:r>
          </a:p>
          <a:p>
            <a:pPr marL="146304" indent="-146304" algn="l">
              <a:spcAft>
                <a:spcPts val="300"/>
              </a:spcAft>
              <a:buFont typeface="Arial"/>
              <a:buChar char="•"/>
            </a:pPr>
            <a:r>
              <a:rPr sz="950" b="1" i="0">
                <a:solidFill>
                  <a:srgbClr val="5A5555"/>
                </a:solidFill>
                <a:latin typeface="Aptos"/>
              </a:rPr>
              <a:t>Tools: </a:t>
            </a:r>
            <a:r>
              <a:rPr sz="950" b="0" i="0">
                <a:solidFill>
                  <a:srgbClr val="140C12"/>
                </a:solidFill>
                <a:latin typeface="Aptos"/>
              </a:rPr>
              <a:t>Mailpit for demo email, Gmail SMTP optional, 118-check end-to-end test suite</a:t>
            </a:r>
          </a:p>
        </p:txBody>
      </p:sp>
      <p:sp>
        <p:nvSpPr>
          <p:cNvPr id="43" name="Rounded Rectangle 42"/>
          <p:cNvSpPr/>
          <p:nvPr/>
        </p:nvSpPr>
        <p:spPr>
          <a:xfrm>
            <a:off x="411480" y="5440680"/>
            <a:ext cx="11338560" cy="914400"/>
          </a:xfrm>
          <a:prstGeom prst="roundRect">
            <a:avLst>
              <a:gd name="adj" fmla="val 12000"/>
            </a:avLst>
          </a:prstGeom>
          <a:solidFill>
            <a:srgbClr val="FFFFFF"/>
          </a:solidFill>
          <a:ln w="12700">
            <a:solidFill>
              <a:srgbClr val="3A3335"/>
            </a:solidFill>
          </a:ln>
          <a:effectLst/>
        </p:spPr>
        <p:txBody>
          <a:bodyPr rtlCol="0" anchor="ctr"/>
          <a:lstStyle/>
          <a:p>
            <a:pPr algn="ctr"/>
            <a:endParaRPr/>
          </a:p>
        </p:txBody>
      </p:sp>
      <p:pic>
        <p:nvPicPr>
          <p:cNvPr id="44" name="Picture 43" descr="image17_3A3335.png"/>
          <p:cNvPicPr>
            <a:picLocks noChangeAspect="1"/>
          </p:cNvPicPr>
          <p:nvPr/>
        </p:nvPicPr>
        <p:blipFill>
          <a:blip r:embed="rId9"/>
          <a:stretch>
            <a:fillRect/>
          </a:stretch>
        </p:blipFill>
        <p:spPr>
          <a:xfrm>
            <a:off x="868680" y="5535656"/>
            <a:ext cx="310896" cy="248959"/>
          </a:xfrm>
          <a:prstGeom prst="rect">
            <a:avLst/>
          </a:prstGeom>
        </p:spPr>
      </p:pic>
      <p:sp>
        <p:nvSpPr>
          <p:cNvPr id="45" name="TextBox 44"/>
          <p:cNvSpPr txBox="1"/>
          <p:nvPr/>
        </p:nvSpPr>
        <p:spPr>
          <a:xfrm>
            <a:off x="502920" y="5833872"/>
            <a:ext cx="1097280" cy="457200"/>
          </a:xfrm>
          <a:prstGeom prst="rect">
            <a:avLst/>
          </a:prstGeom>
          <a:noFill/>
        </p:spPr>
        <p:txBody>
          <a:bodyPr wrap="square" lIns="0" tIns="0" rIns="0" bIns="0" anchor="t">
            <a:noAutofit/>
          </a:bodyPr>
          <a:lstStyle/>
          <a:p>
            <a:pPr algn="ctr"/>
            <a:r>
              <a:rPr sz="950" b="1" i="0">
                <a:solidFill>
                  <a:srgbClr val="3A3335"/>
                </a:solidFill>
                <a:latin typeface="Aptos"/>
              </a:rPr>
              <a:t>Technologies used</a:t>
            </a:r>
          </a:p>
        </p:txBody>
      </p:sp>
      <p:pic>
        <p:nvPicPr>
          <p:cNvPr id="46" name="Picture 45" descr="image30.jpeg"/>
          <p:cNvPicPr>
            <a:picLocks noChangeAspect="1"/>
          </p:cNvPicPr>
          <p:nvPr/>
        </p:nvPicPr>
        <p:blipFill>
          <a:blip r:embed="rId10"/>
          <a:stretch>
            <a:fillRect/>
          </a:stretch>
        </p:blipFill>
        <p:spPr>
          <a:xfrm>
            <a:off x="2113788" y="5541054"/>
            <a:ext cx="420624" cy="366179"/>
          </a:xfrm>
          <a:prstGeom prst="rect">
            <a:avLst/>
          </a:prstGeom>
        </p:spPr>
      </p:pic>
      <p:sp>
        <p:nvSpPr>
          <p:cNvPr id="47" name="TextBox 46"/>
          <p:cNvSpPr txBox="1"/>
          <p:nvPr/>
        </p:nvSpPr>
        <p:spPr>
          <a:xfrm>
            <a:off x="1920240" y="5971032"/>
            <a:ext cx="807720" cy="274320"/>
          </a:xfrm>
          <a:prstGeom prst="rect">
            <a:avLst/>
          </a:prstGeom>
          <a:noFill/>
        </p:spPr>
        <p:txBody>
          <a:bodyPr wrap="square" lIns="0" tIns="0" rIns="0" bIns="0" anchor="t">
            <a:noAutofit/>
          </a:bodyPr>
          <a:lstStyle/>
          <a:p>
            <a:pPr algn="ctr"/>
            <a:r>
              <a:rPr sz="800" b="0" i="0">
                <a:solidFill>
                  <a:srgbClr val="140C12"/>
                </a:solidFill>
                <a:latin typeface="Aptos"/>
              </a:rPr>
              <a:t>React</a:t>
            </a:r>
          </a:p>
        </p:txBody>
      </p:sp>
      <p:pic>
        <p:nvPicPr>
          <p:cNvPr id="48" name="Picture 47" descr="image18.png"/>
          <p:cNvPicPr>
            <a:picLocks noChangeAspect="1"/>
          </p:cNvPicPr>
          <p:nvPr/>
        </p:nvPicPr>
        <p:blipFill>
          <a:blip r:embed="rId11"/>
          <a:stretch>
            <a:fillRect/>
          </a:stretch>
        </p:blipFill>
        <p:spPr>
          <a:xfrm>
            <a:off x="2921508" y="5513832"/>
            <a:ext cx="420624" cy="420624"/>
          </a:xfrm>
          <a:prstGeom prst="rect">
            <a:avLst/>
          </a:prstGeom>
        </p:spPr>
      </p:pic>
      <p:sp>
        <p:nvSpPr>
          <p:cNvPr id="49" name="TextBox 48"/>
          <p:cNvSpPr txBox="1"/>
          <p:nvPr/>
        </p:nvSpPr>
        <p:spPr>
          <a:xfrm>
            <a:off x="2727960" y="5971032"/>
            <a:ext cx="807720" cy="274320"/>
          </a:xfrm>
          <a:prstGeom prst="rect">
            <a:avLst/>
          </a:prstGeom>
          <a:noFill/>
        </p:spPr>
        <p:txBody>
          <a:bodyPr wrap="square" lIns="0" tIns="0" rIns="0" bIns="0" anchor="t">
            <a:noAutofit/>
          </a:bodyPr>
          <a:lstStyle/>
          <a:p>
            <a:pPr algn="ctr"/>
            <a:r>
              <a:rPr sz="800" b="0" i="0">
                <a:solidFill>
                  <a:srgbClr val="140C12"/>
                </a:solidFill>
                <a:latin typeface="Aptos"/>
              </a:rPr>
              <a:t>TypeScript</a:t>
            </a:r>
          </a:p>
        </p:txBody>
      </p:sp>
      <p:sp>
        <p:nvSpPr>
          <p:cNvPr id="51" name="TextBox 50"/>
          <p:cNvSpPr txBox="1"/>
          <p:nvPr/>
        </p:nvSpPr>
        <p:spPr>
          <a:xfrm>
            <a:off x="3535680" y="5971032"/>
            <a:ext cx="807720" cy="274320"/>
          </a:xfrm>
          <a:prstGeom prst="rect">
            <a:avLst/>
          </a:prstGeom>
          <a:noFill/>
        </p:spPr>
        <p:txBody>
          <a:bodyPr wrap="square" lIns="0" tIns="0" rIns="0" bIns="0" anchor="t">
            <a:noAutofit/>
          </a:bodyPr>
          <a:lstStyle/>
          <a:p>
            <a:pPr algn="ctr"/>
            <a:r>
              <a:rPr sz="800" b="0" i="0">
                <a:solidFill>
                  <a:srgbClr val="140C12"/>
                </a:solidFill>
                <a:latin typeface="Aptos"/>
              </a:rPr>
              <a:t>Tailwind</a:t>
            </a:r>
          </a:p>
        </p:txBody>
      </p:sp>
      <p:sp>
        <p:nvSpPr>
          <p:cNvPr id="53" name="TextBox 52"/>
          <p:cNvSpPr txBox="1"/>
          <p:nvPr/>
        </p:nvSpPr>
        <p:spPr>
          <a:xfrm>
            <a:off x="4343400" y="5971032"/>
            <a:ext cx="807720" cy="274320"/>
          </a:xfrm>
          <a:prstGeom prst="rect">
            <a:avLst/>
          </a:prstGeom>
          <a:noFill/>
        </p:spPr>
        <p:txBody>
          <a:bodyPr wrap="square" lIns="0" tIns="0" rIns="0" bIns="0" anchor="t">
            <a:noAutofit/>
          </a:bodyPr>
          <a:lstStyle/>
          <a:p>
            <a:pPr algn="ctr"/>
            <a:endParaRPr sz="800" b="0" i="0" dirty="0">
              <a:solidFill>
                <a:srgbClr val="140C12"/>
              </a:solidFill>
              <a:latin typeface="Aptos"/>
            </a:endParaRPr>
          </a:p>
        </p:txBody>
      </p:sp>
      <p:pic>
        <p:nvPicPr>
          <p:cNvPr id="54" name="Picture 53" descr="image31.png"/>
          <p:cNvPicPr>
            <a:picLocks noChangeAspect="1"/>
          </p:cNvPicPr>
          <p:nvPr/>
        </p:nvPicPr>
        <p:blipFill>
          <a:blip r:embed="rId12"/>
          <a:stretch>
            <a:fillRect/>
          </a:stretch>
        </p:blipFill>
        <p:spPr>
          <a:xfrm>
            <a:off x="4476567" y="5513832"/>
            <a:ext cx="420624" cy="420624"/>
          </a:xfrm>
          <a:prstGeom prst="rect">
            <a:avLst/>
          </a:prstGeom>
        </p:spPr>
      </p:pic>
      <p:sp>
        <p:nvSpPr>
          <p:cNvPr id="55" name="TextBox 54"/>
          <p:cNvSpPr txBox="1"/>
          <p:nvPr/>
        </p:nvSpPr>
        <p:spPr>
          <a:xfrm>
            <a:off x="4283020" y="5971032"/>
            <a:ext cx="807720" cy="274320"/>
          </a:xfrm>
          <a:prstGeom prst="rect">
            <a:avLst/>
          </a:prstGeom>
          <a:noFill/>
        </p:spPr>
        <p:txBody>
          <a:bodyPr wrap="square" lIns="0" tIns="0" rIns="0" bIns="0" anchor="t">
            <a:noAutofit/>
          </a:bodyPr>
          <a:lstStyle/>
          <a:p>
            <a:pPr algn="ctr"/>
            <a:r>
              <a:rPr sz="800" b="0" i="0">
                <a:solidFill>
                  <a:srgbClr val="140C12"/>
                </a:solidFill>
                <a:latin typeface="Aptos"/>
              </a:rPr>
              <a:t>Python</a:t>
            </a:r>
          </a:p>
        </p:txBody>
      </p:sp>
      <p:pic>
        <p:nvPicPr>
          <p:cNvPr id="56" name="Picture 55" descr="image19.png"/>
          <p:cNvPicPr>
            <a:picLocks noChangeAspect="1"/>
          </p:cNvPicPr>
          <p:nvPr/>
        </p:nvPicPr>
        <p:blipFill>
          <a:blip r:embed="rId13"/>
          <a:stretch>
            <a:fillRect/>
          </a:stretch>
        </p:blipFill>
        <p:spPr>
          <a:xfrm>
            <a:off x="5284287" y="5513832"/>
            <a:ext cx="420624" cy="420624"/>
          </a:xfrm>
          <a:prstGeom prst="rect">
            <a:avLst/>
          </a:prstGeom>
        </p:spPr>
      </p:pic>
      <p:sp>
        <p:nvSpPr>
          <p:cNvPr id="57" name="TextBox 56"/>
          <p:cNvSpPr txBox="1"/>
          <p:nvPr/>
        </p:nvSpPr>
        <p:spPr>
          <a:xfrm>
            <a:off x="5090739" y="5971032"/>
            <a:ext cx="807720" cy="274320"/>
          </a:xfrm>
          <a:prstGeom prst="rect">
            <a:avLst/>
          </a:prstGeom>
          <a:noFill/>
        </p:spPr>
        <p:txBody>
          <a:bodyPr wrap="square" lIns="0" tIns="0" rIns="0" bIns="0" anchor="t">
            <a:noAutofit/>
          </a:bodyPr>
          <a:lstStyle/>
          <a:p>
            <a:pPr algn="ctr"/>
            <a:r>
              <a:rPr sz="800" b="0" i="0">
                <a:solidFill>
                  <a:srgbClr val="140C12"/>
                </a:solidFill>
                <a:latin typeface="Aptos"/>
              </a:rPr>
              <a:t>FastAPI</a:t>
            </a:r>
          </a:p>
        </p:txBody>
      </p:sp>
      <p:pic>
        <p:nvPicPr>
          <p:cNvPr id="58" name="Picture 57" descr="image32.png"/>
          <p:cNvPicPr>
            <a:picLocks noChangeAspect="1"/>
          </p:cNvPicPr>
          <p:nvPr/>
        </p:nvPicPr>
        <p:blipFill>
          <a:blip r:embed="rId14"/>
          <a:stretch>
            <a:fillRect/>
          </a:stretch>
        </p:blipFill>
        <p:spPr>
          <a:xfrm>
            <a:off x="6098230" y="5513832"/>
            <a:ext cx="408179" cy="420624"/>
          </a:xfrm>
          <a:prstGeom prst="rect">
            <a:avLst/>
          </a:prstGeom>
        </p:spPr>
      </p:pic>
      <p:sp>
        <p:nvSpPr>
          <p:cNvPr id="59" name="TextBox 58"/>
          <p:cNvSpPr txBox="1"/>
          <p:nvPr/>
        </p:nvSpPr>
        <p:spPr>
          <a:xfrm>
            <a:off x="5898460" y="5971032"/>
            <a:ext cx="807720" cy="274320"/>
          </a:xfrm>
          <a:prstGeom prst="rect">
            <a:avLst/>
          </a:prstGeom>
          <a:noFill/>
        </p:spPr>
        <p:txBody>
          <a:bodyPr wrap="square" lIns="0" tIns="0" rIns="0" bIns="0" anchor="t">
            <a:noAutofit/>
          </a:bodyPr>
          <a:lstStyle/>
          <a:p>
            <a:pPr algn="ctr"/>
            <a:r>
              <a:rPr sz="800" b="0" i="0">
                <a:solidFill>
                  <a:srgbClr val="140C12"/>
                </a:solidFill>
                <a:latin typeface="Aptos"/>
              </a:rPr>
              <a:t>PostgreSQL</a:t>
            </a:r>
          </a:p>
        </p:txBody>
      </p:sp>
      <p:pic>
        <p:nvPicPr>
          <p:cNvPr id="60" name="Picture 59" descr="badge_pg_7A5C2E.png"/>
          <p:cNvPicPr>
            <a:picLocks noChangeAspect="1"/>
          </p:cNvPicPr>
          <p:nvPr/>
        </p:nvPicPr>
        <p:blipFill>
          <a:blip r:embed="rId15"/>
          <a:stretch>
            <a:fillRect/>
          </a:stretch>
        </p:blipFill>
        <p:spPr>
          <a:xfrm>
            <a:off x="6899727" y="5513832"/>
            <a:ext cx="420624" cy="420624"/>
          </a:xfrm>
          <a:prstGeom prst="rect">
            <a:avLst/>
          </a:prstGeom>
        </p:spPr>
      </p:pic>
      <p:sp>
        <p:nvSpPr>
          <p:cNvPr id="61" name="TextBox 60"/>
          <p:cNvSpPr txBox="1"/>
          <p:nvPr/>
        </p:nvSpPr>
        <p:spPr>
          <a:xfrm>
            <a:off x="6706180" y="5971032"/>
            <a:ext cx="807720" cy="274320"/>
          </a:xfrm>
          <a:prstGeom prst="rect">
            <a:avLst/>
          </a:prstGeom>
          <a:noFill/>
        </p:spPr>
        <p:txBody>
          <a:bodyPr wrap="square" lIns="0" tIns="0" rIns="0" bIns="0" anchor="t">
            <a:noAutofit/>
          </a:bodyPr>
          <a:lstStyle/>
          <a:p>
            <a:pPr algn="ctr"/>
            <a:r>
              <a:rPr sz="800" b="0" i="0">
                <a:solidFill>
                  <a:srgbClr val="140C12"/>
                </a:solidFill>
                <a:latin typeface="Aptos"/>
              </a:rPr>
              <a:t>pgvector</a:t>
            </a:r>
          </a:p>
        </p:txBody>
      </p:sp>
      <p:pic>
        <p:nvPicPr>
          <p:cNvPr id="62" name="Picture 61" descr="image21.png"/>
          <p:cNvPicPr>
            <a:picLocks noChangeAspect="1"/>
          </p:cNvPicPr>
          <p:nvPr/>
        </p:nvPicPr>
        <p:blipFill>
          <a:blip r:embed="rId7"/>
          <a:stretch>
            <a:fillRect/>
          </a:stretch>
        </p:blipFill>
        <p:spPr>
          <a:xfrm>
            <a:off x="7707447" y="5513832"/>
            <a:ext cx="420624" cy="420624"/>
          </a:xfrm>
          <a:prstGeom prst="rect">
            <a:avLst/>
          </a:prstGeom>
        </p:spPr>
      </p:pic>
      <p:sp>
        <p:nvSpPr>
          <p:cNvPr id="63" name="TextBox 62"/>
          <p:cNvSpPr txBox="1"/>
          <p:nvPr/>
        </p:nvSpPr>
        <p:spPr>
          <a:xfrm>
            <a:off x="7513899" y="5971032"/>
            <a:ext cx="807720" cy="274320"/>
          </a:xfrm>
          <a:prstGeom prst="rect">
            <a:avLst/>
          </a:prstGeom>
          <a:noFill/>
        </p:spPr>
        <p:txBody>
          <a:bodyPr wrap="square" lIns="0" tIns="0" rIns="0" bIns="0" anchor="t">
            <a:noAutofit/>
          </a:bodyPr>
          <a:lstStyle/>
          <a:p>
            <a:pPr algn="ctr"/>
            <a:r>
              <a:rPr sz="800" b="0" i="0">
                <a:solidFill>
                  <a:srgbClr val="140C12"/>
                </a:solidFill>
                <a:latin typeface="Aptos"/>
              </a:rPr>
              <a:t>Docker</a:t>
            </a:r>
          </a:p>
        </p:txBody>
      </p:sp>
      <p:pic>
        <p:nvPicPr>
          <p:cNvPr id="64" name="Picture 63" descr="image22.png"/>
          <p:cNvPicPr>
            <a:picLocks noChangeAspect="1"/>
          </p:cNvPicPr>
          <p:nvPr/>
        </p:nvPicPr>
        <p:blipFill>
          <a:blip r:embed="rId16"/>
          <a:stretch>
            <a:fillRect/>
          </a:stretch>
        </p:blipFill>
        <p:spPr>
          <a:xfrm>
            <a:off x="8515167" y="5513832"/>
            <a:ext cx="420624" cy="420624"/>
          </a:xfrm>
          <a:prstGeom prst="rect">
            <a:avLst/>
          </a:prstGeom>
        </p:spPr>
      </p:pic>
      <p:sp>
        <p:nvSpPr>
          <p:cNvPr id="65" name="TextBox 64"/>
          <p:cNvSpPr txBox="1"/>
          <p:nvPr/>
        </p:nvSpPr>
        <p:spPr>
          <a:xfrm>
            <a:off x="8321619" y="5971032"/>
            <a:ext cx="807720" cy="274320"/>
          </a:xfrm>
          <a:prstGeom prst="rect">
            <a:avLst/>
          </a:prstGeom>
          <a:noFill/>
        </p:spPr>
        <p:txBody>
          <a:bodyPr wrap="square" lIns="0" tIns="0" rIns="0" bIns="0" anchor="t">
            <a:noAutofit/>
          </a:bodyPr>
          <a:lstStyle/>
          <a:p>
            <a:pPr algn="ctr"/>
            <a:r>
              <a:rPr sz="800" b="0" i="0">
                <a:solidFill>
                  <a:srgbClr val="140C12"/>
                </a:solidFill>
                <a:latin typeface="Aptos"/>
              </a:rPr>
              <a:t>Ollama</a:t>
            </a:r>
          </a:p>
        </p:txBody>
      </p:sp>
      <p:pic>
        <p:nvPicPr>
          <p:cNvPr id="66" name="Picture 65" descr="badge_G3_9B1C24.png"/>
          <p:cNvPicPr>
            <a:picLocks noChangeAspect="1"/>
          </p:cNvPicPr>
          <p:nvPr/>
        </p:nvPicPr>
        <p:blipFill>
          <a:blip r:embed="rId17"/>
          <a:stretch>
            <a:fillRect/>
          </a:stretch>
        </p:blipFill>
        <p:spPr>
          <a:xfrm>
            <a:off x="9322887" y="5513832"/>
            <a:ext cx="420624" cy="420624"/>
          </a:xfrm>
          <a:prstGeom prst="rect">
            <a:avLst/>
          </a:prstGeom>
        </p:spPr>
      </p:pic>
      <p:sp>
        <p:nvSpPr>
          <p:cNvPr id="67" name="TextBox 66"/>
          <p:cNvSpPr txBox="1"/>
          <p:nvPr/>
        </p:nvSpPr>
        <p:spPr>
          <a:xfrm>
            <a:off x="9129339" y="5971032"/>
            <a:ext cx="807720" cy="274320"/>
          </a:xfrm>
          <a:prstGeom prst="rect">
            <a:avLst/>
          </a:prstGeom>
          <a:noFill/>
        </p:spPr>
        <p:txBody>
          <a:bodyPr wrap="square" lIns="0" tIns="0" rIns="0" bIns="0" anchor="t">
            <a:noAutofit/>
          </a:bodyPr>
          <a:lstStyle/>
          <a:p>
            <a:pPr algn="ctr"/>
            <a:r>
              <a:rPr sz="800" b="0" i="0">
                <a:solidFill>
                  <a:srgbClr val="140C12"/>
                </a:solidFill>
                <a:latin typeface="Aptos"/>
              </a:rPr>
              <a:t>Gemma 3</a:t>
            </a:r>
          </a:p>
        </p:txBody>
      </p:sp>
      <p:pic>
        <p:nvPicPr>
          <p:cNvPr id="68" name="Picture 67" descr="badge_bge_B7791F.png"/>
          <p:cNvPicPr>
            <a:picLocks noChangeAspect="1"/>
          </p:cNvPicPr>
          <p:nvPr/>
        </p:nvPicPr>
        <p:blipFill>
          <a:blip r:embed="rId18"/>
          <a:stretch>
            <a:fillRect/>
          </a:stretch>
        </p:blipFill>
        <p:spPr>
          <a:xfrm>
            <a:off x="10130608" y="5513832"/>
            <a:ext cx="420624" cy="420624"/>
          </a:xfrm>
          <a:prstGeom prst="rect">
            <a:avLst/>
          </a:prstGeom>
        </p:spPr>
      </p:pic>
      <p:sp>
        <p:nvSpPr>
          <p:cNvPr id="69" name="TextBox 68"/>
          <p:cNvSpPr txBox="1"/>
          <p:nvPr/>
        </p:nvSpPr>
        <p:spPr>
          <a:xfrm>
            <a:off x="9937060" y="5971032"/>
            <a:ext cx="807720" cy="274320"/>
          </a:xfrm>
          <a:prstGeom prst="rect">
            <a:avLst/>
          </a:prstGeom>
          <a:noFill/>
        </p:spPr>
        <p:txBody>
          <a:bodyPr wrap="square" lIns="0" tIns="0" rIns="0" bIns="0" anchor="t">
            <a:noAutofit/>
          </a:bodyPr>
          <a:lstStyle/>
          <a:p>
            <a:pPr algn="ctr"/>
            <a:r>
              <a:rPr sz="800" b="0" i="0">
                <a:solidFill>
                  <a:srgbClr val="140C12"/>
                </a:solidFill>
                <a:latin typeface="Aptos"/>
              </a:rPr>
              <a:t>bge-m3</a:t>
            </a:r>
          </a:p>
        </p:txBody>
      </p:sp>
      <p:pic>
        <p:nvPicPr>
          <p:cNvPr id="70" name="Picture 69">
            <a:extLst>
              <a:ext uri="{FF2B5EF4-FFF2-40B4-BE49-F238E27FC236}">
                <a16:creationId xmlns:a16="http://schemas.microsoft.com/office/drawing/2014/main" id="{ADBC0B36-313D-D70C-5013-735DDB247E1E}"/>
              </a:ext>
            </a:extLst>
          </p:cNvPr>
          <p:cNvPicPr>
            <a:picLocks noChangeAspect="1"/>
          </p:cNvPicPr>
          <p:nvPr/>
        </p:nvPicPr>
        <p:blipFill>
          <a:blip r:embed="rId19"/>
          <a:stretch>
            <a:fillRect/>
          </a:stretch>
        </p:blipFill>
        <p:spPr>
          <a:xfrm>
            <a:off x="3569208" y="5426963"/>
            <a:ext cx="792480" cy="5943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4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E0262D"/>
          </a:solidFill>
          <a:ln>
            <a:solidFill>
              <a:srgbClr val="E0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56032"/>
            <a:ext cx="8046720" cy="274320"/>
          </a:xfrm>
          <a:prstGeom prst="rect">
            <a:avLst/>
          </a:prstGeom>
          <a:noFill/>
        </p:spPr>
        <p:txBody>
          <a:bodyPr wrap="none" lIns="54864" tIns="54864" rIns="54864" bIns="54864" anchor="t">
            <a:spAutoFit/>
          </a:bodyPr>
          <a:lstStyle/>
          <a:p>
            <a:pPr algn="l">
              <a:defRPr sz="1000" b="1" i="0">
                <a:solidFill>
                  <a:srgbClr val="E0262D"/>
                </a:solidFill>
                <a:latin typeface="Aptos"/>
              </a:defRPr>
            </a:pPr>
            <a:r>
              <a:t>SYNAPSE '26  |  24-HOUR HACKATHON</a:t>
            </a:r>
          </a:p>
        </p:txBody>
      </p:sp>
      <p:sp>
        <p:nvSpPr>
          <p:cNvPr id="4" name="TextBox 3"/>
          <p:cNvSpPr txBox="1"/>
          <p:nvPr/>
        </p:nvSpPr>
        <p:spPr>
          <a:xfrm>
            <a:off x="411480" y="594360"/>
            <a:ext cx="11155680" cy="502920"/>
          </a:xfrm>
          <a:prstGeom prst="rect">
            <a:avLst/>
          </a:prstGeom>
          <a:noFill/>
        </p:spPr>
        <p:txBody>
          <a:bodyPr wrap="none" lIns="54864" tIns="54864" rIns="54864" bIns="54864" anchor="t">
            <a:spAutoFit/>
          </a:bodyPr>
          <a:lstStyle/>
          <a:p>
            <a:pPr algn="l">
              <a:defRPr sz="2500" b="1" i="0">
                <a:solidFill>
                  <a:srgbClr val="140C12"/>
                </a:solidFill>
                <a:latin typeface="Aptos"/>
              </a:defRPr>
            </a:pPr>
            <a:r>
              <a:t>CORE FEATURE DEMONSTRATION</a:t>
            </a:r>
          </a:p>
        </p:txBody>
      </p:sp>
      <p:sp>
        <p:nvSpPr>
          <p:cNvPr id="6" name="TextBox 5"/>
          <p:cNvSpPr txBox="1"/>
          <p:nvPr/>
        </p:nvSpPr>
        <p:spPr>
          <a:xfrm>
            <a:off x="7589520" y="6510528"/>
            <a:ext cx="4160520" cy="182880"/>
          </a:xfrm>
          <a:prstGeom prst="rect">
            <a:avLst/>
          </a:prstGeom>
          <a:noFill/>
        </p:spPr>
        <p:txBody>
          <a:bodyPr wrap="none" lIns="54864" tIns="54864" rIns="54864" bIns="54864" anchor="t">
            <a:spAutoFit/>
          </a:bodyPr>
          <a:lstStyle/>
          <a:p>
            <a:pPr algn="r">
              <a:defRPr sz="800" b="0" i="0">
                <a:solidFill>
                  <a:srgbClr val="5A5555"/>
                </a:solidFill>
                <a:latin typeface="Aptos"/>
              </a:defRPr>
            </a:pPr>
            <a:r>
              <a:t>V.S.B. Engineering College  •  11</a:t>
            </a:r>
          </a:p>
        </p:txBody>
      </p:sp>
      <p:sp>
        <p:nvSpPr>
          <p:cNvPr id="7" name="TextBox 6"/>
          <p:cNvSpPr txBox="1"/>
          <p:nvPr/>
        </p:nvSpPr>
        <p:spPr>
          <a:xfrm>
            <a:off x="411480" y="1353312"/>
            <a:ext cx="11338560" cy="292608"/>
          </a:xfrm>
          <a:prstGeom prst="rect">
            <a:avLst/>
          </a:prstGeom>
          <a:noFill/>
        </p:spPr>
        <p:txBody>
          <a:bodyPr wrap="square" lIns="18288" tIns="0" rIns="18288" bIns="0" anchor="ctr">
            <a:noAutofit/>
          </a:bodyPr>
          <a:lstStyle/>
          <a:p>
            <a:pPr algn="l"/>
            <a:r>
              <a:rPr sz="1050" b="1" i="0">
                <a:solidFill>
                  <a:srgbClr val="E0262D"/>
                </a:solidFill>
                <a:latin typeface="Aptos"/>
              </a:rPr>
              <a:t>ONE REAL COMPLAINT FROM THE TEST RUN  ·  Tanglish text + GPS in; Water Supply, Critical, human review out, with office, due time and Tamil emails</a:t>
            </a:r>
          </a:p>
        </p:txBody>
      </p:sp>
      <p:sp>
        <p:nvSpPr>
          <p:cNvPr id="8" name="Rounded Rectangle 7"/>
          <p:cNvSpPr/>
          <p:nvPr/>
        </p:nvSpPr>
        <p:spPr>
          <a:xfrm>
            <a:off x="411480" y="1737360"/>
            <a:ext cx="3429000" cy="1691640"/>
          </a:xfrm>
          <a:prstGeom prst="roundRect">
            <a:avLst>
              <a:gd name="adj" fmla="val 6486"/>
            </a:avLst>
          </a:prstGeom>
          <a:solidFill>
            <a:srgbClr val="F3EDE3"/>
          </a:solidFill>
          <a:ln w="12700">
            <a:solidFill>
              <a:srgbClr val="3A3335"/>
            </a:solidFill>
          </a:ln>
          <a:effectLst/>
        </p:spPr>
        <p:txBody>
          <a:bodyPr rtlCol="0" anchor="ctr"/>
          <a:lstStyle/>
          <a:p>
            <a:pPr algn="ctr"/>
            <a:endParaRPr/>
          </a:p>
        </p:txBody>
      </p:sp>
      <p:sp>
        <p:nvSpPr>
          <p:cNvPr id="9" name="Rounded Rectangle 8"/>
          <p:cNvSpPr/>
          <p:nvPr/>
        </p:nvSpPr>
        <p:spPr>
          <a:xfrm>
            <a:off x="411480" y="1737360"/>
            <a:ext cx="3429000" cy="347472"/>
          </a:xfrm>
          <a:prstGeom prst="roundRect">
            <a:avLst>
              <a:gd name="adj" fmla="val 31578"/>
            </a:avLst>
          </a:prstGeom>
          <a:solidFill>
            <a:srgbClr val="3A3335"/>
          </a:solidFill>
          <a:ln>
            <a:noFill/>
          </a:ln>
          <a:effectLst/>
        </p:spPr>
        <p:txBody>
          <a:bodyPr rtlCol="0" anchor="ctr"/>
          <a:lstStyle/>
          <a:p>
            <a:pPr algn="ctr"/>
            <a:endParaRPr/>
          </a:p>
        </p:txBody>
      </p:sp>
      <p:sp>
        <p:nvSpPr>
          <p:cNvPr id="10" name="Rectangle 9"/>
          <p:cNvSpPr/>
          <p:nvPr/>
        </p:nvSpPr>
        <p:spPr>
          <a:xfrm>
            <a:off x="411480" y="1911095"/>
            <a:ext cx="3429000" cy="173736"/>
          </a:xfrm>
          <a:prstGeom prst="rect">
            <a:avLst/>
          </a:prstGeom>
          <a:solidFill>
            <a:srgbClr val="3A3335"/>
          </a:solidFill>
          <a:ln>
            <a:noFill/>
          </a:ln>
          <a:effectLst/>
        </p:spPr>
        <p:txBody>
          <a:bodyPr rtlCol="0" anchor="ctr"/>
          <a:lstStyle/>
          <a:p>
            <a:pPr algn="ctr"/>
            <a:endParaRPr/>
          </a:p>
        </p:txBody>
      </p:sp>
      <p:pic>
        <p:nvPicPr>
          <p:cNvPr id="11" name="Picture 10" descr="image29.png"/>
          <p:cNvPicPr>
            <a:picLocks noChangeAspect="1"/>
          </p:cNvPicPr>
          <p:nvPr/>
        </p:nvPicPr>
        <p:blipFill>
          <a:blip r:embed="rId2"/>
          <a:stretch>
            <a:fillRect/>
          </a:stretch>
        </p:blipFill>
        <p:spPr>
          <a:xfrm>
            <a:off x="539496" y="1813369"/>
            <a:ext cx="219456" cy="195453"/>
          </a:xfrm>
          <a:prstGeom prst="rect">
            <a:avLst/>
          </a:prstGeom>
        </p:spPr>
      </p:pic>
      <p:sp>
        <p:nvSpPr>
          <p:cNvPr id="12" name="TextBox 11"/>
          <p:cNvSpPr txBox="1"/>
          <p:nvPr/>
        </p:nvSpPr>
        <p:spPr>
          <a:xfrm>
            <a:off x="868680" y="1737360"/>
            <a:ext cx="2880360" cy="347472"/>
          </a:xfrm>
          <a:prstGeom prst="rect">
            <a:avLst/>
          </a:prstGeom>
          <a:noFill/>
        </p:spPr>
        <p:txBody>
          <a:bodyPr wrap="square" lIns="18288" tIns="0" rIns="18288" bIns="0" anchor="ctr">
            <a:noAutofit/>
          </a:bodyPr>
          <a:lstStyle/>
          <a:p>
            <a:pPr algn="l"/>
            <a:r>
              <a:rPr sz="1050" b="1" i="0">
                <a:solidFill>
                  <a:srgbClr val="FFFFFF"/>
                </a:solidFill>
                <a:latin typeface="Aptos"/>
              </a:rPr>
              <a:t>INPUT</a:t>
            </a:r>
          </a:p>
        </p:txBody>
      </p:sp>
      <p:sp>
        <p:nvSpPr>
          <p:cNvPr id="13" name="TextBox 12"/>
          <p:cNvSpPr txBox="1"/>
          <p:nvPr/>
        </p:nvSpPr>
        <p:spPr>
          <a:xfrm>
            <a:off x="502920" y="2139696"/>
            <a:ext cx="3246120" cy="1252728"/>
          </a:xfrm>
          <a:prstGeom prst="rect">
            <a:avLst/>
          </a:prstGeom>
          <a:noFill/>
        </p:spPr>
        <p:txBody>
          <a:bodyPr wrap="square" lIns="54864" tIns="27432" rIns="54864" bIns="27432" anchor="t">
            <a:noAutofit/>
          </a:bodyPr>
          <a:lstStyle/>
          <a:p>
            <a:pPr marL="146304" indent="-146304" algn="l">
              <a:spcAft>
                <a:spcPts val="300"/>
              </a:spcAft>
              <a:buFont typeface="Arial"/>
              <a:buChar char="•"/>
            </a:pPr>
            <a:r>
              <a:rPr sz="850" b="1" i="0">
                <a:solidFill>
                  <a:srgbClr val="140C12"/>
                </a:solidFill>
                <a:latin typeface="Aptos"/>
              </a:rPr>
              <a:t>Verified citizen types in Tanglish: </a:t>
            </a:r>
            <a:r>
              <a:rPr sz="850" b="0" i="0">
                <a:solidFill>
                  <a:srgbClr val="140C12"/>
                </a:solidFill>
                <a:latin typeface="Aptos"/>
              </a:rPr>
              <a:t>"thanni 3 days ah varala, veetla 2 kids vomiting, call 98xxxxxx10"</a:t>
            </a:r>
          </a:p>
          <a:p>
            <a:pPr marL="146304" indent="-146304" algn="l">
              <a:spcAft>
                <a:spcPts val="300"/>
              </a:spcAft>
              <a:buFont typeface="Arial"/>
              <a:buChar char="•"/>
            </a:pPr>
            <a:r>
              <a:rPr sz="850" b="1" i="0">
                <a:solidFill>
                  <a:srgbClr val="140C12"/>
                </a:solidFill>
                <a:latin typeface="Aptos"/>
              </a:rPr>
              <a:t>Taps 'Use current location': </a:t>
            </a:r>
            <a:r>
              <a:rPr sz="850" b="0" i="0">
                <a:solidFill>
                  <a:srgbClr val="140C12"/>
                </a:solidFill>
                <a:latin typeface="Aptos"/>
              </a:rPr>
              <a:t>GPS 11.02, 76.97 resolves to Gandhipuram, Coimbatore</a:t>
            </a:r>
          </a:p>
          <a:p>
            <a:pPr marL="146304" indent="-146304" algn="l">
              <a:spcAft>
                <a:spcPts val="300"/>
              </a:spcAft>
              <a:buFont typeface="Arial"/>
              <a:buChar char="•"/>
            </a:pPr>
            <a:r>
              <a:rPr sz="850" b="1" i="0">
                <a:solidFill>
                  <a:srgbClr val="140C12"/>
                </a:solidFill>
                <a:latin typeface="Aptos"/>
              </a:rPr>
              <a:t>Gets a tracking ID in under 1 s </a:t>
            </a:r>
            <a:r>
              <a:rPr sz="850" b="0" i="0">
                <a:solidFill>
                  <a:srgbClr val="140C12"/>
                </a:solidFill>
                <a:latin typeface="Aptos"/>
              </a:rPr>
              <a:t>and a Tamil acknowledgement email</a:t>
            </a:r>
          </a:p>
        </p:txBody>
      </p:sp>
      <p:sp>
        <p:nvSpPr>
          <p:cNvPr id="14" name="Rounded Rectangle 13"/>
          <p:cNvSpPr/>
          <p:nvPr/>
        </p:nvSpPr>
        <p:spPr>
          <a:xfrm>
            <a:off x="4366260" y="1737360"/>
            <a:ext cx="3429000" cy="1691640"/>
          </a:xfrm>
          <a:prstGeom prst="roundRect">
            <a:avLst>
              <a:gd name="adj" fmla="val 6486"/>
            </a:avLst>
          </a:prstGeom>
          <a:solidFill>
            <a:srgbClr val="FBE9E9"/>
          </a:solidFill>
          <a:ln w="12700">
            <a:solidFill>
              <a:srgbClr val="9B1C24"/>
            </a:solidFill>
          </a:ln>
          <a:effectLst/>
        </p:spPr>
        <p:txBody>
          <a:bodyPr rtlCol="0" anchor="ctr"/>
          <a:lstStyle/>
          <a:p>
            <a:pPr algn="ctr"/>
            <a:endParaRPr/>
          </a:p>
        </p:txBody>
      </p:sp>
      <p:sp>
        <p:nvSpPr>
          <p:cNvPr id="15" name="Rounded Rectangle 14"/>
          <p:cNvSpPr/>
          <p:nvPr/>
        </p:nvSpPr>
        <p:spPr>
          <a:xfrm>
            <a:off x="4366260" y="1737360"/>
            <a:ext cx="3429000" cy="347472"/>
          </a:xfrm>
          <a:prstGeom prst="roundRect">
            <a:avLst>
              <a:gd name="adj" fmla="val 31578"/>
            </a:avLst>
          </a:prstGeom>
          <a:solidFill>
            <a:srgbClr val="9B1C24"/>
          </a:solidFill>
          <a:ln>
            <a:noFill/>
          </a:ln>
          <a:effectLst/>
        </p:spPr>
        <p:txBody>
          <a:bodyPr rtlCol="0" anchor="ctr"/>
          <a:lstStyle/>
          <a:p>
            <a:pPr algn="ctr"/>
            <a:endParaRPr/>
          </a:p>
        </p:txBody>
      </p:sp>
      <p:sp>
        <p:nvSpPr>
          <p:cNvPr id="16" name="Rectangle 15"/>
          <p:cNvSpPr/>
          <p:nvPr/>
        </p:nvSpPr>
        <p:spPr>
          <a:xfrm>
            <a:off x="4366260" y="1911095"/>
            <a:ext cx="3429000" cy="173736"/>
          </a:xfrm>
          <a:prstGeom prst="rect">
            <a:avLst/>
          </a:prstGeom>
          <a:solidFill>
            <a:srgbClr val="9B1C24"/>
          </a:solidFill>
          <a:ln>
            <a:noFill/>
          </a:ln>
          <a:effectLst/>
        </p:spPr>
        <p:txBody>
          <a:bodyPr rtlCol="0" anchor="ctr"/>
          <a:lstStyle/>
          <a:p>
            <a:pPr algn="ctr"/>
            <a:endParaRPr/>
          </a:p>
        </p:txBody>
      </p:sp>
      <p:pic>
        <p:nvPicPr>
          <p:cNvPr id="17" name="Picture 16" descr="image26.png"/>
          <p:cNvPicPr>
            <a:picLocks noChangeAspect="1"/>
          </p:cNvPicPr>
          <p:nvPr/>
        </p:nvPicPr>
        <p:blipFill>
          <a:blip r:embed="rId3"/>
          <a:stretch>
            <a:fillRect/>
          </a:stretch>
        </p:blipFill>
        <p:spPr>
          <a:xfrm>
            <a:off x="4494276" y="1801368"/>
            <a:ext cx="219456" cy="219456"/>
          </a:xfrm>
          <a:prstGeom prst="rect">
            <a:avLst/>
          </a:prstGeom>
        </p:spPr>
      </p:pic>
      <p:sp>
        <p:nvSpPr>
          <p:cNvPr id="18" name="TextBox 17"/>
          <p:cNvSpPr txBox="1"/>
          <p:nvPr/>
        </p:nvSpPr>
        <p:spPr>
          <a:xfrm>
            <a:off x="4823460" y="1737360"/>
            <a:ext cx="2880360" cy="347472"/>
          </a:xfrm>
          <a:prstGeom prst="rect">
            <a:avLst/>
          </a:prstGeom>
          <a:noFill/>
        </p:spPr>
        <p:txBody>
          <a:bodyPr wrap="square" lIns="18288" tIns="0" rIns="18288" bIns="0" anchor="ctr">
            <a:noAutofit/>
          </a:bodyPr>
          <a:lstStyle/>
          <a:p>
            <a:pPr algn="l"/>
            <a:r>
              <a:rPr sz="1050" b="1" i="0">
                <a:solidFill>
                  <a:srgbClr val="FFFFFF"/>
                </a:solidFill>
                <a:latin typeface="Aptos"/>
              </a:rPr>
              <a:t>PROCESS</a:t>
            </a:r>
          </a:p>
        </p:txBody>
      </p:sp>
      <p:sp>
        <p:nvSpPr>
          <p:cNvPr id="19" name="TextBox 18"/>
          <p:cNvSpPr txBox="1"/>
          <p:nvPr/>
        </p:nvSpPr>
        <p:spPr>
          <a:xfrm>
            <a:off x="4457700" y="2139696"/>
            <a:ext cx="3246120" cy="1252728"/>
          </a:xfrm>
          <a:prstGeom prst="rect">
            <a:avLst/>
          </a:prstGeom>
          <a:noFill/>
        </p:spPr>
        <p:txBody>
          <a:bodyPr wrap="square" lIns="54864" tIns="27432" rIns="54864" bIns="27432" anchor="t">
            <a:noAutofit/>
          </a:bodyPr>
          <a:lstStyle/>
          <a:p>
            <a:pPr marL="146304" indent="-146304" algn="l">
              <a:spcAft>
                <a:spcPts val="300"/>
              </a:spcAft>
              <a:buFont typeface="Arial"/>
              <a:buChar char="•"/>
            </a:pPr>
            <a:r>
              <a:rPr sz="850" b="1" i="0">
                <a:solidFill>
                  <a:srgbClr val="140C12"/>
                </a:solidFill>
                <a:latin typeface="Aptos"/>
              </a:rPr>
              <a:t>Script hint: </a:t>
            </a:r>
            <a:r>
              <a:rPr sz="850" b="0" i="0">
                <a:solidFill>
                  <a:srgbClr val="140C12"/>
                </a:solidFill>
                <a:latin typeface="Aptos"/>
              </a:rPr>
              <a:t>Latin-script Tamil (Tanglish) passed to the prompt; phone number masked</a:t>
            </a:r>
          </a:p>
          <a:p>
            <a:pPr marL="146304" indent="-146304" algn="l">
              <a:spcAft>
                <a:spcPts val="300"/>
              </a:spcAft>
              <a:buFont typeface="Arial"/>
              <a:buChar char="•"/>
            </a:pPr>
            <a:r>
              <a:rPr sz="850" b="1" i="0">
                <a:solidFill>
                  <a:srgbClr val="140C12"/>
                </a:solidFill>
                <a:latin typeface="Aptos"/>
              </a:rPr>
              <a:t>Gemma 3 4B (JSON schema): </a:t>
            </a:r>
            <a:r>
              <a:rPr sz="850" b="0" i="0">
                <a:solidFill>
                  <a:srgbClr val="140C12"/>
                </a:solidFill>
                <a:latin typeface="Aptos"/>
              </a:rPr>
              <a:t>health 0.95, Critical, evidence spans quoted verbatim</a:t>
            </a:r>
          </a:p>
          <a:p>
            <a:pPr marL="146304" indent="-146304" algn="l">
              <a:spcAft>
                <a:spcPts val="300"/>
              </a:spcAft>
              <a:buFont typeface="Arial"/>
              <a:buChar char="•"/>
            </a:pPr>
            <a:r>
              <a:rPr sz="850" b="1" i="0">
                <a:solidFill>
                  <a:srgbClr val="140C12"/>
                </a:solidFill>
                <a:latin typeface="Aptos"/>
              </a:rPr>
              <a:t>Rules: </a:t>
            </a:r>
            <a:r>
              <a:rPr sz="850" b="0" i="0">
                <a:solidFill>
                  <a:srgbClr val="140C12"/>
                </a:solidFill>
                <a:latin typeface="Aptos"/>
              </a:rPr>
              <a:t>R5 'thanni' → Water Supply; R10 children → Critical + forced review</a:t>
            </a:r>
          </a:p>
          <a:p>
            <a:pPr marL="146304" indent="-146304" algn="l">
              <a:spcAft>
                <a:spcPts val="300"/>
              </a:spcAft>
              <a:buFont typeface="Arial"/>
              <a:buChar char="•"/>
            </a:pPr>
            <a:r>
              <a:rPr sz="850" b="1" i="0">
                <a:solidFill>
                  <a:srgbClr val="140C12"/>
                </a:solidFill>
                <a:latin typeface="Aptos"/>
              </a:rPr>
              <a:t>bge-m3 + pgvector: </a:t>
            </a:r>
            <a:r>
              <a:rPr sz="850" b="0" i="0">
                <a:solidFill>
                  <a:srgbClr val="140C12"/>
                </a:solidFill>
                <a:latin typeface="Aptos"/>
              </a:rPr>
              <a:t>no duplicate; second opinion agrees on water</a:t>
            </a:r>
          </a:p>
        </p:txBody>
      </p:sp>
      <p:sp>
        <p:nvSpPr>
          <p:cNvPr id="20" name="Rounded Rectangle 19"/>
          <p:cNvSpPr/>
          <p:nvPr/>
        </p:nvSpPr>
        <p:spPr>
          <a:xfrm>
            <a:off x="8321040" y="1737360"/>
            <a:ext cx="3429000" cy="1691640"/>
          </a:xfrm>
          <a:prstGeom prst="roundRect">
            <a:avLst>
              <a:gd name="adj" fmla="val 6486"/>
            </a:avLst>
          </a:prstGeom>
          <a:solidFill>
            <a:srgbClr val="F6EFE0"/>
          </a:solidFill>
          <a:ln w="12700">
            <a:solidFill>
              <a:srgbClr val="B7791F"/>
            </a:solidFill>
          </a:ln>
          <a:effectLst/>
        </p:spPr>
        <p:txBody>
          <a:bodyPr rtlCol="0" anchor="ctr"/>
          <a:lstStyle/>
          <a:p>
            <a:pPr algn="ctr"/>
            <a:endParaRPr/>
          </a:p>
        </p:txBody>
      </p:sp>
      <p:sp>
        <p:nvSpPr>
          <p:cNvPr id="21" name="Rounded Rectangle 20"/>
          <p:cNvSpPr/>
          <p:nvPr/>
        </p:nvSpPr>
        <p:spPr>
          <a:xfrm>
            <a:off x="8321040" y="1737360"/>
            <a:ext cx="3429000" cy="347472"/>
          </a:xfrm>
          <a:prstGeom prst="roundRect">
            <a:avLst>
              <a:gd name="adj" fmla="val 31578"/>
            </a:avLst>
          </a:prstGeom>
          <a:solidFill>
            <a:srgbClr val="B7791F"/>
          </a:solidFill>
          <a:ln>
            <a:noFill/>
          </a:ln>
          <a:effectLst/>
        </p:spPr>
        <p:txBody>
          <a:bodyPr rtlCol="0" anchor="ctr"/>
          <a:lstStyle/>
          <a:p>
            <a:pPr algn="ctr"/>
            <a:endParaRPr/>
          </a:p>
        </p:txBody>
      </p:sp>
      <p:sp>
        <p:nvSpPr>
          <p:cNvPr id="22" name="Rectangle 21"/>
          <p:cNvSpPr/>
          <p:nvPr/>
        </p:nvSpPr>
        <p:spPr>
          <a:xfrm>
            <a:off x="8321040" y="1911095"/>
            <a:ext cx="3429000" cy="173736"/>
          </a:xfrm>
          <a:prstGeom prst="rect">
            <a:avLst/>
          </a:prstGeom>
          <a:solidFill>
            <a:srgbClr val="B7791F"/>
          </a:solidFill>
          <a:ln>
            <a:noFill/>
          </a:ln>
          <a:effectLst/>
        </p:spPr>
        <p:txBody>
          <a:bodyPr rtlCol="0" anchor="ctr"/>
          <a:lstStyle/>
          <a:p>
            <a:pPr algn="ctr"/>
            <a:endParaRPr/>
          </a:p>
        </p:txBody>
      </p:sp>
      <p:pic>
        <p:nvPicPr>
          <p:cNvPr id="23" name="Picture 22" descr="image28.png"/>
          <p:cNvPicPr>
            <a:picLocks noChangeAspect="1"/>
          </p:cNvPicPr>
          <p:nvPr/>
        </p:nvPicPr>
        <p:blipFill>
          <a:blip r:embed="rId4"/>
          <a:stretch>
            <a:fillRect/>
          </a:stretch>
        </p:blipFill>
        <p:spPr>
          <a:xfrm>
            <a:off x="8476488" y="1801368"/>
            <a:ext cx="164592" cy="219456"/>
          </a:xfrm>
          <a:prstGeom prst="rect">
            <a:avLst/>
          </a:prstGeom>
        </p:spPr>
      </p:pic>
      <p:sp>
        <p:nvSpPr>
          <p:cNvPr id="24" name="TextBox 23"/>
          <p:cNvSpPr txBox="1"/>
          <p:nvPr/>
        </p:nvSpPr>
        <p:spPr>
          <a:xfrm>
            <a:off x="8778240" y="1737360"/>
            <a:ext cx="2880360" cy="347472"/>
          </a:xfrm>
          <a:prstGeom prst="rect">
            <a:avLst/>
          </a:prstGeom>
          <a:noFill/>
        </p:spPr>
        <p:txBody>
          <a:bodyPr wrap="square" lIns="18288" tIns="0" rIns="18288" bIns="0" anchor="ctr">
            <a:noAutofit/>
          </a:bodyPr>
          <a:lstStyle/>
          <a:p>
            <a:pPr algn="l"/>
            <a:r>
              <a:rPr sz="1050" b="1" i="0">
                <a:solidFill>
                  <a:srgbClr val="FFFFFF"/>
                </a:solidFill>
                <a:latin typeface="Aptos"/>
              </a:rPr>
              <a:t>OUTPUT</a:t>
            </a:r>
          </a:p>
        </p:txBody>
      </p:sp>
      <p:sp>
        <p:nvSpPr>
          <p:cNvPr id="25" name="TextBox 24"/>
          <p:cNvSpPr txBox="1"/>
          <p:nvPr/>
        </p:nvSpPr>
        <p:spPr>
          <a:xfrm>
            <a:off x="8412480" y="2139696"/>
            <a:ext cx="3246120" cy="1252728"/>
          </a:xfrm>
          <a:prstGeom prst="rect">
            <a:avLst/>
          </a:prstGeom>
          <a:noFill/>
        </p:spPr>
        <p:txBody>
          <a:bodyPr wrap="square" lIns="54864" tIns="27432" rIns="54864" bIns="27432" anchor="t">
            <a:noAutofit/>
          </a:bodyPr>
          <a:lstStyle/>
          <a:p>
            <a:pPr marL="146304" indent="-146304" algn="l">
              <a:spcAft>
                <a:spcPts val="300"/>
              </a:spcAft>
              <a:buFont typeface="Arial"/>
              <a:buChar char="•"/>
            </a:pPr>
            <a:r>
              <a:rPr sz="850" b="1" i="0">
                <a:solidFill>
                  <a:srgbClr val="140C12"/>
                </a:solidFill>
                <a:latin typeface="Aptos"/>
              </a:rPr>
              <a:t>Water Supply · Critical · human review </a:t>
            </a:r>
            <a:r>
              <a:rPr sz="850" b="0" i="0">
                <a:solidFill>
                  <a:srgbClr val="140C12"/>
                </a:solidFill>
                <a:latin typeface="Aptos"/>
              </a:rPr>
              <a:t>(rule disagreement + Critical)</a:t>
            </a:r>
          </a:p>
          <a:p>
            <a:pPr marL="146304" indent="-146304" algn="l">
              <a:spcAft>
                <a:spcPts val="300"/>
              </a:spcAft>
              <a:buFont typeface="Arial"/>
              <a:buChar char="•"/>
            </a:pPr>
            <a:r>
              <a:rPr sz="850" b="1" i="0">
                <a:solidFill>
                  <a:srgbClr val="140C12"/>
                </a:solidFill>
                <a:latin typeface="Aptos"/>
              </a:rPr>
              <a:t>Coimbatore Water Supply office, </a:t>
            </a:r>
            <a:r>
              <a:rPr sz="850" b="0" i="0">
                <a:solidFill>
                  <a:srgbClr val="140C12"/>
                </a:solidFill>
                <a:latin typeface="Aptos"/>
              </a:rPr>
              <a:t>due in 6 h (SLA × 0.25 for Critical)</a:t>
            </a:r>
          </a:p>
          <a:p>
            <a:pPr marL="146304" indent="-146304" algn="l">
              <a:spcAft>
                <a:spcPts val="300"/>
              </a:spcAft>
              <a:buFont typeface="Arial"/>
              <a:buChar char="•"/>
            </a:pPr>
            <a:r>
              <a:rPr sz="850" b="1" i="0">
                <a:solidFill>
                  <a:srgbClr val="140C12"/>
                </a:solidFill>
                <a:latin typeface="Aptos"/>
              </a:rPr>
              <a:t>Evidence: </a:t>
            </a:r>
            <a:r>
              <a:rPr sz="850" b="0" i="0">
                <a:solidFill>
                  <a:srgbClr val="140C12"/>
                </a:solidFill>
                <a:latin typeface="Aptos"/>
              </a:rPr>
              <a:t>"thanni 3 days ah varala", "2 kids vomiting"</a:t>
            </a:r>
          </a:p>
          <a:p>
            <a:pPr marL="146304" indent="-146304" algn="l">
              <a:spcAft>
                <a:spcPts val="300"/>
              </a:spcAft>
              <a:buFont typeface="Arial"/>
              <a:buChar char="•"/>
            </a:pPr>
            <a:r>
              <a:rPr sz="850" b="1" i="0">
                <a:solidFill>
                  <a:srgbClr val="140C12"/>
                </a:solidFill>
                <a:latin typeface="Aptos"/>
              </a:rPr>
              <a:t>4 Tamil emails; </a:t>
            </a:r>
            <a:r>
              <a:rPr sz="850" b="0" i="0">
                <a:solidFill>
                  <a:srgbClr val="140C12"/>
                </a:solidFill>
                <a:latin typeface="Aptos"/>
              </a:rPr>
              <a:t>officer sees the phone, citizen sees it masked; 28 s end to end</a:t>
            </a:r>
          </a:p>
        </p:txBody>
      </p:sp>
      <p:cxnSp>
        <p:nvCxnSpPr>
          <p:cNvPr id="26" name="Connector 25"/>
          <p:cNvCxnSpPr/>
          <p:nvPr/>
        </p:nvCxnSpPr>
        <p:spPr>
          <a:xfrm>
            <a:off x="3913632" y="2583180"/>
            <a:ext cx="379476" cy="0"/>
          </a:xfrm>
          <a:prstGeom prst="line">
            <a:avLst/>
          </a:prstGeom>
          <a:ln w="25400">
            <a:solidFill>
              <a:srgbClr val="3A3335"/>
            </a:solidFill>
            <a:tailEnd type="triangle" w="med" len="med"/>
          </a:ln>
        </p:spPr>
      </p:cxnSp>
      <p:cxnSp>
        <p:nvCxnSpPr>
          <p:cNvPr id="27" name="Connector 26"/>
          <p:cNvCxnSpPr/>
          <p:nvPr/>
        </p:nvCxnSpPr>
        <p:spPr>
          <a:xfrm>
            <a:off x="7868412" y="2583180"/>
            <a:ext cx="379476" cy="0"/>
          </a:xfrm>
          <a:prstGeom prst="line">
            <a:avLst/>
          </a:prstGeom>
          <a:ln w="25400">
            <a:solidFill>
              <a:srgbClr val="3A3335"/>
            </a:solidFill>
            <a:tailEnd type="triangle" w="med" len="med"/>
          </a:ln>
        </p:spPr>
      </p:cxnSp>
      <p:sp>
        <p:nvSpPr>
          <p:cNvPr id="28" name="Rounded Rectangle 27"/>
          <p:cNvSpPr/>
          <p:nvPr/>
        </p:nvSpPr>
        <p:spPr>
          <a:xfrm>
            <a:off x="411480" y="3566160"/>
            <a:ext cx="11338560" cy="502920"/>
          </a:xfrm>
          <a:prstGeom prst="roundRect">
            <a:avLst>
              <a:gd name="adj" fmla="val 14545"/>
            </a:avLst>
          </a:prstGeom>
          <a:solidFill>
            <a:srgbClr val="F3EDE3"/>
          </a:solidFill>
          <a:ln w="9525">
            <a:solidFill>
              <a:srgbClr val="E3DBCF"/>
            </a:solidFill>
          </a:ln>
          <a:effectLst/>
        </p:spPr>
        <p:txBody>
          <a:bodyPr rtlCol="0" anchor="ctr"/>
          <a:lstStyle/>
          <a:p>
            <a:pPr algn="ctr"/>
            <a:endParaRPr/>
          </a:p>
        </p:txBody>
      </p:sp>
      <p:sp>
        <p:nvSpPr>
          <p:cNvPr id="29" name="Oval 28"/>
          <p:cNvSpPr/>
          <p:nvPr/>
        </p:nvSpPr>
        <p:spPr>
          <a:xfrm>
            <a:off x="502920" y="3698748"/>
            <a:ext cx="237744" cy="237744"/>
          </a:xfrm>
          <a:prstGeom prst="ellipse">
            <a:avLst/>
          </a:prstGeom>
          <a:solidFill>
            <a:srgbClr val="E0262D"/>
          </a:solidFill>
          <a:ln>
            <a:noFill/>
          </a:ln>
          <a:effectLst/>
        </p:spPr>
        <p:txBody>
          <a:bodyPr rtlCol="0" anchor="ctr"/>
          <a:lstStyle/>
          <a:p>
            <a:pPr algn="ctr"/>
            <a:endParaRPr/>
          </a:p>
        </p:txBody>
      </p:sp>
      <p:sp>
        <p:nvSpPr>
          <p:cNvPr id="30" name="TextBox 29"/>
          <p:cNvSpPr txBox="1"/>
          <p:nvPr/>
        </p:nvSpPr>
        <p:spPr>
          <a:xfrm>
            <a:off x="502920" y="3698748"/>
            <a:ext cx="237744" cy="237744"/>
          </a:xfrm>
          <a:prstGeom prst="rect">
            <a:avLst/>
          </a:prstGeom>
          <a:noFill/>
        </p:spPr>
        <p:txBody>
          <a:bodyPr wrap="square" lIns="0" tIns="0" rIns="0" bIns="0" anchor="ctr">
            <a:noAutofit/>
          </a:bodyPr>
          <a:lstStyle/>
          <a:p>
            <a:pPr algn="ctr"/>
            <a:r>
              <a:rPr sz="750" b="1" i="0">
                <a:solidFill>
                  <a:srgbClr val="FFFFFF"/>
                </a:solidFill>
                <a:latin typeface="Aptos"/>
              </a:rPr>
              <a:t>01</a:t>
            </a:r>
          </a:p>
        </p:txBody>
      </p:sp>
      <p:sp>
        <p:nvSpPr>
          <p:cNvPr id="31" name="TextBox 30"/>
          <p:cNvSpPr txBox="1"/>
          <p:nvPr/>
        </p:nvSpPr>
        <p:spPr>
          <a:xfrm>
            <a:off x="813816" y="3566160"/>
            <a:ext cx="10844784" cy="502920"/>
          </a:xfrm>
          <a:prstGeom prst="rect">
            <a:avLst/>
          </a:prstGeom>
          <a:noFill/>
        </p:spPr>
        <p:txBody>
          <a:bodyPr wrap="square" lIns="18288" tIns="9144" rIns="36576" bIns="9144" anchor="ctr">
            <a:noAutofit/>
          </a:bodyPr>
          <a:lstStyle/>
          <a:p>
            <a:pPr algn="l"/>
            <a:r>
              <a:rPr sz="950" b="1" i="0">
                <a:solidFill>
                  <a:srgbClr val="9B1C24"/>
                </a:solidFill>
                <a:latin typeface="Aptos"/>
              </a:rPr>
              <a:t>Test scenario: </a:t>
            </a:r>
            <a:r>
              <a:rPr sz="950" b="0" i="0">
                <a:solidFill>
                  <a:srgbClr val="140C12"/>
                </a:solidFill>
                <a:latin typeface="Aptos"/>
              </a:rPr>
              <a:t>a Tanglish water-outage complaint mentioning sick children, GPS location, no photo, filed from the Vindex web app by a verified citizen (case 5 of the 118-check end-to-end suite).</a:t>
            </a:r>
          </a:p>
        </p:txBody>
      </p:sp>
      <p:sp>
        <p:nvSpPr>
          <p:cNvPr id="32" name="Rounded Rectangle 31"/>
          <p:cNvSpPr/>
          <p:nvPr/>
        </p:nvSpPr>
        <p:spPr>
          <a:xfrm>
            <a:off x="411480" y="4178808"/>
            <a:ext cx="11338560" cy="502920"/>
          </a:xfrm>
          <a:prstGeom prst="roundRect">
            <a:avLst>
              <a:gd name="adj" fmla="val 14545"/>
            </a:avLst>
          </a:prstGeom>
          <a:solidFill>
            <a:srgbClr val="F3EDE3"/>
          </a:solidFill>
          <a:ln w="9525">
            <a:solidFill>
              <a:srgbClr val="D9CDBB"/>
            </a:solidFill>
          </a:ln>
          <a:effectLst/>
        </p:spPr>
        <p:txBody>
          <a:bodyPr rtlCol="0" anchor="ctr"/>
          <a:lstStyle/>
          <a:p>
            <a:pPr algn="ctr"/>
            <a:endParaRPr/>
          </a:p>
        </p:txBody>
      </p:sp>
      <p:sp>
        <p:nvSpPr>
          <p:cNvPr id="33" name="Oval 32"/>
          <p:cNvSpPr/>
          <p:nvPr/>
        </p:nvSpPr>
        <p:spPr>
          <a:xfrm>
            <a:off x="502920" y="4311396"/>
            <a:ext cx="237744" cy="237744"/>
          </a:xfrm>
          <a:prstGeom prst="ellipse">
            <a:avLst/>
          </a:prstGeom>
          <a:solidFill>
            <a:srgbClr val="3A3335"/>
          </a:solidFill>
          <a:ln>
            <a:noFill/>
          </a:ln>
          <a:effectLst/>
        </p:spPr>
        <p:txBody>
          <a:bodyPr rtlCol="0" anchor="ctr"/>
          <a:lstStyle/>
          <a:p>
            <a:pPr algn="ctr"/>
            <a:endParaRPr/>
          </a:p>
        </p:txBody>
      </p:sp>
      <p:sp>
        <p:nvSpPr>
          <p:cNvPr id="34" name="TextBox 33"/>
          <p:cNvSpPr txBox="1"/>
          <p:nvPr/>
        </p:nvSpPr>
        <p:spPr>
          <a:xfrm>
            <a:off x="502920" y="4311396"/>
            <a:ext cx="237744" cy="237744"/>
          </a:xfrm>
          <a:prstGeom prst="rect">
            <a:avLst/>
          </a:prstGeom>
          <a:noFill/>
        </p:spPr>
        <p:txBody>
          <a:bodyPr wrap="square" lIns="0" tIns="0" rIns="0" bIns="0" anchor="ctr">
            <a:noAutofit/>
          </a:bodyPr>
          <a:lstStyle/>
          <a:p>
            <a:pPr algn="ctr"/>
            <a:r>
              <a:rPr sz="750" b="1" i="0">
                <a:solidFill>
                  <a:srgbClr val="FFFFFF"/>
                </a:solidFill>
                <a:latin typeface="Aptos"/>
              </a:rPr>
              <a:t>02</a:t>
            </a:r>
          </a:p>
        </p:txBody>
      </p:sp>
      <p:sp>
        <p:nvSpPr>
          <p:cNvPr id="35" name="TextBox 34"/>
          <p:cNvSpPr txBox="1"/>
          <p:nvPr/>
        </p:nvSpPr>
        <p:spPr>
          <a:xfrm>
            <a:off x="813816" y="4178808"/>
            <a:ext cx="10844784" cy="502920"/>
          </a:xfrm>
          <a:prstGeom prst="rect">
            <a:avLst/>
          </a:prstGeom>
          <a:noFill/>
        </p:spPr>
        <p:txBody>
          <a:bodyPr wrap="square" lIns="18288" tIns="9144" rIns="36576" bIns="9144" anchor="ctr">
            <a:noAutofit/>
          </a:bodyPr>
          <a:lstStyle/>
          <a:p>
            <a:pPr algn="l"/>
            <a:r>
              <a:rPr sz="950" b="1" i="0">
                <a:solidFill>
                  <a:srgbClr val="3A3335"/>
                </a:solidFill>
                <a:latin typeface="Aptos"/>
              </a:rPr>
              <a:t>Expected output: </a:t>
            </a:r>
            <a:r>
              <a:rPr sz="950" b="0" i="0">
                <a:solidFill>
                  <a:srgbClr val="140C12"/>
                </a:solidFill>
                <a:latin typeface="Aptos"/>
              </a:rPr>
              <a:t>language ta+en, Water Supply, Critical, evidence quoted from the original text, human review, district office with due time, Tamil status emails.</a:t>
            </a:r>
          </a:p>
        </p:txBody>
      </p:sp>
      <p:sp>
        <p:nvSpPr>
          <p:cNvPr id="36" name="Rounded Rectangle 35"/>
          <p:cNvSpPr/>
          <p:nvPr/>
        </p:nvSpPr>
        <p:spPr>
          <a:xfrm>
            <a:off x="411480" y="4791456"/>
            <a:ext cx="11338560" cy="777240"/>
          </a:xfrm>
          <a:prstGeom prst="roundRect">
            <a:avLst>
              <a:gd name="adj" fmla="val 9411"/>
            </a:avLst>
          </a:prstGeom>
          <a:solidFill>
            <a:srgbClr val="FFF4D6"/>
          </a:solidFill>
          <a:ln w="9525">
            <a:solidFill>
              <a:srgbClr val="F1D27A"/>
            </a:solidFill>
          </a:ln>
          <a:effectLst/>
        </p:spPr>
        <p:txBody>
          <a:bodyPr rtlCol="0" anchor="ctr"/>
          <a:lstStyle/>
          <a:p>
            <a:pPr algn="ctr"/>
            <a:endParaRPr/>
          </a:p>
        </p:txBody>
      </p:sp>
      <p:sp>
        <p:nvSpPr>
          <p:cNvPr id="37" name="Oval 36"/>
          <p:cNvSpPr/>
          <p:nvPr/>
        </p:nvSpPr>
        <p:spPr>
          <a:xfrm>
            <a:off x="502920" y="5061204"/>
            <a:ext cx="237744" cy="237744"/>
          </a:xfrm>
          <a:prstGeom prst="ellipse">
            <a:avLst/>
          </a:prstGeom>
          <a:solidFill>
            <a:srgbClr val="B7791F"/>
          </a:solidFill>
          <a:ln>
            <a:noFill/>
          </a:ln>
          <a:effectLst/>
        </p:spPr>
        <p:txBody>
          <a:bodyPr rtlCol="0" anchor="ctr"/>
          <a:lstStyle/>
          <a:p>
            <a:pPr algn="ctr"/>
            <a:endParaRPr/>
          </a:p>
        </p:txBody>
      </p:sp>
      <p:sp>
        <p:nvSpPr>
          <p:cNvPr id="38" name="TextBox 37"/>
          <p:cNvSpPr txBox="1"/>
          <p:nvPr/>
        </p:nvSpPr>
        <p:spPr>
          <a:xfrm>
            <a:off x="502920" y="5061204"/>
            <a:ext cx="237744" cy="237744"/>
          </a:xfrm>
          <a:prstGeom prst="rect">
            <a:avLst/>
          </a:prstGeom>
          <a:noFill/>
        </p:spPr>
        <p:txBody>
          <a:bodyPr wrap="square" lIns="0" tIns="0" rIns="0" bIns="0" anchor="ctr">
            <a:noAutofit/>
          </a:bodyPr>
          <a:lstStyle/>
          <a:p>
            <a:pPr algn="ctr"/>
            <a:r>
              <a:rPr sz="750" b="1" i="0">
                <a:solidFill>
                  <a:srgbClr val="FFFFFF"/>
                </a:solidFill>
                <a:latin typeface="Aptos"/>
              </a:rPr>
              <a:t>03</a:t>
            </a:r>
          </a:p>
        </p:txBody>
      </p:sp>
      <p:sp>
        <p:nvSpPr>
          <p:cNvPr id="39" name="TextBox 38"/>
          <p:cNvSpPr txBox="1"/>
          <p:nvPr/>
        </p:nvSpPr>
        <p:spPr>
          <a:xfrm>
            <a:off x="813816" y="4791456"/>
            <a:ext cx="10844784" cy="777240"/>
          </a:xfrm>
          <a:prstGeom prst="rect">
            <a:avLst/>
          </a:prstGeom>
          <a:noFill/>
        </p:spPr>
        <p:txBody>
          <a:bodyPr wrap="square" lIns="18288" tIns="9144" rIns="36576" bIns="9144" anchor="ctr">
            <a:noAutofit/>
          </a:bodyPr>
          <a:lstStyle/>
          <a:p>
            <a:pPr algn="l"/>
            <a:r>
              <a:rPr sz="950" b="1" i="0">
                <a:solidFill>
                  <a:srgbClr val="7A5C2E"/>
                </a:solidFill>
                <a:latin typeface="Aptos"/>
              </a:rPr>
              <a:t>Actual output / evidence: </a:t>
            </a:r>
            <a:r>
              <a:rPr sz="950" b="0" i="0">
                <a:solidFill>
                  <a:srgbClr val="140C12"/>
                </a:solidFill>
                <a:latin typeface="Aptos"/>
              </a:rPr>
              <a:t>model said health 0.95; rule R5 (thanni) overrode to Water Supply; R10 (children) + Critical forced review; office Coimbatore Water Supply, SLA 6 h; phone masked for the citizen, visible to the officer; 4 Tamil emails in Mailpit; 28 s end to end. Whole suite: 118 of 118 checks pass; gold set with rules: department 100%, Critical recall 100%, language ID 92%.</a:t>
            </a:r>
          </a:p>
        </p:txBody>
      </p:sp>
      <p:sp>
        <p:nvSpPr>
          <p:cNvPr id="40" name="TextBox 39"/>
          <p:cNvSpPr txBox="1"/>
          <p:nvPr/>
        </p:nvSpPr>
        <p:spPr>
          <a:xfrm>
            <a:off x="411480" y="5760720"/>
            <a:ext cx="1005840" cy="365760"/>
          </a:xfrm>
          <a:prstGeom prst="rect">
            <a:avLst/>
          </a:prstGeom>
          <a:noFill/>
        </p:spPr>
        <p:txBody>
          <a:bodyPr wrap="square" lIns="18288" tIns="0" rIns="18288" bIns="0" anchor="ctr">
            <a:noAutofit/>
          </a:bodyPr>
          <a:lstStyle/>
          <a:p>
            <a:pPr algn="l"/>
            <a:r>
              <a:rPr sz="950" b="1" i="0">
                <a:solidFill>
                  <a:srgbClr val="3A3335"/>
                </a:solidFill>
                <a:latin typeface="Aptos"/>
              </a:rPr>
              <a:t>Demo links</a:t>
            </a:r>
          </a:p>
        </p:txBody>
      </p:sp>
      <p:sp>
        <p:nvSpPr>
          <p:cNvPr id="41" name="Rounded Rectangle 40"/>
          <p:cNvSpPr/>
          <p:nvPr/>
        </p:nvSpPr>
        <p:spPr>
          <a:xfrm>
            <a:off x="1417320" y="5779008"/>
            <a:ext cx="1600200" cy="329184"/>
          </a:xfrm>
          <a:prstGeom prst="roundRect">
            <a:avLst>
              <a:gd name="adj" fmla="val 50000"/>
            </a:avLst>
          </a:prstGeom>
          <a:solidFill>
            <a:srgbClr val="3A3335"/>
          </a:solidFill>
          <a:ln>
            <a:noFill/>
          </a:ln>
          <a:effectLst/>
        </p:spPr>
        <p:txBody>
          <a:bodyPr rtlCol="0" anchor="ctr"/>
          <a:lstStyle/>
          <a:p>
            <a:pPr algn="ctr"/>
            <a:endParaRPr/>
          </a:p>
        </p:txBody>
      </p:sp>
      <p:sp>
        <p:nvSpPr>
          <p:cNvPr id="42" name="TextBox 41"/>
          <p:cNvSpPr txBox="1"/>
          <p:nvPr/>
        </p:nvSpPr>
        <p:spPr>
          <a:xfrm>
            <a:off x="1417320" y="5779008"/>
            <a:ext cx="1600200" cy="329184"/>
          </a:xfrm>
          <a:prstGeom prst="rect">
            <a:avLst/>
          </a:prstGeom>
          <a:noFill/>
        </p:spPr>
        <p:txBody>
          <a:bodyPr wrap="square" lIns="18288" tIns="0" rIns="18288" bIns="0" anchor="ctr">
            <a:noAutofit/>
          </a:bodyPr>
          <a:lstStyle/>
          <a:p>
            <a:pPr algn="ctr"/>
            <a:r>
              <a:rPr sz="850" b="1" i="0">
                <a:solidFill>
                  <a:srgbClr val="FFFFFF"/>
                </a:solidFill>
                <a:latin typeface="Aptos"/>
              </a:rPr>
              <a:t>App  ·  localhost:5173</a:t>
            </a:r>
          </a:p>
        </p:txBody>
      </p:sp>
      <p:sp>
        <p:nvSpPr>
          <p:cNvPr id="43" name="Rounded Rectangle 42"/>
          <p:cNvSpPr/>
          <p:nvPr/>
        </p:nvSpPr>
        <p:spPr>
          <a:xfrm>
            <a:off x="3127248" y="5779008"/>
            <a:ext cx="2103120" cy="329184"/>
          </a:xfrm>
          <a:prstGeom prst="roundRect">
            <a:avLst>
              <a:gd name="adj" fmla="val 50000"/>
            </a:avLst>
          </a:prstGeom>
          <a:solidFill>
            <a:srgbClr val="E0262D"/>
          </a:solidFill>
          <a:ln>
            <a:noFill/>
          </a:ln>
          <a:effectLst/>
        </p:spPr>
        <p:txBody>
          <a:bodyPr rtlCol="0" anchor="ctr"/>
          <a:lstStyle/>
          <a:p>
            <a:pPr algn="ctr"/>
            <a:endParaRPr/>
          </a:p>
        </p:txBody>
      </p:sp>
      <p:sp>
        <p:nvSpPr>
          <p:cNvPr id="44" name="TextBox 43"/>
          <p:cNvSpPr txBox="1"/>
          <p:nvPr/>
        </p:nvSpPr>
        <p:spPr>
          <a:xfrm>
            <a:off x="3127248" y="5779008"/>
            <a:ext cx="2103120" cy="329184"/>
          </a:xfrm>
          <a:prstGeom prst="rect">
            <a:avLst/>
          </a:prstGeom>
          <a:noFill/>
        </p:spPr>
        <p:txBody>
          <a:bodyPr wrap="square" lIns="18288" tIns="0" rIns="18288" bIns="0" anchor="ctr">
            <a:noAutofit/>
          </a:bodyPr>
          <a:lstStyle/>
          <a:p>
            <a:pPr algn="ctr"/>
            <a:r>
              <a:rPr sz="850" b="1" i="0">
                <a:solidFill>
                  <a:srgbClr val="FFFFFF"/>
                </a:solidFill>
                <a:latin typeface="Aptos"/>
              </a:rPr>
              <a:t>API docs  ·  localhost:8000/docs</a:t>
            </a:r>
          </a:p>
        </p:txBody>
      </p:sp>
      <p:sp>
        <p:nvSpPr>
          <p:cNvPr id="45" name="Rounded Rectangle 44"/>
          <p:cNvSpPr/>
          <p:nvPr/>
        </p:nvSpPr>
        <p:spPr>
          <a:xfrm>
            <a:off x="5340096" y="5779008"/>
            <a:ext cx="1600200" cy="329184"/>
          </a:xfrm>
          <a:prstGeom prst="roundRect">
            <a:avLst>
              <a:gd name="adj" fmla="val 50000"/>
            </a:avLst>
          </a:prstGeom>
          <a:solidFill>
            <a:srgbClr val="7A5C2E"/>
          </a:solidFill>
          <a:ln>
            <a:noFill/>
          </a:ln>
          <a:effectLst/>
        </p:spPr>
        <p:txBody>
          <a:bodyPr rtlCol="0" anchor="ctr"/>
          <a:lstStyle/>
          <a:p>
            <a:pPr algn="ctr"/>
            <a:endParaRPr/>
          </a:p>
        </p:txBody>
      </p:sp>
      <p:sp>
        <p:nvSpPr>
          <p:cNvPr id="46" name="TextBox 45"/>
          <p:cNvSpPr txBox="1"/>
          <p:nvPr/>
        </p:nvSpPr>
        <p:spPr>
          <a:xfrm>
            <a:off x="5340096" y="5779008"/>
            <a:ext cx="1600200" cy="329184"/>
          </a:xfrm>
          <a:prstGeom prst="rect">
            <a:avLst/>
          </a:prstGeom>
          <a:noFill/>
        </p:spPr>
        <p:txBody>
          <a:bodyPr wrap="square" lIns="18288" tIns="0" rIns="18288" bIns="0" anchor="ctr">
            <a:noAutofit/>
          </a:bodyPr>
          <a:lstStyle/>
          <a:p>
            <a:pPr algn="ctr"/>
            <a:r>
              <a:rPr sz="850" b="1" i="0">
                <a:solidFill>
                  <a:srgbClr val="FFFFFF"/>
                </a:solidFill>
                <a:latin typeface="Aptos"/>
              </a:rPr>
              <a:t>Mail  ·  localhost:8025</a:t>
            </a:r>
          </a:p>
        </p:txBody>
      </p:sp>
      <p:sp>
        <p:nvSpPr>
          <p:cNvPr id="47" name="Rounded Rectangle 46"/>
          <p:cNvSpPr/>
          <p:nvPr/>
        </p:nvSpPr>
        <p:spPr>
          <a:xfrm>
            <a:off x="7050024" y="5779008"/>
            <a:ext cx="4700016" cy="329184"/>
          </a:xfrm>
          <a:prstGeom prst="roundRect">
            <a:avLst>
              <a:gd name="adj" fmla="val 50000"/>
            </a:avLst>
          </a:prstGeom>
          <a:solidFill>
            <a:srgbClr val="3A3335"/>
          </a:solidFill>
          <a:ln>
            <a:noFill/>
          </a:ln>
          <a:effectLst/>
        </p:spPr>
        <p:txBody>
          <a:bodyPr rtlCol="0" anchor="ctr"/>
          <a:lstStyle/>
          <a:p>
            <a:pPr algn="ctr"/>
            <a:endParaRPr/>
          </a:p>
        </p:txBody>
      </p:sp>
      <p:pic>
        <p:nvPicPr>
          <p:cNvPr id="48" name="Picture 47" descr="image40.png"/>
          <p:cNvPicPr>
            <a:picLocks noChangeAspect="1"/>
          </p:cNvPicPr>
          <p:nvPr/>
        </p:nvPicPr>
        <p:blipFill>
          <a:blip r:embed="rId5"/>
          <a:stretch>
            <a:fillRect/>
          </a:stretch>
        </p:blipFill>
        <p:spPr>
          <a:xfrm>
            <a:off x="7159752" y="5843016"/>
            <a:ext cx="201168" cy="201168"/>
          </a:xfrm>
          <a:prstGeom prst="rect">
            <a:avLst/>
          </a:prstGeom>
        </p:spPr>
      </p:pic>
      <p:sp>
        <p:nvSpPr>
          <p:cNvPr id="49" name="TextBox 48"/>
          <p:cNvSpPr txBox="1"/>
          <p:nvPr/>
        </p:nvSpPr>
        <p:spPr>
          <a:xfrm>
            <a:off x="7397496" y="5779008"/>
            <a:ext cx="4315968" cy="329184"/>
          </a:xfrm>
          <a:prstGeom prst="rect">
            <a:avLst/>
          </a:prstGeom>
          <a:noFill/>
        </p:spPr>
        <p:txBody>
          <a:bodyPr wrap="square" lIns="18288" tIns="0" rIns="18288" bIns="0" anchor="ctr">
            <a:noAutofit/>
          </a:bodyPr>
          <a:lstStyle/>
          <a:p>
            <a:pPr algn="l"/>
            <a:r>
              <a:rPr sz="750" b="1" i="0">
                <a:solidFill>
                  <a:srgbClr val="FFFFFF"/>
                </a:solidFill>
                <a:latin typeface="Aptos"/>
              </a:rPr>
              <a:t>GitHub  ·  github.com/Balavigneshcse/AI_Grievance_Redressal_Prioritization_System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4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E0262D"/>
          </a:solidFill>
          <a:ln>
            <a:solidFill>
              <a:srgbClr val="E0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56032"/>
            <a:ext cx="8046720" cy="274320"/>
          </a:xfrm>
          <a:prstGeom prst="rect">
            <a:avLst/>
          </a:prstGeom>
          <a:noFill/>
        </p:spPr>
        <p:txBody>
          <a:bodyPr wrap="none" lIns="54864" tIns="54864" rIns="54864" bIns="54864" anchor="t">
            <a:spAutoFit/>
          </a:bodyPr>
          <a:lstStyle/>
          <a:p>
            <a:pPr algn="l">
              <a:defRPr sz="1000" b="1" i="0">
                <a:solidFill>
                  <a:srgbClr val="E0262D"/>
                </a:solidFill>
                <a:latin typeface="Aptos"/>
              </a:defRPr>
            </a:pPr>
            <a:r>
              <a:t>SYNAPSE '26  |  24-HOUR HACKATHON</a:t>
            </a:r>
          </a:p>
        </p:txBody>
      </p:sp>
      <p:sp>
        <p:nvSpPr>
          <p:cNvPr id="4" name="TextBox 3"/>
          <p:cNvSpPr txBox="1"/>
          <p:nvPr/>
        </p:nvSpPr>
        <p:spPr>
          <a:xfrm>
            <a:off x="411480" y="594360"/>
            <a:ext cx="11155680" cy="502920"/>
          </a:xfrm>
          <a:prstGeom prst="rect">
            <a:avLst/>
          </a:prstGeom>
          <a:noFill/>
        </p:spPr>
        <p:txBody>
          <a:bodyPr wrap="none" lIns="54864" tIns="54864" rIns="54864" bIns="54864" anchor="t">
            <a:spAutoFit/>
          </a:bodyPr>
          <a:lstStyle/>
          <a:p>
            <a:pPr algn="l">
              <a:defRPr sz="2500" b="1" i="0">
                <a:solidFill>
                  <a:srgbClr val="140C12"/>
                </a:solidFill>
                <a:latin typeface="Aptos"/>
              </a:defRPr>
            </a:pPr>
            <a:r>
              <a:t>INNOVATION, FEASIBILITY &amp; IMPACT</a:t>
            </a:r>
          </a:p>
        </p:txBody>
      </p:sp>
      <p:sp>
        <p:nvSpPr>
          <p:cNvPr id="6" name="TextBox 5"/>
          <p:cNvSpPr txBox="1"/>
          <p:nvPr/>
        </p:nvSpPr>
        <p:spPr>
          <a:xfrm>
            <a:off x="7589520" y="6510528"/>
            <a:ext cx="4160520" cy="182880"/>
          </a:xfrm>
          <a:prstGeom prst="rect">
            <a:avLst/>
          </a:prstGeom>
          <a:noFill/>
        </p:spPr>
        <p:txBody>
          <a:bodyPr wrap="none" lIns="54864" tIns="54864" rIns="54864" bIns="54864" anchor="t">
            <a:spAutoFit/>
          </a:bodyPr>
          <a:lstStyle/>
          <a:p>
            <a:pPr algn="r">
              <a:defRPr sz="800" b="0" i="0">
                <a:solidFill>
                  <a:srgbClr val="5A5555"/>
                </a:solidFill>
                <a:latin typeface="Aptos"/>
              </a:defRPr>
            </a:pPr>
            <a:r>
              <a:t>V.S.B. Engineering College  •  13</a:t>
            </a:r>
          </a:p>
        </p:txBody>
      </p:sp>
      <p:sp>
        <p:nvSpPr>
          <p:cNvPr id="7" name="Rounded Rectangle 6"/>
          <p:cNvSpPr/>
          <p:nvPr/>
        </p:nvSpPr>
        <p:spPr>
          <a:xfrm>
            <a:off x="411480" y="1371600"/>
            <a:ext cx="1417320" cy="1234440"/>
          </a:xfrm>
          <a:prstGeom prst="roundRect">
            <a:avLst>
              <a:gd name="adj" fmla="val 8888"/>
            </a:avLst>
          </a:prstGeom>
          <a:solidFill>
            <a:srgbClr val="3A3335"/>
          </a:solidFill>
          <a:ln>
            <a:noFill/>
          </a:ln>
          <a:effectLst/>
        </p:spPr>
        <p:txBody>
          <a:bodyPr rtlCol="0" anchor="ctr"/>
          <a:lstStyle/>
          <a:p>
            <a:pPr algn="ctr"/>
            <a:endParaRPr/>
          </a:p>
        </p:txBody>
      </p:sp>
      <p:pic>
        <p:nvPicPr>
          <p:cNvPr id="8" name="Picture 7" descr="image9.png"/>
          <p:cNvPicPr>
            <a:picLocks noChangeAspect="1"/>
          </p:cNvPicPr>
          <p:nvPr/>
        </p:nvPicPr>
        <p:blipFill>
          <a:blip r:embed="rId2"/>
          <a:stretch>
            <a:fillRect/>
          </a:stretch>
        </p:blipFill>
        <p:spPr>
          <a:xfrm>
            <a:off x="868680" y="1444752"/>
            <a:ext cx="502920" cy="502920"/>
          </a:xfrm>
          <a:prstGeom prst="rect">
            <a:avLst/>
          </a:prstGeom>
        </p:spPr>
      </p:pic>
      <p:sp>
        <p:nvSpPr>
          <p:cNvPr id="9" name="TextBox 8"/>
          <p:cNvSpPr txBox="1"/>
          <p:nvPr/>
        </p:nvSpPr>
        <p:spPr>
          <a:xfrm>
            <a:off x="411480" y="1965960"/>
            <a:ext cx="1417320" cy="594360"/>
          </a:xfrm>
          <a:prstGeom prst="rect">
            <a:avLst/>
          </a:prstGeom>
          <a:noFill/>
        </p:spPr>
        <p:txBody>
          <a:bodyPr wrap="square" lIns="18288" tIns="0" rIns="18288" bIns="0" anchor="t">
            <a:noAutofit/>
          </a:bodyPr>
          <a:lstStyle/>
          <a:p>
            <a:pPr algn="ctr"/>
            <a:r>
              <a:rPr sz="1000" b="1" i="0">
                <a:solidFill>
                  <a:srgbClr val="FFFFFF"/>
                </a:solidFill>
                <a:latin typeface="Aptos"/>
              </a:rPr>
              <a:t>Innovation and</a:t>
            </a:r>
          </a:p>
          <a:p>
            <a:pPr algn="ctr"/>
            <a:r>
              <a:rPr sz="1000" b="1" i="0">
                <a:solidFill>
                  <a:srgbClr val="FFFFFF"/>
                </a:solidFill>
                <a:latin typeface="Aptos"/>
              </a:rPr>
              <a:t>uniqueness</a:t>
            </a:r>
          </a:p>
        </p:txBody>
      </p:sp>
      <p:sp>
        <p:nvSpPr>
          <p:cNvPr id="10" name="Rounded Rectangle 9"/>
          <p:cNvSpPr/>
          <p:nvPr/>
        </p:nvSpPr>
        <p:spPr>
          <a:xfrm>
            <a:off x="1920240" y="1371600"/>
            <a:ext cx="1892807" cy="1234440"/>
          </a:xfrm>
          <a:prstGeom prst="roundRect">
            <a:avLst>
              <a:gd name="adj" fmla="val 8888"/>
            </a:avLst>
          </a:prstGeom>
          <a:solidFill>
            <a:srgbClr val="E0262D"/>
          </a:solidFill>
          <a:ln>
            <a:noFill/>
          </a:ln>
          <a:effectLst/>
        </p:spPr>
        <p:txBody>
          <a:bodyPr rtlCol="0" anchor="ctr"/>
          <a:lstStyle/>
          <a:p>
            <a:pPr algn="ctr"/>
            <a:endParaRPr/>
          </a:p>
        </p:txBody>
      </p:sp>
      <p:sp>
        <p:nvSpPr>
          <p:cNvPr id="11" name="Oval 10"/>
          <p:cNvSpPr/>
          <p:nvPr/>
        </p:nvSpPr>
        <p:spPr>
          <a:xfrm>
            <a:off x="2029967" y="1389888"/>
            <a:ext cx="365760" cy="365760"/>
          </a:xfrm>
          <a:prstGeom prst="ellipse">
            <a:avLst/>
          </a:prstGeom>
          <a:solidFill>
            <a:srgbClr val="FFFFFF"/>
          </a:solidFill>
          <a:ln>
            <a:noFill/>
          </a:ln>
          <a:effectLst/>
        </p:spPr>
        <p:txBody>
          <a:bodyPr rtlCol="0" anchor="ctr"/>
          <a:lstStyle/>
          <a:p>
            <a:pPr algn="ctr"/>
            <a:endParaRPr/>
          </a:p>
        </p:txBody>
      </p:sp>
      <p:pic>
        <p:nvPicPr>
          <p:cNvPr id="12" name="Picture 11" descr="image4_E0262D.png"/>
          <p:cNvPicPr>
            <a:picLocks noChangeAspect="1"/>
          </p:cNvPicPr>
          <p:nvPr/>
        </p:nvPicPr>
        <p:blipFill>
          <a:blip r:embed="rId3"/>
          <a:stretch>
            <a:fillRect/>
          </a:stretch>
        </p:blipFill>
        <p:spPr>
          <a:xfrm>
            <a:off x="2112264" y="1472184"/>
            <a:ext cx="201168" cy="201168"/>
          </a:xfrm>
          <a:prstGeom prst="rect">
            <a:avLst/>
          </a:prstGeom>
        </p:spPr>
      </p:pic>
      <p:sp>
        <p:nvSpPr>
          <p:cNvPr id="13" name="TextBox 12"/>
          <p:cNvSpPr txBox="1"/>
          <p:nvPr/>
        </p:nvSpPr>
        <p:spPr>
          <a:xfrm>
            <a:off x="2450592" y="1389888"/>
            <a:ext cx="1307591" cy="384048"/>
          </a:xfrm>
          <a:prstGeom prst="rect">
            <a:avLst/>
          </a:prstGeom>
          <a:noFill/>
        </p:spPr>
        <p:txBody>
          <a:bodyPr wrap="square" lIns="18288" tIns="0" rIns="18288" bIns="0" anchor="ctr">
            <a:noAutofit/>
          </a:bodyPr>
          <a:lstStyle/>
          <a:p>
            <a:pPr algn="l"/>
            <a:r>
              <a:rPr sz="950" b="1" i="0">
                <a:solidFill>
                  <a:srgbClr val="FFFFFF"/>
                </a:solidFill>
                <a:latin typeface="Aptos"/>
              </a:rPr>
              <a:t>Fully local AI</a:t>
            </a:r>
          </a:p>
        </p:txBody>
      </p:sp>
      <p:sp>
        <p:nvSpPr>
          <p:cNvPr id="14" name="TextBox 13"/>
          <p:cNvSpPr txBox="1"/>
          <p:nvPr/>
        </p:nvSpPr>
        <p:spPr>
          <a:xfrm>
            <a:off x="2011680" y="1801368"/>
            <a:ext cx="1709928" cy="777240"/>
          </a:xfrm>
          <a:prstGeom prst="rect">
            <a:avLst/>
          </a:prstGeom>
          <a:noFill/>
        </p:spPr>
        <p:txBody>
          <a:bodyPr wrap="square" lIns="18288" tIns="0" rIns="18288" bIns="0" anchor="t">
            <a:noAutofit/>
          </a:bodyPr>
          <a:lstStyle/>
          <a:p>
            <a:pPr algn="l"/>
            <a:r>
              <a:rPr sz="850" b="0" i="0">
                <a:solidFill>
                  <a:srgbClr val="FFFFFF"/>
                </a:solidFill>
                <a:latin typeface="Aptos"/>
              </a:rPr>
              <a:t>No cloud AI calls: complaint text, photos and location never leave the server</a:t>
            </a:r>
          </a:p>
        </p:txBody>
      </p:sp>
      <p:sp>
        <p:nvSpPr>
          <p:cNvPr id="15" name="Rounded Rectangle 14"/>
          <p:cNvSpPr/>
          <p:nvPr/>
        </p:nvSpPr>
        <p:spPr>
          <a:xfrm>
            <a:off x="3904487" y="1371600"/>
            <a:ext cx="1892807" cy="1234440"/>
          </a:xfrm>
          <a:prstGeom prst="roundRect">
            <a:avLst>
              <a:gd name="adj" fmla="val 8888"/>
            </a:avLst>
          </a:prstGeom>
          <a:solidFill>
            <a:srgbClr val="7A5C2E"/>
          </a:solidFill>
          <a:ln>
            <a:noFill/>
          </a:ln>
          <a:effectLst/>
        </p:spPr>
        <p:txBody>
          <a:bodyPr rtlCol="0" anchor="ctr"/>
          <a:lstStyle/>
          <a:p>
            <a:pPr algn="ctr"/>
            <a:endParaRPr/>
          </a:p>
        </p:txBody>
      </p:sp>
      <p:sp>
        <p:nvSpPr>
          <p:cNvPr id="16" name="Oval 15"/>
          <p:cNvSpPr/>
          <p:nvPr/>
        </p:nvSpPr>
        <p:spPr>
          <a:xfrm>
            <a:off x="4014215" y="1389888"/>
            <a:ext cx="365760" cy="365760"/>
          </a:xfrm>
          <a:prstGeom prst="ellipse">
            <a:avLst/>
          </a:prstGeom>
          <a:solidFill>
            <a:srgbClr val="FFFFFF"/>
          </a:solidFill>
          <a:ln>
            <a:noFill/>
          </a:ln>
          <a:effectLst/>
        </p:spPr>
        <p:txBody>
          <a:bodyPr rtlCol="0" anchor="ctr"/>
          <a:lstStyle/>
          <a:p>
            <a:pPr algn="ctr"/>
            <a:endParaRPr/>
          </a:p>
        </p:txBody>
      </p:sp>
      <p:pic>
        <p:nvPicPr>
          <p:cNvPr id="17" name="Picture 16" descr="image5_7A5C2E.png"/>
          <p:cNvPicPr>
            <a:picLocks noChangeAspect="1"/>
          </p:cNvPicPr>
          <p:nvPr/>
        </p:nvPicPr>
        <p:blipFill>
          <a:blip r:embed="rId4"/>
          <a:stretch>
            <a:fillRect/>
          </a:stretch>
        </p:blipFill>
        <p:spPr>
          <a:xfrm>
            <a:off x="4096511" y="1492222"/>
            <a:ext cx="201168" cy="161091"/>
          </a:xfrm>
          <a:prstGeom prst="rect">
            <a:avLst/>
          </a:prstGeom>
        </p:spPr>
      </p:pic>
      <p:sp>
        <p:nvSpPr>
          <p:cNvPr id="18" name="TextBox 17"/>
          <p:cNvSpPr txBox="1"/>
          <p:nvPr/>
        </p:nvSpPr>
        <p:spPr>
          <a:xfrm>
            <a:off x="4434840" y="1389888"/>
            <a:ext cx="1307591" cy="384048"/>
          </a:xfrm>
          <a:prstGeom prst="rect">
            <a:avLst/>
          </a:prstGeom>
          <a:noFill/>
        </p:spPr>
        <p:txBody>
          <a:bodyPr wrap="square" lIns="18288" tIns="0" rIns="18288" bIns="0" anchor="ctr">
            <a:noAutofit/>
          </a:bodyPr>
          <a:lstStyle/>
          <a:p>
            <a:pPr algn="l"/>
            <a:r>
              <a:rPr sz="950" b="1" i="0">
                <a:solidFill>
                  <a:srgbClr val="FFFFFF"/>
                </a:solidFill>
                <a:latin typeface="Aptos"/>
              </a:rPr>
              <a:t>Evidence you can read</a:t>
            </a:r>
          </a:p>
        </p:txBody>
      </p:sp>
      <p:sp>
        <p:nvSpPr>
          <p:cNvPr id="19" name="TextBox 18"/>
          <p:cNvSpPr txBox="1"/>
          <p:nvPr/>
        </p:nvSpPr>
        <p:spPr>
          <a:xfrm>
            <a:off x="3995927" y="1801368"/>
            <a:ext cx="1709928" cy="777240"/>
          </a:xfrm>
          <a:prstGeom prst="rect">
            <a:avLst/>
          </a:prstGeom>
          <a:noFill/>
        </p:spPr>
        <p:txBody>
          <a:bodyPr wrap="square" lIns="18288" tIns="0" rIns="18288" bIns="0" anchor="t">
            <a:noAutofit/>
          </a:bodyPr>
          <a:lstStyle/>
          <a:p>
            <a:pPr algn="l"/>
            <a:r>
              <a:rPr sz="850" b="0" i="0">
                <a:solidFill>
                  <a:srgbClr val="FFFFFF"/>
                </a:solidFill>
                <a:latin typeface="Aptos"/>
              </a:rPr>
              <a:t>Spans quoted verbatim from Tamil, Hindi or mixed text explain every decision</a:t>
            </a:r>
          </a:p>
        </p:txBody>
      </p:sp>
      <p:sp>
        <p:nvSpPr>
          <p:cNvPr id="20" name="Rounded Rectangle 19"/>
          <p:cNvSpPr/>
          <p:nvPr/>
        </p:nvSpPr>
        <p:spPr>
          <a:xfrm>
            <a:off x="5888736" y="1371600"/>
            <a:ext cx="1892807" cy="1234440"/>
          </a:xfrm>
          <a:prstGeom prst="roundRect">
            <a:avLst>
              <a:gd name="adj" fmla="val 8888"/>
            </a:avLst>
          </a:prstGeom>
          <a:solidFill>
            <a:srgbClr val="B7791F"/>
          </a:solidFill>
          <a:ln>
            <a:noFill/>
          </a:ln>
          <a:effectLst/>
        </p:spPr>
        <p:txBody>
          <a:bodyPr rtlCol="0" anchor="ctr"/>
          <a:lstStyle/>
          <a:p>
            <a:pPr algn="ctr"/>
            <a:endParaRPr/>
          </a:p>
        </p:txBody>
      </p:sp>
      <p:sp>
        <p:nvSpPr>
          <p:cNvPr id="21" name="Oval 20"/>
          <p:cNvSpPr/>
          <p:nvPr/>
        </p:nvSpPr>
        <p:spPr>
          <a:xfrm>
            <a:off x="5998464" y="1389888"/>
            <a:ext cx="365760" cy="365760"/>
          </a:xfrm>
          <a:prstGeom prst="ellipse">
            <a:avLst/>
          </a:prstGeom>
          <a:solidFill>
            <a:srgbClr val="FFFFFF"/>
          </a:solidFill>
          <a:ln>
            <a:noFill/>
          </a:ln>
          <a:effectLst/>
        </p:spPr>
        <p:txBody>
          <a:bodyPr rtlCol="0" anchor="ctr"/>
          <a:lstStyle/>
          <a:p>
            <a:pPr algn="ctr"/>
            <a:endParaRPr/>
          </a:p>
        </p:txBody>
      </p:sp>
      <p:pic>
        <p:nvPicPr>
          <p:cNvPr id="22" name="Picture 21" descr="image6_B7791F.png"/>
          <p:cNvPicPr>
            <a:picLocks noChangeAspect="1"/>
          </p:cNvPicPr>
          <p:nvPr/>
        </p:nvPicPr>
        <p:blipFill>
          <a:blip r:embed="rId5"/>
          <a:stretch>
            <a:fillRect/>
          </a:stretch>
        </p:blipFill>
        <p:spPr>
          <a:xfrm>
            <a:off x="6093332" y="1472184"/>
            <a:ext cx="176022" cy="201168"/>
          </a:xfrm>
          <a:prstGeom prst="rect">
            <a:avLst/>
          </a:prstGeom>
        </p:spPr>
      </p:pic>
      <p:sp>
        <p:nvSpPr>
          <p:cNvPr id="23" name="TextBox 22"/>
          <p:cNvSpPr txBox="1"/>
          <p:nvPr/>
        </p:nvSpPr>
        <p:spPr>
          <a:xfrm>
            <a:off x="6419088" y="1389888"/>
            <a:ext cx="1307591" cy="384048"/>
          </a:xfrm>
          <a:prstGeom prst="rect">
            <a:avLst/>
          </a:prstGeom>
          <a:noFill/>
        </p:spPr>
        <p:txBody>
          <a:bodyPr wrap="square" lIns="18288" tIns="0" rIns="18288" bIns="0" anchor="ctr">
            <a:noAutofit/>
          </a:bodyPr>
          <a:lstStyle/>
          <a:p>
            <a:pPr algn="l"/>
            <a:r>
              <a:rPr sz="950" b="1" i="0">
                <a:solidFill>
                  <a:srgbClr val="FFFFFF"/>
                </a:solidFill>
                <a:latin typeface="Aptos"/>
              </a:rPr>
              <a:t>Three opinions, one human</a:t>
            </a:r>
          </a:p>
        </p:txBody>
      </p:sp>
      <p:sp>
        <p:nvSpPr>
          <p:cNvPr id="24" name="TextBox 23"/>
          <p:cNvSpPr txBox="1"/>
          <p:nvPr/>
        </p:nvSpPr>
        <p:spPr>
          <a:xfrm>
            <a:off x="5980175" y="1801368"/>
            <a:ext cx="1709928" cy="777240"/>
          </a:xfrm>
          <a:prstGeom prst="rect">
            <a:avLst/>
          </a:prstGeom>
          <a:noFill/>
        </p:spPr>
        <p:txBody>
          <a:bodyPr wrap="square" lIns="18288" tIns="0" rIns="18288" bIns="0" anchor="t">
            <a:noAutofit/>
          </a:bodyPr>
          <a:lstStyle/>
          <a:p>
            <a:pPr algn="l"/>
            <a:r>
              <a:rPr sz="850" b="0" i="0">
                <a:solidFill>
                  <a:srgbClr val="FFFFFF"/>
                </a:solidFill>
                <a:latin typeface="Aptos"/>
              </a:rPr>
              <a:t>Model, rules and a second classifier; any disagreement goes to the review queue</a:t>
            </a:r>
          </a:p>
        </p:txBody>
      </p:sp>
      <p:sp>
        <p:nvSpPr>
          <p:cNvPr id="25" name="Rounded Rectangle 24"/>
          <p:cNvSpPr/>
          <p:nvPr/>
        </p:nvSpPr>
        <p:spPr>
          <a:xfrm>
            <a:off x="7872983" y="1371600"/>
            <a:ext cx="1892807" cy="1234440"/>
          </a:xfrm>
          <a:prstGeom prst="roundRect">
            <a:avLst>
              <a:gd name="adj" fmla="val 8888"/>
            </a:avLst>
          </a:prstGeom>
          <a:solidFill>
            <a:srgbClr val="9B1C24"/>
          </a:solidFill>
          <a:ln>
            <a:noFill/>
          </a:ln>
          <a:effectLst/>
        </p:spPr>
        <p:txBody>
          <a:bodyPr rtlCol="0" anchor="ctr"/>
          <a:lstStyle/>
          <a:p>
            <a:pPr algn="ctr"/>
            <a:endParaRPr/>
          </a:p>
        </p:txBody>
      </p:sp>
      <p:sp>
        <p:nvSpPr>
          <p:cNvPr id="26" name="Oval 25"/>
          <p:cNvSpPr/>
          <p:nvPr/>
        </p:nvSpPr>
        <p:spPr>
          <a:xfrm>
            <a:off x="7982712" y="1389888"/>
            <a:ext cx="365760" cy="365760"/>
          </a:xfrm>
          <a:prstGeom prst="ellipse">
            <a:avLst/>
          </a:prstGeom>
          <a:solidFill>
            <a:srgbClr val="FFFFFF"/>
          </a:solidFill>
          <a:ln>
            <a:noFill/>
          </a:ln>
          <a:effectLst/>
        </p:spPr>
        <p:txBody>
          <a:bodyPr rtlCol="0" anchor="ctr"/>
          <a:lstStyle/>
          <a:p>
            <a:pPr algn="ctr"/>
            <a:endParaRPr/>
          </a:p>
        </p:txBody>
      </p:sp>
      <p:pic>
        <p:nvPicPr>
          <p:cNvPr id="27" name="Picture 26" descr="image7_9B1C24.png"/>
          <p:cNvPicPr>
            <a:picLocks noChangeAspect="1"/>
          </p:cNvPicPr>
          <p:nvPr/>
        </p:nvPicPr>
        <p:blipFill>
          <a:blip r:embed="rId6"/>
          <a:stretch>
            <a:fillRect/>
          </a:stretch>
        </p:blipFill>
        <p:spPr>
          <a:xfrm>
            <a:off x="8065008" y="1472184"/>
            <a:ext cx="201168" cy="201168"/>
          </a:xfrm>
          <a:prstGeom prst="rect">
            <a:avLst/>
          </a:prstGeom>
        </p:spPr>
      </p:pic>
      <p:sp>
        <p:nvSpPr>
          <p:cNvPr id="28" name="TextBox 27"/>
          <p:cNvSpPr txBox="1"/>
          <p:nvPr/>
        </p:nvSpPr>
        <p:spPr>
          <a:xfrm>
            <a:off x="8403336" y="1389888"/>
            <a:ext cx="1307591" cy="384048"/>
          </a:xfrm>
          <a:prstGeom prst="rect">
            <a:avLst/>
          </a:prstGeom>
          <a:noFill/>
        </p:spPr>
        <p:txBody>
          <a:bodyPr wrap="square" lIns="18288" tIns="0" rIns="18288" bIns="0" anchor="ctr">
            <a:noAutofit/>
          </a:bodyPr>
          <a:lstStyle/>
          <a:p>
            <a:pPr algn="l"/>
            <a:r>
              <a:rPr sz="950" b="1" i="0">
                <a:solidFill>
                  <a:srgbClr val="FFFFFF"/>
                </a:solidFill>
                <a:latin typeface="Aptos"/>
              </a:rPr>
              <a:t>Right office, on time</a:t>
            </a:r>
          </a:p>
        </p:txBody>
      </p:sp>
      <p:sp>
        <p:nvSpPr>
          <p:cNvPr id="29" name="TextBox 28"/>
          <p:cNvSpPr txBox="1"/>
          <p:nvPr/>
        </p:nvSpPr>
        <p:spPr>
          <a:xfrm>
            <a:off x="7964423" y="1801368"/>
            <a:ext cx="1709928" cy="777240"/>
          </a:xfrm>
          <a:prstGeom prst="rect">
            <a:avLst/>
          </a:prstGeom>
          <a:noFill/>
        </p:spPr>
        <p:txBody>
          <a:bodyPr wrap="square" lIns="18288" tIns="0" rIns="18288" bIns="0" anchor="t">
            <a:noAutofit/>
          </a:bodyPr>
          <a:lstStyle/>
          <a:p>
            <a:pPr algn="l"/>
            <a:r>
              <a:rPr sz="850" b="0" i="0">
                <a:solidFill>
                  <a:srgbClr val="FFFFFF"/>
                </a:solidFill>
                <a:latin typeface="Aptos"/>
              </a:rPr>
              <a:t>760 Tamil Nadu offices with SLA due times; overdue cases escalate to the district admin</a:t>
            </a:r>
          </a:p>
        </p:txBody>
      </p:sp>
      <p:sp>
        <p:nvSpPr>
          <p:cNvPr id="30" name="Rounded Rectangle 29"/>
          <p:cNvSpPr/>
          <p:nvPr/>
        </p:nvSpPr>
        <p:spPr>
          <a:xfrm>
            <a:off x="9857232" y="1371600"/>
            <a:ext cx="1892807" cy="1234440"/>
          </a:xfrm>
          <a:prstGeom prst="roundRect">
            <a:avLst>
              <a:gd name="adj" fmla="val 8888"/>
            </a:avLst>
          </a:prstGeom>
          <a:solidFill>
            <a:srgbClr val="5A5555"/>
          </a:solidFill>
          <a:ln>
            <a:noFill/>
          </a:ln>
          <a:effectLst/>
        </p:spPr>
        <p:txBody>
          <a:bodyPr rtlCol="0" anchor="ctr"/>
          <a:lstStyle/>
          <a:p>
            <a:pPr algn="ctr"/>
            <a:endParaRPr/>
          </a:p>
        </p:txBody>
      </p:sp>
      <p:sp>
        <p:nvSpPr>
          <p:cNvPr id="31" name="Oval 30"/>
          <p:cNvSpPr/>
          <p:nvPr/>
        </p:nvSpPr>
        <p:spPr>
          <a:xfrm>
            <a:off x="9966960" y="1389888"/>
            <a:ext cx="365760" cy="365760"/>
          </a:xfrm>
          <a:prstGeom prst="ellipse">
            <a:avLst/>
          </a:prstGeom>
          <a:solidFill>
            <a:srgbClr val="FFFFFF"/>
          </a:solidFill>
          <a:ln>
            <a:noFill/>
          </a:ln>
          <a:effectLst/>
        </p:spPr>
        <p:txBody>
          <a:bodyPr rtlCol="0" anchor="ctr"/>
          <a:lstStyle/>
          <a:p>
            <a:pPr algn="ctr"/>
            <a:endParaRPr/>
          </a:p>
        </p:txBody>
      </p:sp>
      <p:pic>
        <p:nvPicPr>
          <p:cNvPr id="32" name="Picture 31" descr="image8_5A5555.png"/>
          <p:cNvPicPr>
            <a:picLocks noChangeAspect="1"/>
          </p:cNvPicPr>
          <p:nvPr/>
        </p:nvPicPr>
        <p:blipFill>
          <a:blip r:embed="rId7"/>
          <a:stretch>
            <a:fillRect/>
          </a:stretch>
        </p:blipFill>
        <p:spPr>
          <a:xfrm>
            <a:off x="10049256" y="1483185"/>
            <a:ext cx="201168" cy="179165"/>
          </a:xfrm>
          <a:prstGeom prst="rect">
            <a:avLst/>
          </a:prstGeom>
        </p:spPr>
      </p:pic>
      <p:sp>
        <p:nvSpPr>
          <p:cNvPr id="33" name="TextBox 32"/>
          <p:cNvSpPr txBox="1"/>
          <p:nvPr/>
        </p:nvSpPr>
        <p:spPr>
          <a:xfrm>
            <a:off x="10387584" y="1389888"/>
            <a:ext cx="1307591" cy="384048"/>
          </a:xfrm>
          <a:prstGeom prst="rect">
            <a:avLst/>
          </a:prstGeom>
          <a:noFill/>
        </p:spPr>
        <p:txBody>
          <a:bodyPr wrap="square" lIns="18288" tIns="0" rIns="18288" bIns="0" anchor="ctr">
            <a:noAutofit/>
          </a:bodyPr>
          <a:lstStyle/>
          <a:p>
            <a:pPr algn="l"/>
            <a:r>
              <a:rPr sz="950" b="1" i="0">
                <a:solidFill>
                  <a:srgbClr val="FFFFFF"/>
                </a:solidFill>
                <a:latin typeface="Aptos"/>
              </a:rPr>
              <a:t>Fairness measured</a:t>
            </a:r>
          </a:p>
        </p:txBody>
      </p:sp>
      <p:sp>
        <p:nvSpPr>
          <p:cNvPr id="34" name="TextBox 33"/>
          <p:cNvSpPr txBox="1"/>
          <p:nvPr/>
        </p:nvSpPr>
        <p:spPr>
          <a:xfrm>
            <a:off x="9948672" y="1801368"/>
            <a:ext cx="1709928" cy="777240"/>
          </a:xfrm>
          <a:prstGeom prst="rect">
            <a:avLst/>
          </a:prstGeom>
          <a:noFill/>
        </p:spPr>
        <p:txBody>
          <a:bodyPr wrap="square" lIns="18288" tIns="0" rIns="18288" bIns="0" anchor="t">
            <a:noAutofit/>
          </a:bodyPr>
          <a:lstStyle/>
          <a:p>
            <a:pPr algn="l"/>
            <a:r>
              <a:rPr sz="850" b="0" i="0">
                <a:solidFill>
                  <a:srgbClr val="FFFFFF"/>
                </a:solidFill>
                <a:latin typeface="Aptos"/>
              </a:rPr>
              <a:t>Accuracy per language and formality on the dashboard; nothing auto-closed</a:t>
            </a:r>
          </a:p>
        </p:txBody>
      </p:sp>
      <p:sp>
        <p:nvSpPr>
          <p:cNvPr id="35" name="Rounded Rectangle 34"/>
          <p:cNvSpPr/>
          <p:nvPr/>
        </p:nvSpPr>
        <p:spPr>
          <a:xfrm>
            <a:off x="411480" y="2743200"/>
            <a:ext cx="5532120" cy="274320"/>
          </a:xfrm>
          <a:prstGeom prst="roundRect">
            <a:avLst>
              <a:gd name="adj" fmla="val 20000"/>
            </a:avLst>
          </a:prstGeom>
          <a:solidFill>
            <a:srgbClr val="9B1C24"/>
          </a:solidFill>
          <a:ln>
            <a:noFill/>
          </a:ln>
          <a:effectLst/>
        </p:spPr>
        <p:txBody>
          <a:bodyPr rtlCol="0" anchor="ctr"/>
          <a:lstStyle/>
          <a:p>
            <a:pPr algn="ctr"/>
            <a:endParaRPr/>
          </a:p>
        </p:txBody>
      </p:sp>
      <p:sp>
        <p:nvSpPr>
          <p:cNvPr id="36" name="TextBox 35"/>
          <p:cNvSpPr txBox="1"/>
          <p:nvPr/>
        </p:nvSpPr>
        <p:spPr>
          <a:xfrm>
            <a:off x="521208" y="2743200"/>
            <a:ext cx="5330952" cy="274320"/>
          </a:xfrm>
          <a:prstGeom prst="rect">
            <a:avLst/>
          </a:prstGeom>
          <a:noFill/>
        </p:spPr>
        <p:txBody>
          <a:bodyPr wrap="square" lIns="18288" tIns="0" rIns="18288" bIns="0" anchor="ctr">
            <a:noAutofit/>
          </a:bodyPr>
          <a:lstStyle/>
          <a:p>
            <a:pPr algn="l"/>
            <a:r>
              <a:rPr sz="900" b="1" i="0">
                <a:solidFill>
                  <a:srgbClr val="FFFFFF"/>
                </a:solidFill>
                <a:latin typeface="Aptos"/>
              </a:rPr>
              <a:t>WHO BENEFITS</a:t>
            </a:r>
          </a:p>
        </p:txBody>
      </p:sp>
      <p:sp>
        <p:nvSpPr>
          <p:cNvPr id="37" name="Rounded Rectangle 36"/>
          <p:cNvSpPr/>
          <p:nvPr/>
        </p:nvSpPr>
        <p:spPr>
          <a:xfrm>
            <a:off x="411480" y="3090672"/>
            <a:ext cx="2720340" cy="530352"/>
          </a:xfrm>
          <a:prstGeom prst="roundRect">
            <a:avLst>
              <a:gd name="adj" fmla="val 13793"/>
            </a:avLst>
          </a:prstGeom>
          <a:solidFill>
            <a:srgbClr val="FFFFFF"/>
          </a:solidFill>
          <a:ln w="9525">
            <a:solidFill>
              <a:srgbClr val="E3DBCF"/>
            </a:solidFill>
          </a:ln>
          <a:effectLst/>
        </p:spPr>
        <p:txBody>
          <a:bodyPr rtlCol="0" anchor="ctr"/>
          <a:lstStyle/>
          <a:p>
            <a:pPr algn="ctr"/>
            <a:endParaRPr/>
          </a:p>
        </p:txBody>
      </p:sp>
      <p:sp>
        <p:nvSpPr>
          <p:cNvPr id="38" name="Rounded Rectangle 37"/>
          <p:cNvSpPr/>
          <p:nvPr/>
        </p:nvSpPr>
        <p:spPr>
          <a:xfrm>
            <a:off x="411480" y="3090672"/>
            <a:ext cx="54864" cy="530352"/>
          </a:xfrm>
          <a:prstGeom prst="roundRect">
            <a:avLst>
              <a:gd name="adj" fmla="val 50000"/>
            </a:avLst>
          </a:prstGeom>
          <a:solidFill>
            <a:srgbClr val="B7791F"/>
          </a:solidFill>
          <a:ln>
            <a:noFill/>
          </a:ln>
          <a:effectLst/>
        </p:spPr>
        <p:txBody>
          <a:bodyPr rtlCol="0" anchor="ctr"/>
          <a:lstStyle/>
          <a:p>
            <a:pPr algn="ctr"/>
            <a:endParaRPr/>
          </a:p>
        </p:txBody>
      </p:sp>
      <p:pic>
        <p:nvPicPr>
          <p:cNvPr id="39" name="Picture 38" descr="image38.png"/>
          <p:cNvPicPr>
            <a:picLocks noChangeAspect="1"/>
          </p:cNvPicPr>
          <p:nvPr/>
        </p:nvPicPr>
        <p:blipFill>
          <a:blip r:embed="rId8"/>
          <a:stretch>
            <a:fillRect/>
          </a:stretch>
        </p:blipFill>
        <p:spPr>
          <a:xfrm>
            <a:off x="539496" y="3227832"/>
            <a:ext cx="256032" cy="256032"/>
          </a:xfrm>
          <a:prstGeom prst="rect">
            <a:avLst/>
          </a:prstGeom>
        </p:spPr>
      </p:pic>
      <p:sp>
        <p:nvSpPr>
          <p:cNvPr id="40" name="TextBox 39"/>
          <p:cNvSpPr txBox="1"/>
          <p:nvPr/>
        </p:nvSpPr>
        <p:spPr>
          <a:xfrm>
            <a:off x="868680" y="3090672"/>
            <a:ext cx="2189988" cy="530352"/>
          </a:xfrm>
          <a:prstGeom prst="rect">
            <a:avLst/>
          </a:prstGeom>
          <a:noFill/>
        </p:spPr>
        <p:txBody>
          <a:bodyPr wrap="square" lIns="18288" tIns="9144" rIns="36576" bIns="9144" anchor="ctr">
            <a:noAutofit/>
          </a:bodyPr>
          <a:lstStyle/>
          <a:p>
            <a:pPr algn="l"/>
            <a:r>
              <a:rPr sz="900" b="1" i="0">
                <a:solidFill>
                  <a:srgbClr val="9B1C24"/>
                </a:solidFill>
                <a:latin typeface="Aptos"/>
              </a:rPr>
              <a:t>Citizens</a:t>
            </a:r>
          </a:p>
          <a:p>
            <a:pPr algn="l"/>
            <a:r>
              <a:rPr sz="800" b="0" i="0">
                <a:solidFill>
                  <a:srgbClr val="5A5555"/>
                </a:solidFill>
                <a:latin typeface="Aptos"/>
              </a:rPr>
              <a:t>file in any language; track, reply, rate or reopen; support a neighbour's complaint instead of duplicating it</a:t>
            </a:r>
          </a:p>
        </p:txBody>
      </p:sp>
      <p:sp>
        <p:nvSpPr>
          <p:cNvPr id="41" name="Rounded Rectangle 40"/>
          <p:cNvSpPr/>
          <p:nvPr/>
        </p:nvSpPr>
        <p:spPr>
          <a:xfrm>
            <a:off x="3223260" y="3090672"/>
            <a:ext cx="2720340" cy="530352"/>
          </a:xfrm>
          <a:prstGeom prst="roundRect">
            <a:avLst>
              <a:gd name="adj" fmla="val 13793"/>
            </a:avLst>
          </a:prstGeom>
          <a:solidFill>
            <a:srgbClr val="FFFFFF"/>
          </a:solidFill>
          <a:ln w="9525">
            <a:solidFill>
              <a:srgbClr val="E3DBCF"/>
            </a:solidFill>
          </a:ln>
          <a:effectLst/>
        </p:spPr>
        <p:txBody>
          <a:bodyPr rtlCol="0" anchor="ctr"/>
          <a:lstStyle/>
          <a:p>
            <a:pPr algn="ctr"/>
            <a:endParaRPr/>
          </a:p>
        </p:txBody>
      </p:sp>
      <p:sp>
        <p:nvSpPr>
          <p:cNvPr id="42" name="Rounded Rectangle 41"/>
          <p:cNvSpPr/>
          <p:nvPr/>
        </p:nvSpPr>
        <p:spPr>
          <a:xfrm>
            <a:off x="3223260" y="3090672"/>
            <a:ext cx="54864" cy="530352"/>
          </a:xfrm>
          <a:prstGeom prst="roundRect">
            <a:avLst>
              <a:gd name="adj" fmla="val 50000"/>
            </a:avLst>
          </a:prstGeom>
          <a:solidFill>
            <a:srgbClr val="B7791F"/>
          </a:solidFill>
          <a:ln>
            <a:noFill/>
          </a:ln>
          <a:effectLst/>
        </p:spPr>
        <p:txBody>
          <a:bodyPr rtlCol="0" anchor="ctr"/>
          <a:lstStyle/>
          <a:p>
            <a:pPr algn="ctr"/>
            <a:endParaRPr/>
          </a:p>
        </p:txBody>
      </p:sp>
      <p:pic>
        <p:nvPicPr>
          <p:cNvPr id="43" name="Picture 42" descr="image36.png"/>
          <p:cNvPicPr>
            <a:picLocks noChangeAspect="1"/>
          </p:cNvPicPr>
          <p:nvPr/>
        </p:nvPicPr>
        <p:blipFill>
          <a:blip r:embed="rId9"/>
          <a:stretch>
            <a:fillRect/>
          </a:stretch>
        </p:blipFill>
        <p:spPr>
          <a:xfrm>
            <a:off x="3351276" y="3227832"/>
            <a:ext cx="256032" cy="256032"/>
          </a:xfrm>
          <a:prstGeom prst="rect">
            <a:avLst/>
          </a:prstGeom>
        </p:spPr>
      </p:pic>
      <p:sp>
        <p:nvSpPr>
          <p:cNvPr id="44" name="TextBox 43"/>
          <p:cNvSpPr txBox="1"/>
          <p:nvPr/>
        </p:nvSpPr>
        <p:spPr>
          <a:xfrm>
            <a:off x="3680460" y="3090672"/>
            <a:ext cx="2189988" cy="530352"/>
          </a:xfrm>
          <a:prstGeom prst="rect">
            <a:avLst/>
          </a:prstGeom>
          <a:noFill/>
        </p:spPr>
        <p:txBody>
          <a:bodyPr wrap="square" lIns="18288" tIns="9144" rIns="36576" bIns="9144" anchor="ctr">
            <a:noAutofit/>
          </a:bodyPr>
          <a:lstStyle/>
          <a:p>
            <a:pPr algn="l"/>
            <a:r>
              <a:rPr sz="900" b="1" i="0">
                <a:solidFill>
                  <a:srgbClr val="9B1C24"/>
                </a:solidFill>
                <a:latin typeface="Aptos"/>
              </a:rPr>
              <a:t>Grievance officers</a:t>
            </a:r>
          </a:p>
          <a:p>
            <a:pPr algn="l"/>
            <a:r>
              <a:rPr sz="800" b="0" i="0">
                <a:solidFill>
                  <a:srgbClr val="5A5555"/>
                </a:solidFill>
                <a:latin typeface="Aptos"/>
              </a:rPr>
              <a:t>prioritised queue with evidence, flags and office; reassign in one click with a reason</a:t>
            </a:r>
          </a:p>
        </p:txBody>
      </p:sp>
      <p:sp>
        <p:nvSpPr>
          <p:cNvPr id="45" name="Rounded Rectangle 44"/>
          <p:cNvSpPr/>
          <p:nvPr/>
        </p:nvSpPr>
        <p:spPr>
          <a:xfrm>
            <a:off x="411480" y="3675887"/>
            <a:ext cx="2720340" cy="530352"/>
          </a:xfrm>
          <a:prstGeom prst="roundRect">
            <a:avLst>
              <a:gd name="adj" fmla="val 13793"/>
            </a:avLst>
          </a:prstGeom>
          <a:solidFill>
            <a:srgbClr val="FFFFFF"/>
          </a:solidFill>
          <a:ln w="9525">
            <a:solidFill>
              <a:srgbClr val="E3DBCF"/>
            </a:solidFill>
          </a:ln>
          <a:effectLst/>
        </p:spPr>
        <p:txBody>
          <a:bodyPr rtlCol="0" anchor="ctr"/>
          <a:lstStyle/>
          <a:p>
            <a:pPr algn="ctr"/>
            <a:endParaRPr/>
          </a:p>
        </p:txBody>
      </p:sp>
      <p:sp>
        <p:nvSpPr>
          <p:cNvPr id="46" name="Rounded Rectangle 45"/>
          <p:cNvSpPr/>
          <p:nvPr/>
        </p:nvSpPr>
        <p:spPr>
          <a:xfrm>
            <a:off x="411480" y="3675887"/>
            <a:ext cx="54864" cy="530352"/>
          </a:xfrm>
          <a:prstGeom prst="roundRect">
            <a:avLst>
              <a:gd name="adj" fmla="val 50000"/>
            </a:avLst>
          </a:prstGeom>
          <a:solidFill>
            <a:srgbClr val="B7791F"/>
          </a:solidFill>
          <a:ln>
            <a:noFill/>
          </a:ln>
          <a:effectLst/>
        </p:spPr>
        <p:txBody>
          <a:bodyPr rtlCol="0" anchor="ctr"/>
          <a:lstStyle/>
          <a:p>
            <a:pPr algn="ctr"/>
            <a:endParaRPr/>
          </a:p>
        </p:txBody>
      </p:sp>
      <p:pic>
        <p:nvPicPr>
          <p:cNvPr id="47" name="Picture 46" descr="image12_3A3335.png"/>
          <p:cNvPicPr>
            <a:picLocks noChangeAspect="1"/>
          </p:cNvPicPr>
          <p:nvPr/>
        </p:nvPicPr>
        <p:blipFill>
          <a:blip r:embed="rId10"/>
          <a:stretch>
            <a:fillRect/>
          </a:stretch>
        </p:blipFill>
        <p:spPr>
          <a:xfrm>
            <a:off x="555498" y="3813048"/>
            <a:ext cx="224028" cy="256032"/>
          </a:xfrm>
          <a:prstGeom prst="rect">
            <a:avLst/>
          </a:prstGeom>
        </p:spPr>
      </p:pic>
      <p:sp>
        <p:nvSpPr>
          <p:cNvPr id="48" name="TextBox 47"/>
          <p:cNvSpPr txBox="1"/>
          <p:nvPr/>
        </p:nvSpPr>
        <p:spPr>
          <a:xfrm>
            <a:off x="868680" y="3675887"/>
            <a:ext cx="2189988" cy="530352"/>
          </a:xfrm>
          <a:prstGeom prst="rect">
            <a:avLst/>
          </a:prstGeom>
          <a:noFill/>
        </p:spPr>
        <p:txBody>
          <a:bodyPr wrap="square" lIns="18288" tIns="9144" rIns="36576" bIns="9144" anchor="ctr">
            <a:noAutofit/>
          </a:bodyPr>
          <a:lstStyle/>
          <a:p>
            <a:pPr algn="l"/>
            <a:r>
              <a:rPr sz="900" b="1" i="0">
                <a:solidFill>
                  <a:srgbClr val="9B1C24"/>
                </a:solidFill>
                <a:latin typeface="Aptos"/>
              </a:rPr>
              <a:t>Department admins</a:t>
            </a:r>
          </a:p>
          <a:p>
            <a:pPr algn="l"/>
            <a:r>
              <a:rPr sz="800" b="0" i="0">
                <a:solidFill>
                  <a:srgbClr val="5A5555"/>
                </a:solidFill>
                <a:latin typeface="Aptos"/>
              </a:rPr>
              <a:t>only their own, de-duplicated complaints with due times; citizen replies reach them directly</a:t>
            </a:r>
          </a:p>
        </p:txBody>
      </p:sp>
      <p:sp>
        <p:nvSpPr>
          <p:cNvPr id="49" name="Rounded Rectangle 48"/>
          <p:cNvSpPr/>
          <p:nvPr/>
        </p:nvSpPr>
        <p:spPr>
          <a:xfrm>
            <a:off x="3223260" y="3675887"/>
            <a:ext cx="2720340" cy="530352"/>
          </a:xfrm>
          <a:prstGeom prst="roundRect">
            <a:avLst>
              <a:gd name="adj" fmla="val 13793"/>
            </a:avLst>
          </a:prstGeom>
          <a:solidFill>
            <a:srgbClr val="FFFFFF"/>
          </a:solidFill>
          <a:ln w="9525">
            <a:solidFill>
              <a:srgbClr val="E3DBCF"/>
            </a:solidFill>
          </a:ln>
          <a:effectLst/>
        </p:spPr>
        <p:txBody>
          <a:bodyPr rtlCol="0" anchor="ctr"/>
          <a:lstStyle/>
          <a:p>
            <a:pPr algn="ctr"/>
            <a:endParaRPr/>
          </a:p>
        </p:txBody>
      </p:sp>
      <p:sp>
        <p:nvSpPr>
          <p:cNvPr id="50" name="Rounded Rectangle 49"/>
          <p:cNvSpPr/>
          <p:nvPr/>
        </p:nvSpPr>
        <p:spPr>
          <a:xfrm>
            <a:off x="3223260" y="3675887"/>
            <a:ext cx="54864" cy="530352"/>
          </a:xfrm>
          <a:prstGeom prst="roundRect">
            <a:avLst>
              <a:gd name="adj" fmla="val 50000"/>
            </a:avLst>
          </a:prstGeom>
          <a:solidFill>
            <a:srgbClr val="B7791F"/>
          </a:solidFill>
          <a:ln>
            <a:noFill/>
          </a:ln>
          <a:effectLst/>
        </p:spPr>
        <p:txBody>
          <a:bodyPr rtlCol="0" anchor="ctr"/>
          <a:lstStyle/>
          <a:p>
            <a:pPr algn="ctr"/>
            <a:endParaRPr/>
          </a:p>
        </p:txBody>
      </p:sp>
      <p:pic>
        <p:nvPicPr>
          <p:cNvPr id="51" name="Picture 50" descr="image39.png"/>
          <p:cNvPicPr>
            <a:picLocks noChangeAspect="1"/>
          </p:cNvPicPr>
          <p:nvPr/>
        </p:nvPicPr>
        <p:blipFill>
          <a:blip r:embed="rId11"/>
          <a:stretch>
            <a:fillRect/>
          </a:stretch>
        </p:blipFill>
        <p:spPr>
          <a:xfrm>
            <a:off x="3351276" y="3813048"/>
            <a:ext cx="256032" cy="256032"/>
          </a:xfrm>
          <a:prstGeom prst="rect">
            <a:avLst/>
          </a:prstGeom>
        </p:spPr>
      </p:pic>
      <p:sp>
        <p:nvSpPr>
          <p:cNvPr id="52" name="TextBox 51"/>
          <p:cNvSpPr txBox="1"/>
          <p:nvPr/>
        </p:nvSpPr>
        <p:spPr>
          <a:xfrm>
            <a:off x="3680460" y="3675887"/>
            <a:ext cx="2189988" cy="530352"/>
          </a:xfrm>
          <a:prstGeom prst="rect">
            <a:avLst/>
          </a:prstGeom>
          <a:noFill/>
        </p:spPr>
        <p:txBody>
          <a:bodyPr wrap="square" lIns="18288" tIns="9144" rIns="36576" bIns="9144" anchor="ctr">
            <a:noAutofit/>
          </a:bodyPr>
          <a:lstStyle/>
          <a:p>
            <a:pPr algn="l"/>
            <a:r>
              <a:rPr sz="900" b="1" i="0">
                <a:solidFill>
                  <a:srgbClr val="9B1C24"/>
                </a:solidFill>
                <a:latin typeface="Aptos"/>
              </a:rPr>
              <a:t>District and super admins</a:t>
            </a:r>
          </a:p>
          <a:p>
            <a:pPr algn="l"/>
            <a:r>
              <a:rPr sz="800" b="0" i="0">
                <a:solidFill>
                  <a:srgbClr val="5A5555"/>
                </a:solidFill>
                <a:latin typeface="Aptos"/>
              </a:rPr>
              <a:t>review queue, district map, staff accounts, rules, metrics; full audit trail, nothing auto-closed</a:t>
            </a:r>
          </a:p>
        </p:txBody>
      </p:sp>
      <p:sp>
        <p:nvSpPr>
          <p:cNvPr id="53" name="Rounded Rectangle 52"/>
          <p:cNvSpPr/>
          <p:nvPr/>
        </p:nvSpPr>
        <p:spPr>
          <a:xfrm>
            <a:off x="6080760" y="2743200"/>
            <a:ext cx="5669280" cy="274320"/>
          </a:xfrm>
          <a:prstGeom prst="roundRect">
            <a:avLst>
              <a:gd name="adj" fmla="val 20000"/>
            </a:avLst>
          </a:prstGeom>
          <a:solidFill>
            <a:srgbClr val="B7791F"/>
          </a:solidFill>
          <a:ln>
            <a:noFill/>
          </a:ln>
          <a:effectLst/>
        </p:spPr>
        <p:txBody>
          <a:bodyPr rtlCol="0" anchor="ctr"/>
          <a:lstStyle/>
          <a:p>
            <a:pPr algn="ctr"/>
            <a:endParaRPr/>
          </a:p>
        </p:txBody>
      </p:sp>
      <p:sp>
        <p:nvSpPr>
          <p:cNvPr id="54" name="TextBox 53"/>
          <p:cNvSpPr txBox="1"/>
          <p:nvPr/>
        </p:nvSpPr>
        <p:spPr>
          <a:xfrm>
            <a:off x="6190488" y="2743200"/>
            <a:ext cx="5468112" cy="274320"/>
          </a:xfrm>
          <a:prstGeom prst="rect">
            <a:avLst/>
          </a:prstGeom>
          <a:noFill/>
        </p:spPr>
        <p:txBody>
          <a:bodyPr wrap="square" lIns="18288" tIns="0" rIns="18288" bIns="0" anchor="ctr">
            <a:noAutofit/>
          </a:bodyPr>
          <a:lstStyle/>
          <a:p>
            <a:pPr algn="l"/>
            <a:r>
              <a:rPr sz="900" b="1" i="0">
                <a:solidFill>
                  <a:srgbClr val="FFFFFF"/>
                </a:solidFill>
                <a:latin typeface="Aptos"/>
              </a:rPr>
              <a:t>EXPECTED IMPACT  ·  today versus Vindex</a:t>
            </a:r>
          </a:p>
        </p:txBody>
      </p:sp>
      <p:sp>
        <p:nvSpPr>
          <p:cNvPr id="55" name="Rectangle 54"/>
          <p:cNvSpPr/>
          <p:nvPr/>
        </p:nvSpPr>
        <p:spPr>
          <a:xfrm>
            <a:off x="6080760" y="3090672"/>
            <a:ext cx="5669280" cy="274320"/>
          </a:xfrm>
          <a:prstGeom prst="rect">
            <a:avLst/>
          </a:prstGeom>
          <a:solidFill>
            <a:srgbClr val="9B1C24"/>
          </a:solidFill>
          <a:ln>
            <a:noFill/>
          </a:ln>
          <a:effectLst/>
        </p:spPr>
        <p:txBody>
          <a:bodyPr rtlCol="0" anchor="ctr"/>
          <a:lstStyle/>
          <a:p>
            <a:pPr algn="ctr"/>
            <a:endParaRPr/>
          </a:p>
        </p:txBody>
      </p:sp>
      <p:sp>
        <p:nvSpPr>
          <p:cNvPr id="56" name="Rectangle 55"/>
          <p:cNvSpPr/>
          <p:nvPr/>
        </p:nvSpPr>
        <p:spPr>
          <a:xfrm>
            <a:off x="6080760" y="3364992"/>
            <a:ext cx="5669280" cy="402336"/>
          </a:xfrm>
          <a:prstGeom prst="rect">
            <a:avLst/>
          </a:prstGeom>
          <a:solidFill>
            <a:srgbClr val="FBE9E9"/>
          </a:solidFill>
          <a:ln>
            <a:noFill/>
          </a:ln>
          <a:effectLst/>
        </p:spPr>
        <p:txBody>
          <a:bodyPr rtlCol="0" anchor="ctr"/>
          <a:lstStyle/>
          <a:p>
            <a:pPr algn="ctr"/>
            <a:endParaRPr/>
          </a:p>
        </p:txBody>
      </p:sp>
      <p:sp>
        <p:nvSpPr>
          <p:cNvPr id="57" name="Rectangle 56"/>
          <p:cNvSpPr/>
          <p:nvPr/>
        </p:nvSpPr>
        <p:spPr>
          <a:xfrm>
            <a:off x="6080760" y="3767328"/>
            <a:ext cx="5669280" cy="438912"/>
          </a:xfrm>
          <a:prstGeom prst="rect">
            <a:avLst/>
          </a:prstGeom>
          <a:solidFill>
            <a:srgbClr val="FFF4D6"/>
          </a:solidFill>
          <a:ln>
            <a:noFill/>
          </a:ln>
          <a:effectLst/>
        </p:spPr>
        <p:txBody>
          <a:bodyPr rtlCol="0" anchor="ctr"/>
          <a:lstStyle/>
          <a:p>
            <a:pPr algn="ctr"/>
            <a:endParaRPr/>
          </a:p>
        </p:txBody>
      </p:sp>
      <p:sp>
        <p:nvSpPr>
          <p:cNvPr id="58" name="TextBox 57"/>
          <p:cNvSpPr txBox="1"/>
          <p:nvPr/>
        </p:nvSpPr>
        <p:spPr>
          <a:xfrm>
            <a:off x="6080760" y="3090672"/>
            <a:ext cx="1143000" cy="274320"/>
          </a:xfrm>
          <a:prstGeom prst="rect">
            <a:avLst/>
          </a:prstGeom>
          <a:noFill/>
        </p:spPr>
        <p:txBody>
          <a:bodyPr wrap="square" lIns="18288" tIns="0" rIns="18288" bIns="0" anchor="ctr">
            <a:noAutofit/>
          </a:bodyPr>
          <a:lstStyle/>
          <a:p>
            <a:pPr algn="ctr"/>
            <a:endParaRPr/>
          </a:p>
        </p:txBody>
      </p:sp>
      <p:sp>
        <p:nvSpPr>
          <p:cNvPr id="59" name="TextBox 58"/>
          <p:cNvSpPr txBox="1"/>
          <p:nvPr/>
        </p:nvSpPr>
        <p:spPr>
          <a:xfrm>
            <a:off x="7223760" y="3090672"/>
            <a:ext cx="1097280" cy="274320"/>
          </a:xfrm>
          <a:prstGeom prst="rect">
            <a:avLst/>
          </a:prstGeom>
          <a:noFill/>
        </p:spPr>
        <p:txBody>
          <a:bodyPr wrap="square" lIns="18288" tIns="0" rIns="18288" bIns="0" anchor="ctr">
            <a:noAutofit/>
          </a:bodyPr>
          <a:lstStyle/>
          <a:p>
            <a:pPr algn="ctr"/>
            <a:r>
              <a:rPr sz="850" b="1" i="0">
                <a:solidFill>
                  <a:srgbClr val="FFFFFF"/>
                </a:solidFill>
                <a:latin typeface="Aptos"/>
              </a:rPr>
              <a:t>Acknowledgement</a:t>
            </a:r>
          </a:p>
        </p:txBody>
      </p:sp>
      <p:sp>
        <p:nvSpPr>
          <p:cNvPr id="60" name="TextBox 59"/>
          <p:cNvSpPr txBox="1"/>
          <p:nvPr/>
        </p:nvSpPr>
        <p:spPr>
          <a:xfrm>
            <a:off x="8321040" y="3090672"/>
            <a:ext cx="1188720" cy="274320"/>
          </a:xfrm>
          <a:prstGeom prst="rect">
            <a:avLst/>
          </a:prstGeom>
          <a:noFill/>
        </p:spPr>
        <p:txBody>
          <a:bodyPr wrap="square" lIns="18288" tIns="0" rIns="18288" bIns="0" anchor="ctr">
            <a:noAutofit/>
          </a:bodyPr>
          <a:lstStyle/>
          <a:p>
            <a:pPr algn="ctr"/>
            <a:r>
              <a:rPr sz="850" b="1" i="0">
                <a:solidFill>
                  <a:srgbClr val="FFFFFF"/>
                </a:solidFill>
                <a:latin typeface="Aptos"/>
              </a:rPr>
              <a:t>Routing</a:t>
            </a:r>
          </a:p>
        </p:txBody>
      </p:sp>
      <p:sp>
        <p:nvSpPr>
          <p:cNvPr id="61" name="TextBox 60"/>
          <p:cNvSpPr txBox="1"/>
          <p:nvPr/>
        </p:nvSpPr>
        <p:spPr>
          <a:xfrm>
            <a:off x="9509760" y="3090672"/>
            <a:ext cx="1143000" cy="274320"/>
          </a:xfrm>
          <a:prstGeom prst="rect">
            <a:avLst/>
          </a:prstGeom>
          <a:noFill/>
        </p:spPr>
        <p:txBody>
          <a:bodyPr wrap="square" lIns="18288" tIns="0" rIns="18288" bIns="0" anchor="ctr">
            <a:noAutofit/>
          </a:bodyPr>
          <a:lstStyle/>
          <a:p>
            <a:pPr algn="ctr"/>
            <a:r>
              <a:rPr sz="850" b="1" i="0">
                <a:solidFill>
                  <a:srgbClr val="FFFFFF"/>
                </a:solidFill>
                <a:latin typeface="Aptos"/>
              </a:rPr>
              <a:t>Urgency</a:t>
            </a:r>
          </a:p>
        </p:txBody>
      </p:sp>
      <p:sp>
        <p:nvSpPr>
          <p:cNvPr id="62" name="TextBox 61"/>
          <p:cNvSpPr txBox="1"/>
          <p:nvPr/>
        </p:nvSpPr>
        <p:spPr>
          <a:xfrm>
            <a:off x="10652760" y="3090672"/>
            <a:ext cx="1097280" cy="274320"/>
          </a:xfrm>
          <a:prstGeom prst="rect">
            <a:avLst/>
          </a:prstGeom>
          <a:noFill/>
        </p:spPr>
        <p:txBody>
          <a:bodyPr wrap="square" lIns="18288" tIns="0" rIns="18288" bIns="0" anchor="ctr">
            <a:noAutofit/>
          </a:bodyPr>
          <a:lstStyle/>
          <a:p>
            <a:pPr algn="ctr"/>
            <a:r>
              <a:rPr sz="850" b="1" i="0">
                <a:solidFill>
                  <a:srgbClr val="FFFFFF"/>
                </a:solidFill>
                <a:latin typeface="Aptos"/>
              </a:rPr>
              <a:t>Status updates</a:t>
            </a:r>
          </a:p>
        </p:txBody>
      </p:sp>
      <p:sp>
        <p:nvSpPr>
          <p:cNvPr id="63" name="TextBox 62"/>
          <p:cNvSpPr txBox="1"/>
          <p:nvPr/>
        </p:nvSpPr>
        <p:spPr>
          <a:xfrm>
            <a:off x="6080760" y="3364992"/>
            <a:ext cx="1143000" cy="402336"/>
          </a:xfrm>
          <a:prstGeom prst="rect">
            <a:avLst/>
          </a:prstGeom>
          <a:noFill/>
        </p:spPr>
        <p:txBody>
          <a:bodyPr wrap="square" lIns="18288" tIns="0" rIns="18288" bIns="0" anchor="ctr">
            <a:noAutofit/>
          </a:bodyPr>
          <a:lstStyle/>
          <a:p>
            <a:pPr algn="ctr"/>
            <a:r>
              <a:rPr sz="850" b="1" i="0">
                <a:solidFill>
                  <a:srgbClr val="E0262D"/>
                </a:solidFill>
                <a:latin typeface="Aptos"/>
              </a:rPr>
              <a:t>TODAY</a:t>
            </a:r>
          </a:p>
        </p:txBody>
      </p:sp>
      <p:sp>
        <p:nvSpPr>
          <p:cNvPr id="64" name="TextBox 63"/>
          <p:cNvSpPr txBox="1"/>
          <p:nvPr/>
        </p:nvSpPr>
        <p:spPr>
          <a:xfrm>
            <a:off x="7223760" y="3364992"/>
            <a:ext cx="1097280" cy="402336"/>
          </a:xfrm>
          <a:prstGeom prst="rect">
            <a:avLst/>
          </a:prstGeom>
          <a:noFill/>
        </p:spPr>
        <p:txBody>
          <a:bodyPr wrap="square" lIns="18288" tIns="0" rIns="18288" bIns="0" anchor="ctr">
            <a:noAutofit/>
          </a:bodyPr>
          <a:lstStyle/>
          <a:p>
            <a:pPr algn="ctr"/>
            <a:r>
              <a:rPr sz="850" b="1" i="1">
                <a:solidFill>
                  <a:srgbClr val="9B1C24"/>
                </a:solidFill>
                <a:latin typeface="Aptos"/>
              </a:rPr>
              <a:t>Days</a:t>
            </a:r>
          </a:p>
        </p:txBody>
      </p:sp>
      <p:sp>
        <p:nvSpPr>
          <p:cNvPr id="65" name="TextBox 64"/>
          <p:cNvSpPr txBox="1"/>
          <p:nvPr/>
        </p:nvSpPr>
        <p:spPr>
          <a:xfrm>
            <a:off x="8321040" y="3364992"/>
            <a:ext cx="1188720" cy="402336"/>
          </a:xfrm>
          <a:prstGeom prst="rect">
            <a:avLst/>
          </a:prstGeom>
          <a:noFill/>
        </p:spPr>
        <p:txBody>
          <a:bodyPr wrap="square" lIns="18288" tIns="0" rIns="18288" bIns="0" anchor="ctr">
            <a:noAutofit/>
          </a:bodyPr>
          <a:lstStyle/>
          <a:p>
            <a:pPr algn="ctr"/>
            <a:r>
              <a:rPr sz="850" b="1" i="1">
                <a:solidFill>
                  <a:srgbClr val="9B1C24"/>
                </a:solidFill>
                <a:latin typeface="Aptos"/>
              </a:rPr>
              <a:t>Guesswork, bounces</a:t>
            </a:r>
          </a:p>
        </p:txBody>
      </p:sp>
      <p:sp>
        <p:nvSpPr>
          <p:cNvPr id="66" name="TextBox 65"/>
          <p:cNvSpPr txBox="1"/>
          <p:nvPr/>
        </p:nvSpPr>
        <p:spPr>
          <a:xfrm>
            <a:off x="9509760" y="3364992"/>
            <a:ext cx="1143000" cy="402336"/>
          </a:xfrm>
          <a:prstGeom prst="rect">
            <a:avLst/>
          </a:prstGeom>
          <a:noFill/>
        </p:spPr>
        <p:txBody>
          <a:bodyPr wrap="square" lIns="18288" tIns="0" rIns="18288" bIns="0" anchor="ctr">
            <a:noAutofit/>
          </a:bodyPr>
          <a:lstStyle/>
          <a:p>
            <a:pPr algn="ctr"/>
            <a:r>
              <a:rPr sz="850" b="1" i="1">
                <a:solidFill>
                  <a:srgbClr val="9B1C24"/>
                </a:solidFill>
                <a:latin typeface="Aptos"/>
              </a:rPr>
              <a:t>First-in-first-out</a:t>
            </a:r>
          </a:p>
        </p:txBody>
      </p:sp>
      <p:sp>
        <p:nvSpPr>
          <p:cNvPr id="67" name="TextBox 66"/>
          <p:cNvSpPr txBox="1"/>
          <p:nvPr/>
        </p:nvSpPr>
        <p:spPr>
          <a:xfrm>
            <a:off x="10652760" y="3364992"/>
            <a:ext cx="1097280" cy="402336"/>
          </a:xfrm>
          <a:prstGeom prst="rect">
            <a:avLst/>
          </a:prstGeom>
          <a:noFill/>
        </p:spPr>
        <p:txBody>
          <a:bodyPr wrap="square" lIns="18288" tIns="0" rIns="18288" bIns="0" anchor="ctr">
            <a:noAutofit/>
          </a:bodyPr>
          <a:lstStyle/>
          <a:p>
            <a:pPr algn="ctr"/>
            <a:r>
              <a:rPr sz="850" b="1" i="1">
                <a:solidFill>
                  <a:srgbClr val="9B1C24"/>
                </a:solidFill>
                <a:latin typeface="Aptos"/>
              </a:rPr>
              <a:t>Unknown to the citizen</a:t>
            </a:r>
          </a:p>
        </p:txBody>
      </p:sp>
      <p:sp>
        <p:nvSpPr>
          <p:cNvPr id="68" name="TextBox 67"/>
          <p:cNvSpPr txBox="1"/>
          <p:nvPr/>
        </p:nvSpPr>
        <p:spPr>
          <a:xfrm>
            <a:off x="6080760" y="3767328"/>
            <a:ext cx="1143000" cy="438912"/>
          </a:xfrm>
          <a:prstGeom prst="rect">
            <a:avLst/>
          </a:prstGeom>
          <a:noFill/>
        </p:spPr>
        <p:txBody>
          <a:bodyPr wrap="square" lIns="18288" tIns="0" rIns="18288" bIns="0" anchor="ctr">
            <a:noAutofit/>
          </a:bodyPr>
          <a:lstStyle/>
          <a:p>
            <a:pPr algn="ctr"/>
            <a:r>
              <a:rPr sz="850" b="1" i="0">
                <a:solidFill>
                  <a:srgbClr val="9B1C24"/>
                </a:solidFill>
                <a:latin typeface="Aptos"/>
              </a:rPr>
              <a:t>VINDEX</a:t>
            </a:r>
          </a:p>
        </p:txBody>
      </p:sp>
      <p:sp>
        <p:nvSpPr>
          <p:cNvPr id="69" name="TextBox 68"/>
          <p:cNvSpPr txBox="1"/>
          <p:nvPr/>
        </p:nvSpPr>
        <p:spPr>
          <a:xfrm>
            <a:off x="7223760" y="3767328"/>
            <a:ext cx="1097280" cy="438912"/>
          </a:xfrm>
          <a:prstGeom prst="rect">
            <a:avLst/>
          </a:prstGeom>
          <a:noFill/>
        </p:spPr>
        <p:txBody>
          <a:bodyPr wrap="square" lIns="18288" tIns="0" rIns="18288" bIns="0" anchor="ctr">
            <a:noAutofit/>
          </a:bodyPr>
          <a:lstStyle/>
          <a:p>
            <a:pPr algn="ctr"/>
            <a:r>
              <a:rPr sz="850" b="1" i="0">
                <a:solidFill>
                  <a:srgbClr val="7A5C2E"/>
                </a:solidFill>
                <a:latin typeface="Aptos"/>
              </a:rPr>
              <a:t>Seconds, with ID</a:t>
            </a:r>
          </a:p>
        </p:txBody>
      </p:sp>
      <p:sp>
        <p:nvSpPr>
          <p:cNvPr id="70" name="TextBox 69"/>
          <p:cNvSpPr txBox="1"/>
          <p:nvPr/>
        </p:nvSpPr>
        <p:spPr>
          <a:xfrm>
            <a:off x="8321040" y="3767328"/>
            <a:ext cx="1188720" cy="438912"/>
          </a:xfrm>
          <a:prstGeom prst="rect">
            <a:avLst/>
          </a:prstGeom>
          <a:noFill/>
        </p:spPr>
        <p:txBody>
          <a:bodyPr wrap="square" lIns="18288" tIns="0" rIns="18288" bIns="0" anchor="ctr">
            <a:noAutofit/>
          </a:bodyPr>
          <a:lstStyle/>
          <a:p>
            <a:pPr algn="ctr"/>
            <a:r>
              <a:rPr sz="850" b="1" i="0">
                <a:solidFill>
                  <a:srgbClr val="7A5C2E"/>
                </a:solidFill>
                <a:latin typeface="Aptos"/>
              </a:rPr>
              <a:t>Office + SLA, explained</a:t>
            </a:r>
          </a:p>
        </p:txBody>
      </p:sp>
      <p:sp>
        <p:nvSpPr>
          <p:cNvPr id="71" name="TextBox 70"/>
          <p:cNvSpPr txBox="1"/>
          <p:nvPr/>
        </p:nvSpPr>
        <p:spPr>
          <a:xfrm>
            <a:off x="9509760" y="3767328"/>
            <a:ext cx="1143000" cy="438912"/>
          </a:xfrm>
          <a:prstGeom prst="rect">
            <a:avLst/>
          </a:prstGeom>
          <a:noFill/>
        </p:spPr>
        <p:txBody>
          <a:bodyPr wrap="square" lIns="18288" tIns="0" rIns="18288" bIns="0" anchor="ctr">
            <a:noAutofit/>
          </a:bodyPr>
          <a:lstStyle/>
          <a:p>
            <a:pPr algn="ctr"/>
            <a:r>
              <a:rPr sz="850" b="1" i="0">
                <a:solidFill>
                  <a:srgbClr val="7A5C2E"/>
                </a:solidFill>
                <a:latin typeface="Aptos"/>
              </a:rPr>
              <a:t>Content-based, human-checked</a:t>
            </a:r>
          </a:p>
        </p:txBody>
      </p:sp>
      <p:sp>
        <p:nvSpPr>
          <p:cNvPr id="72" name="TextBox 71"/>
          <p:cNvSpPr txBox="1"/>
          <p:nvPr/>
        </p:nvSpPr>
        <p:spPr>
          <a:xfrm>
            <a:off x="10652760" y="3767328"/>
            <a:ext cx="1097280" cy="438912"/>
          </a:xfrm>
          <a:prstGeom prst="rect">
            <a:avLst/>
          </a:prstGeom>
          <a:noFill/>
        </p:spPr>
        <p:txBody>
          <a:bodyPr wrap="square" lIns="18288" tIns="0" rIns="18288" bIns="0" anchor="ctr">
            <a:noAutofit/>
          </a:bodyPr>
          <a:lstStyle/>
          <a:p>
            <a:pPr algn="ctr"/>
            <a:r>
              <a:rPr sz="850" b="1" i="0">
                <a:solidFill>
                  <a:srgbClr val="7A5C2E"/>
                </a:solidFill>
                <a:latin typeface="Aptos"/>
              </a:rPr>
              <a:t>Email at every step</a:t>
            </a:r>
          </a:p>
        </p:txBody>
      </p:sp>
      <p:sp>
        <p:nvSpPr>
          <p:cNvPr id="73" name="Rounded Rectangle 72"/>
          <p:cNvSpPr/>
          <p:nvPr/>
        </p:nvSpPr>
        <p:spPr>
          <a:xfrm>
            <a:off x="411480" y="4343400"/>
            <a:ext cx="3657600" cy="2011680"/>
          </a:xfrm>
          <a:prstGeom prst="roundRect">
            <a:avLst>
              <a:gd name="adj" fmla="val 5454"/>
            </a:avLst>
          </a:prstGeom>
          <a:solidFill>
            <a:srgbClr val="FBE9E9"/>
          </a:solidFill>
          <a:ln w="12700">
            <a:solidFill>
              <a:srgbClr val="9B1C24"/>
            </a:solidFill>
          </a:ln>
          <a:effectLst/>
        </p:spPr>
        <p:txBody>
          <a:bodyPr rtlCol="0" anchor="ctr"/>
          <a:lstStyle/>
          <a:p>
            <a:pPr algn="ctr"/>
            <a:endParaRPr/>
          </a:p>
        </p:txBody>
      </p:sp>
      <p:sp>
        <p:nvSpPr>
          <p:cNvPr id="74" name="Rounded Rectangle 73"/>
          <p:cNvSpPr/>
          <p:nvPr/>
        </p:nvSpPr>
        <p:spPr>
          <a:xfrm>
            <a:off x="411480" y="4343400"/>
            <a:ext cx="3657600" cy="347472"/>
          </a:xfrm>
          <a:prstGeom prst="roundRect">
            <a:avLst>
              <a:gd name="adj" fmla="val 31578"/>
            </a:avLst>
          </a:prstGeom>
          <a:solidFill>
            <a:srgbClr val="9B1C24"/>
          </a:solidFill>
          <a:ln>
            <a:noFill/>
          </a:ln>
          <a:effectLst/>
        </p:spPr>
        <p:txBody>
          <a:bodyPr rtlCol="0" anchor="ctr"/>
          <a:lstStyle/>
          <a:p>
            <a:pPr algn="ctr"/>
            <a:endParaRPr/>
          </a:p>
        </p:txBody>
      </p:sp>
      <p:sp>
        <p:nvSpPr>
          <p:cNvPr id="75" name="Rectangle 74"/>
          <p:cNvSpPr/>
          <p:nvPr/>
        </p:nvSpPr>
        <p:spPr>
          <a:xfrm>
            <a:off x="411480" y="4517136"/>
            <a:ext cx="3657600" cy="173736"/>
          </a:xfrm>
          <a:prstGeom prst="rect">
            <a:avLst/>
          </a:prstGeom>
          <a:solidFill>
            <a:srgbClr val="9B1C24"/>
          </a:solidFill>
          <a:ln>
            <a:noFill/>
          </a:ln>
          <a:effectLst/>
        </p:spPr>
        <p:txBody>
          <a:bodyPr rtlCol="0" anchor="ctr"/>
          <a:lstStyle/>
          <a:p>
            <a:pPr algn="ctr"/>
            <a:endParaRPr/>
          </a:p>
        </p:txBody>
      </p:sp>
      <p:sp>
        <p:nvSpPr>
          <p:cNvPr id="76" name="TextBox 75"/>
          <p:cNvSpPr txBox="1"/>
          <p:nvPr/>
        </p:nvSpPr>
        <p:spPr>
          <a:xfrm>
            <a:off x="539496" y="4343400"/>
            <a:ext cx="3438144" cy="347472"/>
          </a:xfrm>
          <a:prstGeom prst="rect">
            <a:avLst/>
          </a:prstGeom>
          <a:noFill/>
        </p:spPr>
        <p:txBody>
          <a:bodyPr wrap="square" lIns="18288" tIns="0" rIns="18288" bIns="0" anchor="ctr">
            <a:noAutofit/>
          </a:bodyPr>
          <a:lstStyle/>
          <a:p>
            <a:pPr algn="l"/>
            <a:r>
              <a:rPr sz="1050" b="1" i="0">
                <a:solidFill>
                  <a:srgbClr val="FFFFFF"/>
                </a:solidFill>
                <a:latin typeface="Aptos"/>
              </a:rPr>
              <a:t>Feasibility</a:t>
            </a:r>
          </a:p>
        </p:txBody>
      </p:sp>
      <p:sp>
        <p:nvSpPr>
          <p:cNvPr id="77" name="TextBox 76"/>
          <p:cNvSpPr txBox="1"/>
          <p:nvPr/>
        </p:nvSpPr>
        <p:spPr>
          <a:xfrm>
            <a:off x="521208" y="4745736"/>
            <a:ext cx="3438144" cy="1572768"/>
          </a:xfrm>
          <a:prstGeom prst="rect">
            <a:avLst/>
          </a:prstGeom>
          <a:noFill/>
        </p:spPr>
        <p:txBody>
          <a:bodyPr wrap="square" lIns="54864" tIns="27432" rIns="54864" bIns="27432" anchor="t">
            <a:noAutofit/>
          </a:bodyPr>
          <a:lstStyle/>
          <a:p>
            <a:pPr marL="146304" indent="-146304" algn="l">
              <a:spcAft>
                <a:spcPts val="300"/>
              </a:spcAft>
              <a:buFont typeface="Arial"/>
              <a:buChar char="•"/>
            </a:pPr>
            <a:r>
              <a:rPr sz="950" b="1" i="0">
                <a:solidFill>
                  <a:srgbClr val="9B1C24"/>
                </a:solidFill>
                <a:latin typeface="Aptos"/>
              </a:rPr>
              <a:t>Open-source stack: </a:t>
            </a:r>
            <a:r>
              <a:rPr sz="950" b="0" i="0">
                <a:solidFill>
                  <a:srgbClr val="140C12"/>
                </a:solidFill>
                <a:latin typeface="Aptos"/>
              </a:rPr>
              <a:t>FastAPI, PostgreSQL + pgvector, React + shadcn/ui, Ollama; no licence fees</a:t>
            </a:r>
          </a:p>
          <a:p>
            <a:pPr marL="146304" indent="-146304" algn="l">
              <a:spcAft>
                <a:spcPts val="300"/>
              </a:spcAft>
              <a:buFont typeface="Arial"/>
              <a:buChar char="•"/>
            </a:pPr>
            <a:r>
              <a:rPr sz="950" b="1" i="0">
                <a:solidFill>
                  <a:srgbClr val="9B1C24"/>
                </a:solidFill>
                <a:latin typeface="Aptos"/>
              </a:rPr>
              <a:t>Runs today on a laptop GPU: </a:t>
            </a:r>
            <a:r>
              <a:rPr sz="950" b="0" i="0">
                <a:solidFill>
                  <a:srgbClr val="140C12"/>
                </a:solidFill>
                <a:latin typeface="Aptos"/>
              </a:rPr>
              <a:t>RTX 3050 4 GB serves Gemma 3 4B, bge-m3 and the classifier at 15-20 s per complaint</a:t>
            </a:r>
          </a:p>
          <a:p>
            <a:pPr marL="146304" indent="-146304" algn="l">
              <a:spcAft>
                <a:spcPts val="300"/>
              </a:spcAft>
              <a:buFont typeface="Arial"/>
              <a:buChar char="•"/>
            </a:pPr>
            <a:r>
              <a:rPr sz="950" b="1" i="0">
                <a:solidFill>
                  <a:srgbClr val="9B1C24"/>
                </a:solidFill>
                <a:latin typeface="Aptos"/>
              </a:rPr>
              <a:t>Tested end to end: </a:t>
            </a:r>
            <a:r>
              <a:rPr sz="950" b="0" i="0">
                <a:solidFill>
                  <a:srgbClr val="140C12"/>
                </a:solidFill>
                <a:latin typeface="Aptos"/>
              </a:rPr>
              <a:t>118 API checks: 5 languages, photos, duplicates, roles, replies, ratings, me-too, escalation, mails</a:t>
            </a:r>
          </a:p>
          <a:p>
            <a:pPr marL="146304" indent="-146304" algn="l">
              <a:spcAft>
                <a:spcPts val="300"/>
              </a:spcAft>
              <a:buFont typeface="Arial"/>
              <a:buChar char="•"/>
            </a:pPr>
            <a:r>
              <a:rPr sz="950" b="1" i="0">
                <a:solidFill>
                  <a:srgbClr val="9B1C24"/>
                </a:solidFill>
                <a:latin typeface="Aptos"/>
              </a:rPr>
              <a:t>Cost: </a:t>
            </a:r>
            <a:r>
              <a:rPr sz="950" b="0" i="0">
                <a:solidFill>
                  <a:srgbClr val="140C12"/>
                </a:solidFill>
                <a:latin typeface="Aptos"/>
              </a:rPr>
              <a:t>zero hosting and zero per-request AI cost; one laptop today, one on-prem server tomorrow</a:t>
            </a:r>
          </a:p>
        </p:txBody>
      </p:sp>
      <p:sp>
        <p:nvSpPr>
          <p:cNvPr id="78" name="Rounded Rectangle 77"/>
          <p:cNvSpPr/>
          <p:nvPr/>
        </p:nvSpPr>
        <p:spPr>
          <a:xfrm>
            <a:off x="4251960" y="4343400"/>
            <a:ext cx="3657600" cy="2011680"/>
          </a:xfrm>
          <a:prstGeom prst="roundRect">
            <a:avLst>
              <a:gd name="adj" fmla="val 5454"/>
            </a:avLst>
          </a:prstGeom>
          <a:solidFill>
            <a:srgbClr val="F3EDE3"/>
          </a:solidFill>
          <a:ln w="12700">
            <a:solidFill>
              <a:srgbClr val="3A3335"/>
            </a:solidFill>
          </a:ln>
          <a:effectLst/>
        </p:spPr>
        <p:txBody>
          <a:bodyPr rtlCol="0" anchor="ctr"/>
          <a:lstStyle/>
          <a:p>
            <a:pPr algn="ctr"/>
            <a:endParaRPr/>
          </a:p>
        </p:txBody>
      </p:sp>
      <p:sp>
        <p:nvSpPr>
          <p:cNvPr id="79" name="Rounded Rectangle 78"/>
          <p:cNvSpPr/>
          <p:nvPr/>
        </p:nvSpPr>
        <p:spPr>
          <a:xfrm>
            <a:off x="4251960" y="4343400"/>
            <a:ext cx="3657600" cy="347472"/>
          </a:xfrm>
          <a:prstGeom prst="roundRect">
            <a:avLst>
              <a:gd name="adj" fmla="val 31578"/>
            </a:avLst>
          </a:prstGeom>
          <a:solidFill>
            <a:srgbClr val="3A3335"/>
          </a:solidFill>
          <a:ln>
            <a:noFill/>
          </a:ln>
          <a:effectLst/>
        </p:spPr>
        <p:txBody>
          <a:bodyPr rtlCol="0" anchor="ctr"/>
          <a:lstStyle/>
          <a:p>
            <a:pPr algn="ctr"/>
            <a:endParaRPr/>
          </a:p>
        </p:txBody>
      </p:sp>
      <p:sp>
        <p:nvSpPr>
          <p:cNvPr id="80" name="Rectangle 79"/>
          <p:cNvSpPr/>
          <p:nvPr/>
        </p:nvSpPr>
        <p:spPr>
          <a:xfrm>
            <a:off x="4251960" y="4517136"/>
            <a:ext cx="3657600" cy="173736"/>
          </a:xfrm>
          <a:prstGeom prst="rect">
            <a:avLst/>
          </a:prstGeom>
          <a:solidFill>
            <a:srgbClr val="3A3335"/>
          </a:solidFill>
          <a:ln>
            <a:noFill/>
          </a:ln>
          <a:effectLst/>
        </p:spPr>
        <p:txBody>
          <a:bodyPr rtlCol="0" anchor="ctr"/>
          <a:lstStyle/>
          <a:p>
            <a:pPr algn="ctr"/>
            <a:endParaRPr/>
          </a:p>
        </p:txBody>
      </p:sp>
      <p:sp>
        <p:nvSpPr>
          <p:cNvPr id="81" name="TextBox 80"/>
          <p:cNvSpPr txBox="1"/>
          <p:nvPr/>
        </p:nvSpPr>
        <p:spPr>
          <a:xfrm>
            <a:off x="4379976" y="4343400"/>
            <a:ext cx="3438144" cy="347472"/>
          </a:xfrm>
          <a:prstGeom prst="rect">
            <a:avLst/>
          </a:prstGeom>
          <a:noFill/>
        </p:spPr>
        <p:txBody>
          <a:bodyPr wrap="square" lIns="18288" tIns="0" rIns="18288" bIns="0" anchor="ctr">
            <a:noAutofit/>
          </a:bodyPr>
          <a:lstStyle/>
          <a:p>
            <a:pPr algn="l"/>
            <a:r>
              <a:rPr sz="1050" b="1" i="0">
                <a:solidFill>
                  <a:srgbClr val="FFFFFF"/>
                </a:solidFill>
                <a:latin typeface="Aptos"/>
              </a:rPr>
              <a:t>Scalability</a:t>
            </a:r>
          </a:p>
        </p:txBody>
      </p:sp>
      <p:sp>
        <p:nvSpPr>
          <p:cNvPr id="82" name="TextBox 81"/>
          <p:cNvSpPr txBox="1"/>
          <p:nvPr/>
        </p:nvSpPr>
        <p:spPr>
          <a:xfrm>
            <a:off x="4361688" y="4745736"/>
            <a:ext cx="3438144" cy="1572768"/>
          </a:xfrm>
          <a:prstGeom prst="rect">
            <a:avLst/>
          </a:prstGeom>
          <a:noFill/>
        </p:spPr>
        <p:txBody>
          <a:bodyPr wrap="square" lIns="54864" tIns="27432" rIns="54864" bIns="27432" anchor="t">
            <a:noAutofit/>
          </a:bodyPr>
          <a:lstStyle/>
          <a:p>
            <a:pPr marL="146304" indent="-146304" algn="l">
              <a:spcAft>
                <a:spcPts val="300"/>
              </a:spcAft>
              <a:buFont typeface="Arial"/>
              <a:buChar char="•"/>
            </a:pPr>
            <a:r>
              <a:rPr sz="950" b="1" i="0">
                <a:solidFill>
                  <a:srgbClr val="3A3335"/>
                </a:solidFill>
                <a:latin typeface="Aptos"/>
              </a:rPr>
              <a:t>Stateless API, state in Postgres: </a:t>
            </a:r>
            <a:r>
              <a:rPr sz="950" b="0" i="0">
                <a:solidFill>
                  <a:srgbClr val="140C12"/>
                </a:solidFill>
                <a:latin typeface="Aptos"/>
              </a:rPr>
              <a:t>add workers per GPU or move to Gemma 3 12B on a server</a:t>
            </a:r>
          </a:p>
          <a:p>
            <a:pPr marL="146304" indent="-146304" algn="l">
              <a:spcAft>
                <a:spcPts val="300"/>
              </a:spcAft>
              <a:buFont typeface="Arial"/>
              <a:buChar char="•"/>
            </a:pPr>
            <a:r>
              <a:rPr sz="950" b="1" i="0">
                <a:solidFill>
                  <a:srgbClr val="3A3335"/>
                </a:solidFill>
                <a:latin typeface="Aptos"/>
              </a:rPr>
              <a:t>pgvector HNSW index </a:t>
            </a:r>
            <a:r>
              <a:rPr sz="950" b="0" i="0">
                <a:solidFill>
                  <a:srgbClr val="140C12"/>
                </a:solidFill>
                <a:latin typeface="Aptos"/>
              </a:rPr>
              <a:t>keeps duplicate search fast as complaints grow</a:t>
            </a:r>
          </a:p>
          <a:p>
            <a:pPr marL="146304" indent="-146304" algn="l">
              <a:spcAft>
                <a:spcPts val="300"/>
              </a:spcAft>
              <a:buFont typeface="Arial"/>
              <a:buChar char="•"/>
            </a:pPr>
            <a:r>
              <a:rPr sz="950" b="1" i="0">
                <a:solidFill>
                  <a:srgbClr val="3A3335"/>
                </a:solidFill>
                <a:latin typeface="Aptos"/>
              </a:rPr>
              <a:t>Config, not code: </a:t>
            </a:r>
            <a:r>
              <a:rPr sz="950" b="0" i="0">
                <a:solidFill>
                  <a:srgbClr val="140C12"/>
                </a:solidFill>
                <a:latin typeface="Aptos"/>
              </a:rPr>
              <a:t>departments, rules and 760 offices in YAML / JSON, hot-reloaded; a new district is one file</a:t>
            </a:r>
          </a:p>
          <a:p>
            <a:pPr marL="146304" indent="-146304" algn="l">
              <a:spcAft>
                <a:spcPts val="300"/>
              </a:spcAft>
              <a:buFont typeface="Arial"/>
              <a:buChar char="•"/>
            </a:pPr>
            <a:r>
              <a:rPr sz="950" b="1" i="0">
                <a:solidFill>
                  <a:srgbClr val="3A3335"/>
                </a:solidFill>
                <a:latin typeface="Aptos"/>
              </a:rPr>
              <a:t>Async by design: </a:t>
            </a:r>
            <a:r>
              <a:rPr sz="950" b="0" i="0">
                <a:solidFill>
                  <a:srgbClr val="140C12"/>
                </a:solidFill>
                <a:latin typeface="Aptos"/>
              </a:rPr>
              <a:t>intake answers in under 1 s whatever the model load; the queue absorbs bursts</a:t>
            </a:r>
          </a:p>
        </p:txBody>
      </p:sp>
      <p:sp>
        <p:nvSpPr>
          <p:cNvPr id="83" name="Rounded Rectangle 82"/>
          <p:cNvSpPr/>
          <p:nvPr/>
        </p:nvSpPr>
        <p:spPr>
          <a:xfrm>
            <a:off x="8092440" y="4343400"/>
            <a:ext cx="3657600" cy="2011680"/>
          </a:xfrm>
          <a:prstGeom prst="roundRect">
            <a:avLst>
              <a:gd name="adj" fmla="val 5454"/>
            </a:avLst>
          </a:prstGeom>
          <a:solidFill>
            <a:srgbClr val="FFF4D6"/>
          </a:solidFill>
          <a:ln w="12700">
            <a:solidFill>
              <a:srgbClr val="B7791F"/>
            </a:solidFill>
          </a:ln>
          <a:effectLst/>
        </p:spPr>
        <p:txBody>
          <a:bodyPr rtlCol="0" anchor="ctr"/>
          <a:lstStyle/>
          <a:p>
            <a:pPr algn="ctr"/>
            <a:endParaRPr/>
          </a:p>
        </p:txBody>
      </p:sp>
      <p:sp>
        <p:nvSpPr>
          <p:cNvPr id="84" name="Rounded Rectangle 83"/>
          <p:cNvSpPr/>
          <p:nvPr/>
        </p:nvSpPr>
        <p:spPr>
          <a:xfrm>
            <a:off x="8092440" y="4343400"/>
            <a:ext cx="3657600" cy="347472"/>
          </a:xfrm>
          <a:prstGeom prst="roundRect">
            <a:avLst>
              <a:gd name="adj" fmla="val 31578"/>
            </a:avLst>
          </a:prstGeom>
          <a:solidFill>
            <a:srgbClr val="B7791F"/>
          </a:solidFill>
          <a:ln>
            <a:noFill/>
          </a:ln>
          <a:effectLst/>
        </p:spPr>
        <p:txBody>
          <a:bodyPr rtlCol="0" anchor="ctr"/>
          <a:lstStyle/>
          <a:p>
            <a:pPr algn="ctr"/>
            <a:endParaRPr/>
          </a:p>
        </p:txBody>
      </p:sp>
      <p:sp>
        <p:nvSpPr>
          <p:cNvPr id="85" name="Rectangle 84"/>
          <p:cNvSpPr/>
          <p:nvPr/>
        </p:nvSpPr>
        <p:spPr>
          <a:xfrm>
            <a:off x="8092440" y="4517136"/>
            <a:ext cx="3657600" cy="173736"/>
          </a:xfrm>
          <a:prstGeom prst="rect">
            <a:avLst/>
          </a:prstGeom>
          <a:solidFill>
            <a:srgbClr val="B7791F"/>
          </a:solidFill>
          <a:ln>
            <a:noFill/>
          </a:ln>
          <a:effectLst/>
        </p:spPr>
        <p:txBody>
          <a:bodyPr rtlCol="0" anchor="ctr"/>
          <a:lstStyle/>
          <a:p>
            <a:pPr algn="ctr"/>
            <a:endParaRPr/>
          </a:p>
        </p:txBody>
      </p:sp>
      <p:sp>
        <p:nvSpPr>
          <p:cNvPr id="86" name="TextBox 85"/>
          <p:cNvSpPr txBox="1"/>
          <p:nvPr/>
        </p:nvSpPr>
        <p:spPr>
          <a:xfrm>
            <a:off x="8220456" y="4343400"/>
            <a:ext cx="3438144" cy="347472"/>
          </a:xfrm>
          <a:prstGeom prst="rect">
            <a:avLst/>
          </a:prstGeom>
          <a:noFill/>
        </p:spPr>
        <p:txBody>
          <a:bodyPr wrap="square" lIns="18288" tIns="0" rIns="18288" bIns="0" anchor="ctr">
            <a:noAutofit/>
          </a:bodyPr>
          <a:lstStyle/>
          <a:p>
            <a:pPr algn="l"/>
            <a:r>
              <a:rPr sz="1050" b="1" i="0">
                <a:solidFill>
                  <a:srgbClr val="FFFFFF"/>
                </a:solidFill>
                <a:latin typeface="Aptos"/>
              </a:rPr>
              <a:t>Future improvements</a:t>
            </a:r>
          </a:p>
        </p:txBody>
      </p:sp>
      <p:sp>
        <p:nvSpPr>
          <p:cNvPr id="87" name="TextBox 86"/>
          <p:cNvSpPr txBox="1"/>
          <p:nvPr/>
        </p:nvSpPr>
        <p:spPr>
          <a:xfrm>
            <a:off x="8202167" y="4745736"/>
            <a:ext cx="3438144" cy="1572768"/>
          </a:xfrm>
          <a:prstGeom prst="rect">
            <a:avLst/>
          </a:prstGeom>
          <a:noFill/>
        </p:spPr>
        <p:txBody>
          <a:bodyPr wrap="square" lIns="54864" tIns="27432" rIns="54864" bIns="27432" anchor="t">
            <a:noAutofit/>
          </a:bodyPr>
          <a:lstStyle/>
          <a:p>
            <a:pPr marL="146304" indent="-146304" algn="l">
              <a:spcAft>
                <a:spcPts val="300"/>
              </a:spcAft>
              <a:buFont typeface="Arial"/>
              <a:buChar char="•"/>
            </a:pPr>
            <a:r>
              <a:rPr sz="950" b="1" i="0">
                <a:solidFill>
                  <a:srgbClr val="B7791F"/>
                </a:solidFill>
                <a:latin typeface="Aptos"/>
              </a:rPr>
              <a:t>WhatsApp intake and updates </a:t>
            </a:r>
            <a:r>
              <a:rPr sz="950" b="0" i="0">
                <a:solidFill>
                  <a:srgbClr val="140C12"/>
                </a:solidFill>
                <a:latin typeface="Aptos"/>
              </a:rPr>
              <a:t>(roadmap), video key frames, ward polygons for sub-district routing</a:t>
            </a:r>
          </a:p>
          <a:p>
            <a:pPr marL="146304" indent="-146304" algn="l">
              <a:spcAft>
                <a:spcPts val="300"/>
              </a:spcAft>
              <a:buFont typeface="Arial"/>
              <a:buChar char="•"/>
            </a:pPr>
            <a:r>
              <a:rPr sz="950" b="1" i="0">
                <a:solidFill>
                  <a:srgbClr val="B7791F"/>
                </a:solidFill>
                <a:latin typeface="Aptos"/>
              </a:rPr>
              <a:t>Fine-tuned classifier </a:t>
            </a:r>
            <a:r>
              <a:rPr sz="950" b="0" i="0">
                <a:solidFill>
                  <a:srgbClr val="140C12"/>
                </a:solidFill>
                <a:latin typeface="Aptos"/>
              </a:rPr>
              <a:t>on officer corrections; 60-row team gold set as the real benchmark</a:t>
            </a:r>
          </a:p>
          <a:p>
            <a:pPr marL="146304" indent="-146304" algn="l">
              <a:spcAft>
                <a:spcPts val="300"/>
              </a:spcAft>
              <a:buFont typeface="Arial"/>
              <a:buChar char="•"/>
            </a:pPr>
            <a:r>
              <a:rPr sz="950" b="1" i="0">
                <a:solidFill>
                  <a:srgbClr val="B7791F"/>
                </a:solidFill>
                <a:latin typeface="Aptos"/>
              </a:rPr>
              <a:t>Verify office data </a:t>
            </a:r>
            <a:r>
              <a:rPr sz="950" b="0" i="0">
                <a:solidFill>
                  <a:srgbClr val="140C12"/>
                </a:solidFill>
                <a:latin typeface="Aptos"/>
              </a:rPr>
              <a:t>with the municipality; the spreadsheet itself is marked as a demo mapping</a:t>
            </a:r>
          </a:p>
          <a:p>
            <a:pPr marL="146304" indent="-146304" algn="l">
              <a:spcAft>
                <a:spcPts val="300"/>
              </a:spcAft>
              <a:buFont typeface="Arial"/>
              <a:buChar char="•"/>
            </a:pPr>
            <a:r>
              <a:rPr sz="950" b="1" i="0">
                <a:solidFill>
                  <a:srgbClr val="B7791F"/>
                </a:solidFill>
                <a:latin typeface="Aptos"/>
              </a:rPr>
              <a:t>Officer analytics: </a:t>
            </a:r>
            <a:r>
              <a:rPr sz="950" b="0" i="0">
                <a:solidFill>
                  <a:srgbClr val="140C12"/>
                </a:solidFill>
                <a:latin typeface="Aptos"/>
              </a:rPr>
              <a:t>SLA breaches, reopen rates and accuracy trends per language on the dashboard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TotalTime>
  <Words>2859</Words>
  <Application>Microsoft Office PowerPoint</Application>
  <PresentationFormat>Widescreen</PresentationFormat>
  <Paragraphs>310</Paragraphs>
  <Slides>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Deepak</dc:creator>
  <dc:description>generated using python-pptx</dc:description>
  <cp:lastModifiedBy>Deepak P M</cp:lastModifiedBy>
  <cp:revision>6</cp:revision>
  <dcterms:created xsi:type="dcterms:W3CDTF">2013-01-27T09:14:00Z</dcterms:created>
  <dcterms:modified xsi:type="dcterms:W3CDTF">2026-10-16T07:06:54Z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65C141C1791645C89AF60D4CE8C8C4B6_12</vt:lpwstr>
  </property>
  <property fmtid="{D5CDD505-2E9C-101B-9397-08002B2CF9AE}" pid="3" name="KSOProductBuildVer">
    <vt:lpwstr>1033-12.1.0.28485</vt:lpwstr>
  </property>
</Properties>
</file>